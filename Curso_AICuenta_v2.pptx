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50C7D"/>
                </a:solidFill>
                <a:latin typeface="Calibri"/>
              </a:defRPr>
            </a:pPr>
            <a:r>
              <a:rPr lang="es-ES" sz="1300" b="0" i="0" u="none" strike="noStrike">
                <a:solidFill>
                  <a:srgbClr val="450C7D"/>
                </a:solidFill>
                <a:latin typeface="Calibri"/>
              </a:rPr>
              <a:t>Ingresos vs egresos (miles MXN)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6BDA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980</c:v>
                </c:pt>
                <c:pt idx="1">
                  <c:v>1050</c:v>
                </c:pt>
                <c:pt idx="2">
                  <c:v>1180</c:v>
                </c:pt>
                <c:pt idx="3">
                  <c:v>1120</c:v>
                </c:pt>
                <c:pt idx="4">
                  <c:v>1250</c:v>
                </c:pt>
                <c:pt idx="5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69-4DF8-A59D-18E85F8947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Egresos</c:v>
                </c:pt>
              </c:strCache>
            </c:strRef>
          </c:tx>
          <c:spPr>
            <a:solidFill>
              <a:srgbClr val="4622AA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620</c:v>
                </c:pt>
                <c:pt idx="1">
                  <c:v>690</c:v>
                </c:pt>
                <c:pt idx="2">
                  <c:v>720</c:v>
                </c:pt>
                <c:pt idx="3">
                  <c:v>700</c:v>
                </c:pt>
                <c:pt idx="4">
                  <c:v>780</c:v>
                </c:pt>
                <c:pt idx="5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69-4DF8-A59D-18E85F8947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42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42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26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512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al curso. Duración estimada: 90 minutos. Audiencia mixta: contadores y CEOs/dueños.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módulo dura ~15 min. El caso final integra los cinco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curso sirve a ambos perfiles simultáneamente.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fuente son los CFDIs del SAT.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planes incluyen los mismos módulos y beneficios; solo cambia el volumen de CFDIs que puedes almacenar (ver siguiente lámina).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límite de CFDIs es en 5 años de histórico, no mensual. El Plan 2 es el más elegido: cubre a la mayoría de PyMEs con volumen moderado.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trabajas para varios clientes (despacho), en el módulo 2 verás cómo abrir una cuenta multi-usuario y asignarle RFCs a cada contador de tu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cuenta multi el dueño invita, asigna RFCs y cambia permisos desde /dashboard/usuarios. Cada miembro entra con su propio correo.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Revisar UUID relacionado en notas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firmar el cierre, siempre validar contra la vista de Facturas para asegurar consistencia.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demo tiene límite de descargas.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del gráfico ilustrativas.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CEO es quien decide el plan. Subir del Plan 1 al 2 o al 3 se hace en segundos y no interrumpe el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Historial en tabla chat_fiscal_context. El chat solo lee.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`documents` es la base de conocimiento.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Producción persistente: mover Baileys a host con disco.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pensado para 15 min de discusión.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Ejercicio: cada alumno replica pasos 2-5 en la cuenta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Q&amp;A y replicar caso en 15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194560"/>
            <a:ext cx="3840480" cy="3840480"/>
          </a:xfrm>
          <a:prstGeom prst="ellipse">
            <a:avLst/>
          </a:prstGeom>
          <a:solidFill>
            <a:srgbClr val="4622A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3474720"/>
            <a:ext cx="4114800" cy="4114800"/>
          </a:xfrm>
          <a:prstGeom prst="ellipse">
            <a:avLst/>
          </a:prstGeom>
          <a:solidFill>
            <a:srgbClr val="6BDA4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12480" y="-1371600"/>
            <a:ext cx="2743200" cy="2743200"/>
          </a:xfrm>
          <a:prstGeom prst="ellipse">
            <a:avLst/>
          </a:prstGeom>
          <a:solidFill>
            <a:srgbClr val="AEDB4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AICuenta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de contabilidad inteligente para México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práctica para contadores y CEOs · 5 módulos + caso integrador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601968"/>
            <a:ext cx="6095848" cy="256032"/>
          </a:xfrm>
          <a:prstGeom prst="rect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095848" y="6601968"/>
            <a:ext cx="6095848" cy="256032"/>
          </a:xfrm>
          <a:prstGeom prst="rect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del curso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módulos + un caso integrador final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801368"/>
            <a:ext cx="530352" cy="530352"/>
          </a:xfrm>
          <a:prstGeom prst="ellipse">
            <a:avLst/>
          </a:prstGeom>
          <a:solidFill>
            <a:srgbClr val="450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801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0640" y="17830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AICuenta, módulos y planes disponibles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514600"/>
            <a:ext cx="530352" cy="530352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41732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accesos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120640" y="24963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e.firma, RFC y equipos multi-usuario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227832"/>
            <a:ext cx="530352" cy="530352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3227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417320" y="320954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contador operativo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120640" y="320954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Estados Financieros, pagos y exportaciones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3941064"/>
            <a:ext cx="530352" cy="530352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3941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17320" y="39227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CEO estratégico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120640" y="392277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notificaciones y suscripción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" y="4654296"/>
            <a:ext cx="530352" cy="530352"/>
          </a:xfrm>
          <a:prstGeom prst="ellipse">
            <a:avLst/>
          </a:prstGeom>
          <a:solidFill>
            <a:srgbClr val="AED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465429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417320" y="4636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automatización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120640" y="46360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fiscal, chat documental y bot de WhatsApp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5367528"/>
            <a:ext cx="530352" cy="530352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0080" y="5367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417320" y="5349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120640" y="5349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mensual de una empresa: paso a paso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AICuenta · Agenda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vas a aprender?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curso por perfil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8680" y="26974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el catálogo de CFDIs y filtros avanzados.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Estados Financieros con base IVA 16/8/0 y desglose ISR.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Conciliar pagos REP y ver el flujo efectivamente pagado.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reportes a Excel desde cualquier módulo.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chat fiscal para responder dudas en segundos.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0" y="205740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83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23760" y="2011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Dueño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629400" y="2697480"/>
            <a:ext cx="4800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dashboard mensual sin depender del contador.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ingresos, egresos, IVA e ISR de un vistazo.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el flujo de efectivo real (cobrado vs pagado).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el equipo: invitar miembros y asignar RFCs.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Aprovechar la IA para preguntas fiscales y normativa SAT.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AICuenta · Objetivos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AICuenta, por qué existe y cómo está construida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AICuenta?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contabilidad y fiscalización inteligente para México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852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 centraliza todo el ciclo fiscal en una sola plataforma: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CFDIs (ingresos, egresos, nómina, retenciones)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 calculados automáticamente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Impuestos: ISR, IVA con base 16/8/0/exento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de pagos (REP tipo P)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de IA fiscal y documental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 para capturar comprobantes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1828800"/>
            <a:ext cx="4937760" cy="4389120"/>
          </a:xfrm>
          <a:prstGeom prst="roundRect">
            <a:avLst>
              <a:gd name="adj" fmla="val 291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funcional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04088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462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704088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CFDI (I·E·N·P)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72600" y="260604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483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937260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Stripe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40880" y="4343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6BD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4600" dirty="0"/>
          </a:p>
        </p:txBody>
      </p:sp>
      <p:sp>
        <p:nvSpPr>
          <p:cNvPr id="16" name="Text 13"/>
          <p:cNvSpPr/>
          <p:nvPr/>
        </p:nvSpPr>
        <p:spPr>
          <a:xfrm>
            <a:off x="7040880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a Excel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372600" y="43434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8B4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9372600" y="51663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IA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Fundamentos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y beneficios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puedes hacer dentro de la plataforma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62356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19659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incluidos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269748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fiscal con KPIs mensuales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facturas (CFDIs)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 automáticos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de pagos y flujo real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fiscal y chat documental con IA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 para comprobantes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Multi-usuario y multi-RFC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46520" y="1828800"/>
            <a:ext cx="571500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75120" y="201168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6751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360920" y="19659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del servicio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720840" y="2697480"/>
            <a:ext cx="51663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gratis en cualquier plan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segura con Stripe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Cancelas cuando quieras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por correo incluido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desde cada módulo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siempre respaldados en la nube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Fundamentos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suscripción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plan que se ajusta a tu volumen de CFDIs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2286000" cy="3566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83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029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6,000 CFDIs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años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9319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6F0A0"/>
          </a:solidFill>
          <a:ln w="6350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gratis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7091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008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Suscribirme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788920" y="1828800"/>
            <a:ext cx="2286000" cy="3566160"/>
          </a:xfrm>
          <a:prstGeom prst="roundRect">
            <a:avLst>
              <a:gd name="adj" fmla="val 5600"/>
            </a:avLst>
          </a:prstGeom>
          <a:solidFill>
            <a:srgbClr val="F6F3FC"/>
          </a:solidFill>
          <a:ln w="9525">
            <a:solidFill>
              <a:srgbClr val="462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108960" y="1627632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108960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260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62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92608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292608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10,000 CFDIs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292608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años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063240" y="39319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6F0A0"/>
          </a:solidFill>
          <a:ln w="6350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06324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gratis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063240" y="47091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4622AA"/>
          </a:solidFill>
          <a:ln w="9525">
            <a:solidFill>
              <a:srgbClr val="4622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06324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Suscribirme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212080" y="1828800"/>
            <a:ext cx="2286000" cy="3566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34924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4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3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4924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3200" dirty="0"/>
          </a:p>
        </p:txBody>
      </p:sp>
      <p:sp>
        <p:nvSpPr>
          <p:cNvPr id="31" name="Text 28"/>
          <p:cNvSpPr/>
          <p:nvPr/>
        </p:nvSpPr>
        <p:spPr>
          <a:xfrm>
            <a:off x="534924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20,000 CFDIs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4924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años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486400" y="39319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6F0A0"/>
          </a:solidFill>
          <a:ln w="6350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gratis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0" y="47091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48640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Suscribirme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635240" y="1828800"/>
            <a:ext cx="2286000" cy="3566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77240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D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4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77240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3200" dirty="0"/>
          </a:p>
        </p:txBody>
      </p:sp>
      <p:sp>
        <p:nvSpPr>
          <p:cNvPr id="40" name="Text 37"/>
          <p:cNvSpPr/>
          <p:nvPr/>
        </p:nvSpPr>
        <p:spPr>
          <a:xfrm>
            <a:off x="777240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40,000 CFDIs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77240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años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909560" y="39319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6F0A0"/>
          </a:solidFill>
          <a:ln w="6350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90956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gratis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09560" y="47091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90956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Suscribirme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10058400" y="1828800"/>
            <a:ext cx="2286000" cy="35661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1019556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5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0195560" y="24231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r>
              <a:rPr lang="en-US" sz="12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/mes</a:t>
            </a:r>
            <a:endParaRPr lang="en-US" sz="3200" dirty="0"/>
          </a:p>
        </p:txBody>
      </p:sp>
      <p:sp>
        <p:nvSpPr>
          <p:cNvPr id="49" name="Text 46"/>
          <p:cNvSpPr/>
          <p:nvPr/>
        </p:nvSpPr>
        <p:spPr>
          <a:xfrm>
            <a:off x="101955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80,000 CFDIs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19556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 años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0332720" y="393192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B6F0A0"/>
          </a:solidFill>
          <a:ln w="6350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033272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días gratis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0332720" y="470916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0332720" y="4709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Suscribirme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365760" y="5623560"/>
            <a:ext cx="11384280" cy="685800"/>
          </a:xfrm>
          <a:prstGeom prst="roundRect">
            <a:avLst>
              <a:gd name="adj" fmla="val 1866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457200" y="5623560"/>
            <a:ext cx="11201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planes incluyen:  Facturación segura con Stripe  ·  Cancelación cuando quieras  ·  Soporte por correo  ·  30 días gratis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Fundamentos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y accesos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registro al primer RFC activo, más equipos multi-usuario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inicio: alta, e.firma y RFC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pasos para activar tu cuenta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685800" cy="68580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Regístrate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286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tu cuenta con correo y contraseña o entra directo con Google. Recibirás un correo de bienvenida.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971800"/>
            <a:ext cx="685800" cy="68580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55448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tu correo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554480" y="3337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enlace que llegó a tu bandeja. Con eso ya puedes iniciar sesión.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685800" cy="68580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5448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tu e.firma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4389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los archivos de tu firma electrónica del SAT. AICuenta los usará para traer tus facturas automáticamente.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5074920"/>
            <a:ext cx="685800" cy="68580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40080" y="5074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554480" y="4983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tu RFC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440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el RFC con el que operarás. Desde ahí ya verás tus KPIs, CFDIs y estados financieros.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692640" y="1828800"/>
            <a:ext cx="2103120" cy="4206240"/>
          </a:xfrm>
          <a:prstGeom prst="roundRect">
            <a:avLst>
              <a:gd name="adj" fmla="val 60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829800" y="1965960"/>
            <a:ext cx="457200" cy="45720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829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037844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e.firma está segura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829800" y="251460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cifra y se usa únicamente para descargar tus comprobantes del SAT. Nadie más tiene acceso a ella.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Onboarding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Equipos: roles y multi-usuario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hacer qué dentro de una cuenta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694944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tipos de usuario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450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417320" y="2514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8803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titular de la cuenta. Administra el plan, invita miembros y ve toda la información.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7240" y="3611880"/>
            <a:ext cx="502920" cy="50292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17320" y="3566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83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9319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invitado por el dueño. Solo ve los RFCs que le fueron asignados.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772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417320" y="46177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4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de despacho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9834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externo que atiende a varios clientes desde una sola vista.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772400" y="1828800"/>
            <a:ext cx="4023360" cy="4206240"/>
          </a:xfrm>
          <a:prstGeom prst="roundRect">
            <a:avLst>
              <a:gd name="adj" fmla="val 3182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0100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abrir cuenta multi?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001000" y="2468880"/>
            <a:ext cx="356616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tu contador y tú necesitan ver la misma información desde cuentas distintas.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manejas varias empresas o RFCs y quieres separarlos por responsable.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eres un despacho y cada colaborador atiende a clientes distintos.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Onboarding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contador operativo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Facturas, Estados Financieros, pagos y exportaciones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facturas (CFDIs)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completo con filtros por tipo, fecha, RFC y estado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0876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3152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facturación. Base de ingresos gravados por IVA/ISR.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11880" y="2011680"/>
            <a:ext cx="640080" cy="64008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11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38912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61188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crédito ligadas a ingresos previos. Reducen la base.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26948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9224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Recibos de nómina emitidos. Alimentan el módulo de nómina.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89720" y="1828800"/>
            <a:ext cx="2697480" cy="2743200"/>
          </a:xfrm>
          <a:prstGeom prst="roundRect">
            <a:avLst>
              <a:gd name="adj" fmla="val 4746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372600" y="2011680"/>
            <a:ext cx="640080" cy="64008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372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01498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(REP)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372600" y="27432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de pago. Conciliación con ingresos y flujo real.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754880"/>
            <a:ext cx="1110996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724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disponibles en la vista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5212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(Ingreso/Egreso) · Tipo (I/E/N/P) · Búsqueda de texto libre · Rango de fechas · RFC emisor/receptor · Estado (vigente/cancelado)  →  cada listado se descarga en Excel con un clic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Contador operativo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Financieros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resultados y flujo generados automáticamente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calcula automáticamente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5943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IVA por tasa: 16%, 8% fronterizo, 0% y exento.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Trasladados y retenciones de ISR / IVA / IEPS.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flujo de efectivo (cobrado y pagado).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concepto para auditoría rápida.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mensual para detectar anomalías.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182880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58000" y="1965960"/>
            <a:ext cx="502920" cy="50292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5236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prácticas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858000" y="2697480"/>
            <a:ext cx="4709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captura manual: los estados se arman directo desde tus CFDIs.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segundos, incluso con miles de facturas.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mes y compara contra el anterior.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descargar todo a Excel para tu papel de trabajo.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internas de validación cruzan los totales contra las facturas para detectar diferencias.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Contador operativo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flujo real y exportaciones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Complementos de pago, dinero efectivamente cobrado y descargas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5448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(REP)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27889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tus complementos de pago recibidos. AICuenta los enlaza automáticamente con la factura original para que no tengas que hacerlo a mano.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43400" y="182880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34924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Efectivamente pagado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17720" y="27889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dinero que realmente entró y salió, agrupado por forma y método de pago. Ideal para saber qué se cobró vs qué solo se facturó.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138160" y="1828800"/>
            <a:ext cx="3520440" cy="4434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667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144000" y="2057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Exportaciones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412480" y="278892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 importantes exportan a Excel con un botón: facturas, estados financieros, flujo, notas de crédito, pagos, comprobantes y DIOT.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Contador operativo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CEO estratégico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notificaciones y control de la suscripción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fiscal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RFC y mes: KPIs, gráficas y salud fiscal al instante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256032" cy="256032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mes anterior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0" y="2011680"/>
            <a:ext cx="256032" cy="256032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2336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65760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$780K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6576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deducibles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537960" y="2011680"/>
            <a:ext cx="256032" cy="256032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0372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3796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$67K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653796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trasladado neto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189720" y="1828800"/>
            <a:ext cx="269748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9418320" y="2011680"/>
            <a:ext cx="256032" cy="256032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84080" y="1947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418320" y="2377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$92K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94183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provisión mensual</a:t>
            </a:r>
            <a:endParaRPr lang="en-US" sz="10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48640" y="3703320"/>
          <a:ext cx="749808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8275320" y="3703320"/>
            <a:ext cx="3429000" cy="2606040"/>
          </a:xfrm>
          <a:prstGeom prst="roundRect">
            <a:avLst>
              <a:gd name="adj" fmla="val 4912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84582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CEO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458200" y="4206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fiscal del mes de un vistazo.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 conceptos por gasto.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interanual.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abrir Excel ni molestar al contador.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CEO estratégico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suscripción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importantes y control del plan contratado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 de campana en la barra superior siempre visible.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vencimientos fiscales, cambios en tu plan e invitaciones al equipo.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como leídas con un clic.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Soporte para levantar tickets directamente al equipo de AICuenta.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acciones auditables para tu tranquilidad.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1828800"/>
            <a:ext cx="544068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08660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92240" y="265176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 cualquiera de los 5 planes con 30 días gratis.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seguro con Stripe: tarjeta guardada en modo cifrado.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cuando quieras, sin llamadas ni penalizaciones.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de plan en el momento; solo pagas la diferencia proporcional.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tus facturas y recibos desde el portal del suscriptor.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CEO estratégico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automatización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fiscal, chat documental y bot de WhatsApp con OCR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Fiscal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/dashboard/chat · GPT-4o-mini con herramientas SQL sobre tus CFDIs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recibe la pregunta y elige entre 12+ tools: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chat_search_cfdis · chat_aggregate_cfdis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chat_get_top_facturas · chat_get_conceptos_analysis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chat_get_resumen_fiscal · chat_get_iva_desglose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chat_get_flujo_efectivo · chat_conciliar_pagos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D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create_excel — devuelve URL one-shot para descargar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sistema: </a:t>
            </a:r>
            <a:r>
              <a:rPr lang="en-US" sz="1300" i="1" dirty="0">
                <a:solidFill>
                  <a:srgbClr val="8B4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"nunca inventes valores"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Solo responde con datos reales.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182880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037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903720" y="2423160"/>
            <a:ext cx="457200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40880" y="24688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¿Cuáles fueron mis 5 mayores proveedores en mayo?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03720" y="3200400"/>
            <a:ext cx="4572000" cy="2880360"/>
          </a:xfrm>
          <a:prstGeom prst="roundRect">
            <a:avLst>
              <a:gd name="adj" fmla="val 4444"/>
            </a:avLst>
          </a:prstGeom>
          <a:solidFill>
            <a:srgbClr val="B6F0A0"/>
          </a:solidFill>
          <a:ln w="9525">
            <a:solidFill>
              <a:srgbClr val="6BD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40880" y="3291840"/>
            <a:ext cx="4297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Ejecutando  </a:t>
            </a:r>
            <a:r>
              <a:rPr lang="en-US" sz="1100" b="1" dirty="0">
                <a:solidFill>
                  <a:srgbClr val="4622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chat_get_top_facturas</a:t>
            </a:r>
            <a:r>
              <a:rPr lang="en-US" sz="1100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CFE Suministrador — $124,300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Costco de México — $98,410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Telmex — $54,720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Home Depot — $41,180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Uber Eats — $32,905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¿Quieres que lo exporte a Excel?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IA y automatización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 Documentos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Resolución Miscelánea, leyes fiscales y catálogo SAT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46304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Suscriptor (con cuenta)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265176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más largas y detalladas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hasta 8 mensajes de contexto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más completas (más caracteres)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 diario de consultas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las respuestas a Excel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82880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37960" y="2011680"/>
            <a:ext cx="502920" cy="50292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37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público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629400" y="2651760"/>
            <a:ext cx="4892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la página, sin registrarte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hasta 4 mensajes de contexto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más cortas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diaria de consultas gratuitas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conocer la plataforma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IA y automatización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WhatsApp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comprobantes por WhatsApp y AICuenta los captura solos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554480" y="2011680"/>
            <a:ext cx="685800" cy="68580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5544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la plataforma, el dueño escanea un código QR con su WhatsApp para vincular el número.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42900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434840" y="2011680"/>
            <a:ext cx="685800" cy="68580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348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2900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listo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61188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queda conectado a AICuenta. Puedes compartirlo con clientes y proveedores.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0936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315200" y="2011680"/>
            <a:ext cx="685800" cy="68580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3152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30936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imagen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9224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envía la foto de una transferencia o comprobante bancario a ese WhatsApp.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89720" y="1828800"/>
            <a:ext cx="2697480" cy="310896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0195560" y="2011680"/>
            <a:ext cx="685800" cy="68580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1955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9189720" y="2788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automática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72600" y="32004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lee los datos de la imagen y los guarda ya organizados en tu cuenta.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12174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77240" y="5257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capturados por el OCR: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· monto · folio · beneficiario · cuenta destino · referencia · fecha  →  visibles en el módulo de Comprobantes y descargables en Excel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IA y automatización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00400"/>
            <a:ext cx="4114800" cy="41148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mensual con AICuenta — Constructora Alfa, S.A. de C.V.</a:t>
            </a:r>
            <a:endParaRPr lang="en-US" sz="1800" dirty="0"/>
          </a:p>
        </p:txBody>
      </p:sp>
      <p:pic>
        <p:nvPicPr>
          <p:cNvPr id="7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93776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 Alfa cierra mayo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6F3FC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empresa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4688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 general de ley (personas morales).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RFC principal, 12 clientes recurrentes.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3 — cubre su volumen anual de CFDIs con holgura.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usuarios activos: dueño, contadora y asistente.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por transferencia SPEI; proveedores envían comprobantes por WhatsApp.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828800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EEFBE4"/>
          </a:solidFill>
          <a:ln w="9525">
            <a:solidFill>
              <a:srgbClr val="E4D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37960" y="1920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mayo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537960" y="24688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CFDI emitidos</a:t>
            </a:r>
            <a:r>
              <a:rPr lang="en-US" sz="130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287 </a:t>
            </a: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recibidos (incluye E y P).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transferencias que llegaron por WhatsApp sin XML.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notas de crédito emitidas por rectificaciones.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necesita ver flujo real antes del día 17 (pago provisional).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 debe entregar EF firmados y desglose IVA/ISR.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 · Constructora Alfa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wesome-albattani/mnt/outpu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455" y="292608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97135" y="3474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AICuenta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paso a paso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4B4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 y en qué módulo de AICuenta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1417320"/>
            <a:ext cx="128016" cy="128016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28016" cy="128016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234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157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bot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80360" y="182880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las 18 fotos. Cada una se guarda en Comprobantes con banco, monto y folio ya extraídos.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587752"/>
            <a:ext cx="548640" cy="548640"/>
          </a:xfrm>
          <a:prstGeom prst="ellipse">
            <a:avLst/>
          </a:prstGeom>
          <a:solidFill>
            <a:srgbClr val="4833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864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234440" y="2542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8712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Facturas + Notas crédito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880360" y="2542032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CFDIs de mayo, valida las 3 notas contra su UUID relacionado. Exporta el listado a Excel.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300984"/>
            <a:ext cx="548640" cy="548640"/>
          </a:xfrm>
          <a:prstGeom prst="ellipse">
            <a:avLst/>
          </a:prstGeom>
          <a:solidFill>
            <a:srgbClr val="8B42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" y="3300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234440" y="32552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3444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Estados Financieros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880360" y="3255264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los estados de mayo. Revisa base IVA 16/8/0 y desglose ISR; valida totales contra el listado de facturas.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234440" y="3968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234440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Pagos + Efectivamente pagado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880360" y="3968496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 los pagos recibidos con los comprobantes del bot. Detecta 2 ingresos cobrados sin factura.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727448"/>
            <a:ext cx="548640" cy="548640"/>
          </a:xfrm>
          <a:prstGeom prst="ellipse">
            <a:avLst/>
          </a:prstGeom>
          <a:solidFill>
            <a:srgbClr val="AEDB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" y="4727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234440" y="4681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23444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+ Chat fiscal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880360" y="468172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dashboard, ve KPIs de mayo. Pregunta al chat: '¿cuáles son mis top 5 proveedores?'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5440680"/>
            <a:ext cx="548640" cy="548640"/>
          </a:xfrm>
          <a:prstGeom prst="ellipse">
            <a:avLst/>
          </a:prstGeom>
          <a:solidFill>
            <a:srgbClr val="450C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486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234440" y="5394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234440" y="5724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4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Suscripción y equipo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880360" y="539496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que su plan sigue cubriendo el volumen. Aprueba el reporte y firma.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integrador · Constructora Alfa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50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50C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371600"/>
            <a:ext cx="4572000" cy="4572000"/>
          </a:xfrm>
          <a:prstGeom prst="ellipse">
            <a:avLst/>
          </a:prstGeom>
          <a:solidFill>
            <a:srgbClr val="4622A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3657600"/>
            <a:ext cx="5029200" cy="5029200"/>
          </a:xfrm>
          <a:prstGeom prst="ellipse">
            <a:avLst/>
          </a:prstGeom>
          <a:solidFill>
            <a:srgbClr val="6BDA4D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sessions/relaxed-awesome-albattani/mnt/outputs/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22960" y="35661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B6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conoces los 5 módulos y viste un caso integrador. Próximo paso: entrar a la cuenta demo y replicar el flujo de Constructora Alfa.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822960" y="512064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4622AA">
              <a:alpha val="60000"/>
            </a:srgbClr>
          </a:solidFill>
          <a:ln w="12700">
            <a:solidFill>
              <a:srgbClr val="AED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en modo demo desde la web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512064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4622AA">
              <a:alpha val="60000"/>
            </a:srgbClr>
          </a:solidFill>
          <a:ln w="12700">
            <a:solidFill>
              <a:srgbClr val="AED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060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0060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tu ticket desde la app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0" y="512064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4622AA">
              <a:alpha val="60000"/>
            </a:srgbClr>
          </a:solidFill>
          <a:ln w="12700">
            <a:solidFill>
              <a:srgbClr val="AED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59536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ED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95360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tu número en 1 minuto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6675120"/>
            <a:ext cx="6095848" cy="182880"/>
          </a:xfrm>
          <a:prstGeom prst="rect">
            <a:avLst/>
          </a:prstGeom>
          <a:solidFill>
            <a:srgbClr val="4622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95848" y="6675120"/>
            <a:ext cx="6095848" cy="182880"/>
          </a:xfrm>
          <a:prstGeom prst="rect">
            <a:avLst/>
          </a:prstGeom>
          <a:solidFill>
            <a:srgbClr val="6BDA4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2526</Words>
  <Application>Microsoft Office PowerPoint</Application>
  <PresentationFormat>Widescreen</PresentationFormat>
  <Paragraphs>438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AICuenta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AICuenta</dc:title>
  <dc:subject>PptxGenJS Presentation</dc:subject>
  <dc:creator>Profesor AICuenta</dc:creator>
  <cp:lastModifiedBy>consultores_mmendoza@outlook.com</cp:lastModifiedBy>
  <cp:revision>2</cp:revision>
  <dcterms:created xsi:type="dcterms:W3CDTF">2026-08-04T16:16:51Z</dcterms:created>
  <dcterms:modified xsi:type="dcterms:W3CDTF">2026-08-04T17:40:21Z</dcterms:modified>
</cp:coreProperties>
</file>