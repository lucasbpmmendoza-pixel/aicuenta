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50C7D"/>
                </a:solidFill>
                <a:latin typeface="Calibri"/>
              </a:defRPr>
            </a:pPr>
            <a:r>
              <a:rPr lang="es-ES" sz="1300" b="0" i="0" u="none" strike="noStrike">
                <a:solidFill>
                  <a:srgbClr val="450C7D"/>
                </a:solidFill>
                <a:latin typeface="Calibri"/>
              </a:rPr>
              <a:t>Ingresos vs egresos (miles MXN)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6BDA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980</c:v>
                </c:pt>
                <c:pt idx="1">
                  <c:v>1050</c:v>
                </c:pt>
                <c:pt idx="2">
                  <c:v>1180</c:v>
                </c:pt>
                <c:pt idx="3">
                  <c:v>1120</c:v>
                </c:pt>
                <c:pt idx="4">
                  <c:v>1250</c:v>
                </c:pt>
                <c:pt idx="5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66-4566-8911-C518F4C8F0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Egresos</c:v>
                </c:pt>
              </c:strCache>
            </c:strRef>
          </c:tx>
          <c:spPr>
            <a:solidFill>
              <a:srgbClr val="4622A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620</c:v>
                </c:pt>
                <c:pt idx="1">
                  <c:v>690</c:v>
                </c:pt>
                <c:pt idx="2">
                  <c:v>720</c:v>
                </c:pt>
                <c:pt idx="3">
                  <c:v>700</c:v>
                </c:pt>
                <c:pt idx="4">
                  <c:v>780</c:v>
                </c:pt>
                <c:pt idx="5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66-4566-8911-C518F4C8F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42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42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26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20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al curso. Duración estimada: 90 minutos. Audiencia mixta: contadores y CEOs/dueños.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módulo dura ~15 min. El caso final integra los cinco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curso sirve a ambos perfiles simultáneamente.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fuente son los CFDIs del SAT.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descargas dependen del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Contador solo -&gt; owner. Despacho -&gt; cuenta multi.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Despacho típico: business_scale.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Revisar UUID relacionado en notas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Correr diag-ef-vs-facturas.js antes de firmar.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demo tiene límite de descargas.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del gráfico ilustrativas.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-&gt; business_pro convierte single a multi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Historial en tabla chat_fiscal_context. El chat solo lee.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`documents` es la base de conocimiento.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Producción persistente: mover Baileys a host con disco.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pensado para 15 min de discusión.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Ejercicio: cada alumno replica pasos 2-5 en la cuenta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Q&amp;A y replicar caso en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194560"/>
            <a:ext cx="3840480" cy="3840480"/>
          </a:xfrm>
          <a:prstGeom prst="ellipse">
            <a:avLst/>
          </a:prstGeom>
          <a:solidFill>
            <a:srgbClr val="4622A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3474720"/>
            <a:ext cx="4114800" cy="4114800"/>
          </a:xfrm>
          <a:prstGeom prst="ellipse">
            <a:avLst/>
          </a:prstGeom>
          <a:solidFill>
            <a:srgbClr val="6BDA4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-1371600"/>
            <a:ext cx="2743200" cy="2743200"/>
          </a:xfrm>
          <a:prstGeom prst="ellipse">
            <a:avLst/>
          </a:prstGeom>
          <a:solidFill>
            <a:srgbClr val="AEDB4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AICuenta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contabilidad inteligente para México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para contadores y CEOs · 5 módulos + caso integrador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6601968"/>
            <a:ext cx="6095848" cy="256032"/>
          </a:xfrm>
          <a:prstGeom prst="rect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095848" y="6601968"/>
            <a:ext cx="6095848" cy="256032"/>
          </a:xfrm>
          <a:prstGeom prst="rect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curso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módulos + un caso integrador final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530352" cy="530352"/>
          </a:xfrm>
          <a:prstGeom prst="ellipse">
            <a:avLst/>
          </a:prstGeom>
          <a:solidFill>
            <a:srgbClr val="450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801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2064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AICuenta, arquitectura y planes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530352" cy="530352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17320" y="2496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accesos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20640" y="24963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e.firma, RFC y equipos multi-usuario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227832"/>
            <a:ext cx="530352" cy="530352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3227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17320" y="3209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contador operativo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120640" y="32095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Estados Financieros, pagos y exportaciones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3941064"/>
            <a:ext cx="530352" cy="530352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941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17320" y="3922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CEO estratégico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120640" y="39227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notificaciones y suscripción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654296"/>
            <a:ext cx="530352" cy="530352"/>
          </a:xfrm>
          <a:prstGeom prst="ellipse">
            <a:avLst/>
          </a:prstGeom>
          <a:solidFill>
            <a:srgbClr val="AED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4654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17320" y="4636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automatización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120640" y="4636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fiscal, chat documental y bot de WhatsApp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5367528"/>
            <a:ext cx="530352" cy="530352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0080" y="5367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41732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120640" y="5349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mensual de una empresa: paso a paso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AICuenta · Agenda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aprender?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curso por perfil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269748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el catálogo de CFDIs y filtros avanzados.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Estados Financieros con base IVA 16/8/0 y desglose ISR.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Conciliar pagos REP y ver el flujo efectivamente pagado.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reportes a Excel desde cualquier módulo.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chat fiscal para responder dudas en segundos.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2376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Dueño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629400" y="269748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dashboard mensual sin depender del contador.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ingresos, egresos, IVA e ISR de un vistazo.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el flujo de efectivo real (cobrado vs pagado).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equipo: invitar miembros y asignar RFCs.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la IA para preguntas fiscales y normativa SAT.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AICuenta · Objetivos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AICuenta, por qué existe y cómo está construida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AICuenta?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de contabilidad y fiscalización inteligente para México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8165" y="1828800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 centraliza todo el ciclo fiscal en una sola plataforma: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CFDIs (ingresos, egresos, nómina, retenciones)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 calculados automáticamente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Impuestos: ISR, IVA con base 16/8/0/exento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de pagos (REP tipo 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IA fiscal y documental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WhatsApp para capturar comprobantes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1828800"/>
            <a:ext cx="4937760" cy="4389120"/>
          </a:xfrm>
          <a:prstGeom prst="roundRect">
            <a:avLst>
              <a:gd name="adj" fmla="val 291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462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704088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CFDI (I·E·N·P)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72600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483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937260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Stripe </a:t>
            </a:r>
            <a:r>
              <a:rPr lang="en-US" sz="1200" dirty="0" err="1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40880" y="4343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6BD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7040880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 Excel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72600" y="4343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8B4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9372600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IA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Fundamentos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 y planes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 y qué se puede contratar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108960" cy="4434840"/>
          </a:xfrm>
          <a:prstGeom prst="roundRect">
            <a:avLst>
              <a:gd name="adj" fmla="val 4118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2697480"/>
            <a:ext cx="2743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Server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cookies httpOnly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(GPT-4o-mini)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Resend · Baileys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26280" y="1828800"/>
            <a:ext cx="3108960" cy="4434840"/>
          </a:xfrm>
          <a:prstGeom prst="roundRect">
            <a:avLst>
              <a:gd name="adj" fmla="val 4118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2011680"/>
            <a:ext cx="502920" cy="50292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4068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2697480"/>
            <a:ext cx="2743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fiscal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y Estados Financieros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REP y flujo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fiscal y documental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con OCR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Multi-usuario por RFC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03920" y="1828800"/>
            <a:ext cx="3108960" cy="4434840"/>
          </a:xfrm>
          <a:prstGeom prst="roundRect">
            <a:avLst>
              <a:gd name="adj" fmla="val 4118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732520" y="201168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32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41832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Stripe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778240" y="2697480"/>
            <a:ext cx="2743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1 RFC · 0 miembros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 · 5 RFCs · 5 miembros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Scale · 20 RFCs · 20 miembros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cliente Stripe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Demo (solo lectura)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o annual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>
              <a:solidFill>
                <a:srgbClr val="1A10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Fundamentos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accesos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registro al primer RFC activo, más equipos multi-usuario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inicio: alta, e.firma y RFC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pasos para activar una cuenta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685800" cy="68580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contraseña o Google Sign-In. Se envía correo de verificación (JWT 24h).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971800"/>
            <a:ext cx="685800" cy="68580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login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3337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confirmar, cookie JWT httpOnly de 7 días. Middleware protege /dashboard/**.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5448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e.firma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.cer, .key y EFIEL en /upload-fiel. Se guarda en tabla EFIELES ligada al usuario+RFC.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074920"/>
            <a:ext cx="685800" cy="68580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55448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RFC inicial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5440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RFC del contribuyente. A partir de aquí ya se </a:t>
            </a:r>
            <a:r>
              <a:rPr lang="en-US" sz="1300" dirty="0" err="1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</a:t>
            </a: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CFDIs.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92640" y="1828800"/>
            <a:ext cx="2103120" cy="4206240"/>
          </a:xfrm>
          <a:prstGeom prst="roundRect">
            <a:avLst>
              <a:gd name="adj" fmla="val 60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829800" y="1965960"/>
            <a:ext cx="457200" cy="45720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829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03784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de seguridad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29800" y="251460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e.firma nunca sale del servidor. Se cifra y se usa solo para descargar XML del SAT. Cookies httpOnly + sameSite=lax evitan robo de sesión desde el navegador.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Onboarding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Equipos: roles y multi-usuario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single vs multi, y qué puede hacer cada rol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69494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sistema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450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173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8803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 la cuenta. Puede todo: RFCs, planes, invitar, ver auditoría.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173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83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931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 invitado. Solo ve los RFCs que el owner le asigna (member_rfcs).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41732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chikenelo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983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despacho. Opera múltiples cuentas heredando el ownerId efectivo.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0" y="1828800"/>
            <a:ext cx="4023360" cy="4206240"/>
          </a:xfrm>
          <a:prstGeom prst="roundRect">
            <a:avLst>
              <a:gd name="adj" fmla="val 3182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00100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</a:t>
            </a:r>
            <a:r>
              <a:rPr lang="en-US" sz="1500" b="1" dirty="0" err="1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 CAMBIAR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0100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0100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00100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RFC · 0 miembros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0010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00100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business_pro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00100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RFCs · 5 miembros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010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001000" y="5029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business_scale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00100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RFCs · 20 miembros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Onboarding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contador operativo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Estados Financieros, pagos y exportaciones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facturas (CFDIs)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/dashboard/facturas · listado paginado con filtros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0876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facturación. Base de ingresos gravados por IVA/ISR.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11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38912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61188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crédito ligadas a ingresos previos. Reducen la base.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26948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9224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Recibos de nómina emitidos. Alimentan el módulo de nómina.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8972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372600" y="2011680"/>
            <a:ext cx="640080" cy="64008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3726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014984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(REP)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37260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de pago. Conciliación con ingresos y flujo real.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754880"/>
            <a:ext cx="1110996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724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disponibles en la vista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5212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(Ingreso/Egreso) · Tipo (I/E/N/P) · Búsqueda de texto libre · Rango de fechas · RFC emisor/receptor · Estado (vigente/cancelado)  →  exportable a Excel desde /api/export/facturas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Contador operativo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/dashboard/estados-financieros · balance, resultados y flujo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calcula automáticamente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5943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IVA por tasa: 16%, 8% fronterizo, 0% y exento.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Trasladados y retenciones de ISR / IVA / IEPS.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flujo de efectivo (cobrado y pagado).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por concepto para auditoría rápida.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mensual para detectar anomalías.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1828800"/>
            <a:ext cx="502920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0" y="1965960"/>
            <a:ext cx="502920" cy="50292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5236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capó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0" y="2606040"/>
            <a:ext cx="4709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principal:  </a:t>
            </a:r>
            <a:r>
              <a:rPr lang="en-US" sz="1200" b="1" dirty="0" err="1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fetchEstadosFinancieros</a:t>
            </a:r>
            <a:r>
              <a:rPr lang="en-US" sz="1200" b="1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No </a:t>
            </a:r>
            <a:r>
              <a:rPr lang="en-US" sz="1200" b="1" dirty="0" err="1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desarrollador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 </a:t>
            </a:r>
            <a:r>
              <a:rPr lang="en-US" sz="12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lib/facturas-query.ts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'long' con requestTimeout de 300s.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en memoria por RFC + rango (TTL 15 min).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diagnóstico: </a:t>
            </a:r>
            <a:r>
              <a:rPr lang="en-US" sz="1200" dirty="0">
                <a:solidFill>
                  <a:srgbClr val="483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diag-estados-financieros.js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Contador operativo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flujo real y exportaciones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REP, efectivamente pagado y descargas Excel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544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(REP)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27889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/api/pagos. Lista complementos tipo P y su importe. Conciliación automática contra el CFDI de ingreso original.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3492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Efectivamente pagado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17720" y="27889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/api/efectivamente-pagado. Vista contable de flujo real por forma y método de pago. Ideal para saber qué se cobró vs qué se facturó.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38160" y="182880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66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1440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12480" y="27889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módulos exportan a Excel con exceljs: facturas, EF, flujo, notas-crédito, pagos, comprobantes, DIOT, efectivamente-pagado.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Contador operativo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CEO estratégico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notificaciones y control de la suscripción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fiscal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 · selector de RFC + mes/año, KPIs y gráficas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256032" cy="256032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mes anterior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0" y="2011680"/>
            <a:ext cx="256032" cy="256032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2336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$780K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65760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deducibles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537960" y="2011680"/>
            <a:ext cx="256032" cy="256032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0372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3796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$67K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53796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trasladado neto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18972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418320" y="2011680"/>
            <a:ext cx="256032" cy="256032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78408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41832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$92K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94183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mensual</a:t>
            </a:r>
            <a:endParaRPr lang="en-US" sz="10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48640" y="3703320"/>
          <a:ext cx="74980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8275320" y="3703320"/>
            <a:ext cx="3429000" cy="2606040"/>
          </a:xfrm>
          <a:prstGeom prst="roundRect">
            <a:avLst>
              <a:gd name="adj" fmla="val 4912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84582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CEO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458200" y="4206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fiscal del mes de un vistazo.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 conceptos por gasto.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interanual.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abrir Excel ni molestar al contador.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CEO estratégico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suscripción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TopBar · /dashboard/suscripcion · portal Stripe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Campana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superior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vencimiento fiscal, webhooks Stripe, invitaciones al equipo.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para marcar como leídas.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44068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08660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92240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/api/billing/plans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planes activos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/api/billing/checkout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Checkout Stripe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/api/billing/portal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portal cliente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/api/stripe/webhook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eventos entrantes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CEO decide plan y ve facturas desde el portal Stripe. Los límites (RFCs, miembros) se aplican en tiempo real desde </a:t>
            </a:r>
            <a:r>
              <a:rPr lang="en-US" sz="1200" dirty="0">
                <a:solidFill>
                  <a:srgbClr val="483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lib/account-</a:t>
            </a:r>
            <a:r>
              <a:rPr lang="en-US" sz="1200" dirty="0" err="1">
                <a:solidFill>
                  <a:srgbClr val="483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plan.ts</a:t>
            </a: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spcAft>
                <a:spcPts val="300"/>
              </a:spcAft>
              <a:buNone/>
            </a:pPr>
            <a:endParaRPr lang="en-US" sz="1200" dirty="0">
              <a:solidFill>
                <a:srgbClr val="1A10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</a:t>
            </a:r>
            <a:r>
              <a:rPr lang="en-US" sz="12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CEO estratégico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automatización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fiscal, chat documental y bot de WhatsApp con OCR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Fiscal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/dashboard/chat · GPT-4o-mini con herramientas SQL sobre tus CFDIs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recibe la pregunta y elige entre 12+ tools: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chat_search_cfdis · chat_aggregate_cfdis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chat_get_top_facturas · chat_get_conceptos_analysis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chat_get_resumen_fiscal · chat_get_iva_desglose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chat_get_flujo_efectivo · chat_conciliar_pagos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D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create_excel — devuelve URL one-shot para descargar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sistema: </a:t>
            </a:r>
            <a:r>
              <a:rPr lang="en-US" sz="1300" i="1" dirty="0">
                <a:solidFill>
                  <a:srgbClr val="8B4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inventes valores"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Solo responde con datos reales.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1828800"/>
            <a:ext cx="502920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037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03720" y="2423160"/>
            <a:ext cx="457200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40880" y="2468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fueron mis 5 mayores proveedores en mayo?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0" y="3200400"/>
            <a:ext cx="4572000" cy="2880360"/>
          </a:xfrm>
          <a:prstGeom prst="roundRect">
            <a:avLst>
              <a:gd name="adj" fmla="val 4444"/>
            </a:avLst>
          </a:prstGeom>
          <a:solidFill>
            <a:srgbClr val="B6F0A0"/>
          </a:solidFill>
          <a:ln w="9525">
            <a:solidFill>
              <a:srgbClr val="6BD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40880" y="329184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Ejecutando  </a:t>
            </a:r>
            <a:r>
              <a:rPr lang="en-US" sz="1100" b="1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chat_get_top_facturas</a:t>
            </a:r>
            <a:r>
              <a:rPr lang="en-US" sz="1100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CFE Suministrador — $124,300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Costco de México — $98,410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Telmex — $54,720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Home Depot — $41,180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Uber Eats — $32,905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¿Quieres que lo exporte a Excel?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IA y automatización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 Documentos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/dashboard/chat-docs · Resolución Miscelánea, leyes y catálogo SAT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(suscriptor)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65176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CHAT_DOCS_MODEL_PREMIUM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mensajes de contexto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caracteres por mensaje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cuota diaria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exportar respuestas a Excel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RFC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82880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(sin login)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629400" y="265176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CHAT_DOCS_MODEL_PUBLIC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 mensajes de contexto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caracteres por mensaje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configurable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IA y automatización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WhatsApp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/dashboard/whatsapp-bot · Baileys + OCR con OpenAI Vision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554480" y="2011680"/>
            <a:ext cx="685800" cy="68580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owner escanea QR desde la vista (SSE, /api/whatsapp/connect).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2011680"/>
            <a:ext cx="685800" cy="68580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2900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activa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1188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sesión Baileys </a:t>
            </a:r>
            <a:r>
              <a:rPr lang="en-US" sz="12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filesystem.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315200" y="2011680"/>
            <a:ext cx="685800" cy="68580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30936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imagen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9224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envía foto de un comprobante bancario al número.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8972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0195560" y="2011680"/>
            <a:ext cx="685800" cy="68580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1955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18972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IA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7260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baja la imagen, la pasa por OpenAI y guarda en Comprobantes.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12174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724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capturados por el OCR: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· monto · folio · beneficiario · cuenta destino · referencia · fecha  →  </a:t>
            </a:r>
            <a:r>
              <a:rPr lang="en-US" sz="12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</a:t>
            </a: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</a:t>
            </a: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exportables a Excel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IA y automatización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mensual con AICuenta — Constructora Alfa, S.A. de C.V.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caso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Alfa cierra mayo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4688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general de ley (personas morales).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RFC principal, 12 clientes recurrentes.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Business Pro — 5 RFCs, 5 </a:t>
            </a:r>
            <a:r>
              <a:rPr lang="en-US" sz="13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usuarios activos: dueño (owner), contadora (member), asistente (member).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por transferencia SPEI; proveedores envían comprobantes por WhatsApp.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mayo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37960" y="24688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CFDI emitidos, 287 recibidos (incluye E y P).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transferencias que llegaron por WhatsApp sin XML.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notas de crédito emitidas por rectificaciones.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necesita ver flujo real antes del día 17 (pago provisional).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 debe entregar EF firmados y desglose IVA/ISR.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 · Constructora Alfa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paso a paso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 y en qué módulo de AICuenta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344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1579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bot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80360" y="182880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18 fotos. Cada una se guarda en Comprobantes con banco, monto y folio ya extraídos.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587752"/>
            <a:ext cx="548640" cy="54864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23444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871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Facturas + Notas crédito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880360" y="254203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CFDIs de mayo, valida las 3 notas contra su UUID relacionado. Exporta el listado a Excel.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234440" y="32552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3444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Estados Financieros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880360" y="3255264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EF de mayo. Revisa base IVA 16/8/0 y desglose ISR. Corre diag-ef-vs-facturas.js para validar.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234440" y="3968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344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Pagos + Efectivamente pagado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880360" y="396849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los REP con los comprobantes del bot. Detecta 2 ingresos cobrados sin factura.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727448"/>
            <a:ext cx="548640" cy="548640"/>
          </a:xfrm>
          <a:prstGeom prst="ellipse">
            <a:avLst/>
          </a:prstGeom>
          <a:solidFill>
            <a:srgbClr val="AED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234440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34440" y="5010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+ Chat fiscal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880360" y="468172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dashboard, </a:t>
            </a:r>
            <a:r>
              <a:rPr lang="en-US" sz="12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mayo. Pregunta al chat: '¿cuáles son mis top 5 proveedores?'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rgbClr val="450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86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234440" y="5394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234440" y="5724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Suscripción / Team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880360" y="53949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que sigue dentro de los 5 miembros del plan. Aprueba el reporte y </a:t>
            </a:r>
            <a:r>
              <a:rPr lang="en-US" sz="1200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MAL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 · Constructora Alfa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371600"/>
            <a:ext cx="4572000" cy="45720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conoces los 5 módulos y viste un caso integrador. Próximo paso: entrar a la cuenta demo y replicar el flujo de Constructora Alfa.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512064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4622AA">
              <a:alpha val="60000"/>
            </a:srgbClr>
          </a:solidFill>
          <a:ln w="12700">
            <a:solidFill>
              <a:srgbClr val="AED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aicuenta.com/dashboard?demo=1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512064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4622AA">
              <a:alpha val="60000"/>
            </a:srgbClr>
          </a:solidFill>
          <a:ln w="12700">
            <a:solidFill>
              <a:srgbClr val="AED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060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0060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/dashboard/soporte (tickets)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12480" y="512064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4622AA">
              <a:alpha val="60000"/>
            </a:srgbClr>
          </a:solidFill>
          <a:ln w="12700">
            <a:solidFill>
              <a:srgbClr val="AED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9536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9536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/dashboard/whatsapp-bot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675120"/>
            <a:ext cx="6095848" cy="182880"/>
          </a:xfrm>
          <a:prstGeom prst="rect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95848" y="6675120"/>
            <a:ext cx="6095848" cy="182880"/>
          </a:xfrm>
          <a:prstGeom prst="rect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2286</Words>
  <Application>Microsoft Office PowerPoint</Application>
  <PresentationFormat>Widescreen</PresentationFormat>
  <Paragraphs>420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AICuenta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AICuenta</dc:title>
  <dc:subject>PptxGenJS Presentation</dc:subject>
  <dc:creator>Profesor AICuenta</dc:creator>
  <cp:lastModifiedBy>consultores_mmendoza@outlook.com</cp:lastModifiedBy>
  <cp:revision>2</cp:revision>
  <dcterms:created xsi:type="dcterms:W3CDTF">2026-08-04T15:45:53Z</dcterms:created>
  <dcterms:modified xsi:type="dcterms:W3CDTF">2026-08-04T16:39:40Z</dcterms:modified>
</cp:coreProperties>
</file>