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450C7D"/>
                </a:solidFill>
                <a:latin typeface="Calibri"/>
              </a:defRPr>
            </a:pPr>
            <a:r>
              <a:rPr sz="1300" b="0" i="0" u="none" strike="noStrike">
                <a:solidFill>
                  <a:srgbClr val="450C7D"/>
                </a:solidFill>
                <a:latin typeface="Calibri"/>
              </a:rPr>
              <a:t>Ingresos vs egresos (miles MXN)</a:t>
            </a:r>
          </a:p>
        </c:rich>
      </c:tx>
      <c:layout/>
      <c:overlay val="0"/>
    </c:title>
    <c:autoTitleDeleted val="0"/>
    <c:plotArea>
      <c:layout/>
      <c:barChart>
        <c:barDir val="col"/>
        <c:grouping val="clustered"/>
        <c:varyColors val="0"/>
        <c:ser>
          <c:idx val="0"/>
          <c:order val="0"/>
          <c:tx>
            <c:strRef>
              <c:f>Sheet1!$B$1</c:f>
              <c:strCache>
                <c:ptCount val="1"/>
                <c:pt idx="0">
                  <c:v>Ingresos</c:v>
                </c:pt>
              </c:strCache>
            </c:strRef>
          </c:tx>
          <c:spPr>
            <a:solidFill>
              <a:srgbClr val="6BDA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Ene</c:v>
                  </c:pt>
                  <c:pt idx="1">
                    <c:v>Feb</c:v>
                  </c:pt>
                  <c:pt idx="2">
                    <c:v>Mar</c:v>
                  </c:pt>
                  <c:pt idx="3">
                    <c:v>Abr</c:v>
                  </c:pt>
                  <c:pt idx="4">
                    <c:v>May</c:v>
                  </c:pt>
                  <c:pt idx="5">
                    <c:v>Jun</c:v>
                  </c:pt>
                </c:lvl>
              </c:multiLvlStrCache>
            </c:multiLvlStrRef>
          </c:cat>
          <c:val>
            <c:numRef>
              <c:f>Sheet1!$B$2:$B$7</c:f>
              <c:numCache>
                <c:formatCode>General</c:formatCode>
                <c:ptCount val="6"/>
                <c:pt idx="0">
                  <c:v>980</c:v>
                </c:pt>
                <c:pt idx="1">
                  <c:v>1050</c:v>
                </c:pt>
                <c:pt idx="2">
                  <c:v>1180</c:v>
                </c:pt>
                <c:pt idx="3">
                  <c:v>1120</c:v>
                </c:pt>
                <c:pt idx="4">
                  <c:v>1250</c:v>
                </c:pt>
                <c:pt idx="5">
                  <c:v>1200</c:v>
                </c:pt>
              </c:numCache>
            </c:numRef>
          </c:val>
        </c:ser>
        <c:ser>
          <c:idx val="1"/>
          <c:order val="1"/>
          <c:tx>
            <c:strRef>
              <c:f>Sheet1!$C$1</c:f>
              <c:strCache>
                <c:ptCount val="1"/>
                <c:pt idx="0">
                  <c:v>Egresos</c:v>
                </c:pt>
              </c:strCache>
            </c:strRef>
          </c:tx>
          <c:spPr>
            <a:solidFill>
              <a:srgbClr val="4622A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Ene</c:v>
                  </c:pt>
                  <c:pt idx="1">
                    <c:v>Feb</c:v>
                  </c:pt>
                  <c:pt idx="2">
                    <c:v>Mar</c:v>
                  </c:pt>
                  <c:pt idx="3">
                    <c:v>Abr</c:v>
                  </c:pt>
                  <c:pt idx="4">
                    <c:v>May</c:v>
                  </c:pt>
                  <c:pt idx="5">
                    <c:v>Jun</c:v>
                  </c:pt>
                </c:lvl>
              </c:multiLvlStrCache>
            </c:multiLvlStrRef>
          </c:cat>
          <c:val>
            <c:numRef>
              <c:f>Sheet1!$C$2:$C$7</c:f>
              <c:numCache>
                <c:formatCode>General</c:formatCode>
                <c:ptCount val="6"/>
                <c:pt idx="0">
                  <c:v>620</c:v>
                </c:pt>
                <c:pt idx="1">
                  <c:v>690</c:v>
                </c:pt>
                <c:pt idx="2">
                  <c:v>720</c:v>
                </c:pt>
                <c:pt idx="3">
                  <c:v>700</c:v>
                </c:pt>
                <c:pt idx="4">
                  <c:v>780</c:v>
                </c:pt>
                <c:pt idx="5">
                  <c:v>780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B426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4DE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B426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4B4265"/>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al curso. Duración estimada: 90 minutos. Audiencia mixta: contadores y CEOs/dueños.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módulo dura ~15 min. El caso final integra los cinco módulos.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curso sirve a ambos perfiles simultáneamente.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fuente son los CFDIs del SAT.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planes incluyen los mismos módulos y beneficios; solo cambia el volumen de CFDIs que puedes almacenar (ver siguiente lámina).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límite de CFDIs es en 5 años de histórico, no mensual. El Plan 2 es el más elegido: cubre a la mayoría de PyMEs con volumen moderado.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trabajas para varios clientes (despacho), en el módulo 2 verás cómo abrir una cuenta multi-usuario y asignarle RFCs a cada contador de tu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cuenta multi el dueño invita, asigna RFCs y cambia permisos desde /dashboard/usuarios. Cada miembro entra con su propio correo.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Revisar UUID relacionado en notas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firmar el cierre, siempre validar contra la vista de Facturas para asegurar consistencia.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Cuenta demo tiene límite de descargas.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Cifras del gráfico ilustrativas.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clave: la 'frescura' del dato no depende de AICuenta sino de cuándo el SAT libera la información. AICuenta garantiza traer todo lo disponible sin que tú tengas que hacer nada. Consultas pesadas (estados financieros) se cachean 15 min para respuesta instantánea.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CEO es quien decide el plan. Subir del Plan 1 al 2 o al 3 se hace en segundos y no interrumpe el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Historial en tabla chat_fiscal_context. El chat solo lee.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tabla `documents` es la base de conocimiento.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Producción persistente: mover Baileys a host con disco.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pensado para 15 min de discusión.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Ejercicio: cada alumno replica pasos 2-5 en la cuenta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Q&amp;A y replicar caso en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50C7D"/>
        </a:solidFill>
      </p:bgPr>
    </p:bg>
    <p:spTree>
      <p:nvGrpSpPr>
        <p:cNvPr id="1" name=""/>
        <p:cNvGrpSpPr/>
        <p:nvPr/>
      </p:nvGrpSpPr>
      <p:grpSpPr>
        <a:xfrm>
          <a:off x="0" y="0"/>
          <a:ext cx="0" cy="0"/>
          <a:chOff x="0" y="0"/>
          <a:chExt cx="0" cy="0"/>
        </a:xfrm>
      </p:grpSpPr>
      <p:sp>
        <p:nvSpPr>
          <p:cNvPr id="2" name="Shape 0"/>
          <p:cNvSpPr/>
          <p:nvPr/>
        </p:nvSpPr>
        <p:spPr>
          <a:xfrm>
            <a:off x="-1280160" y="2194560"/>
            <a:ext cx="3840480" cy="3840480"/>
          </a:xfrm>
          <a:prstGeom prst="ellipse">
            <a:avLst/>
          </a:prstGeom>
          <a:solidFill>
            <a:srgbClr val="4622AA">
              <a:alpha val="75000"/>
            </a:srgbClr>
          </a:solidFill>
          <a:ln/>
        </p:spPr>
      </p:sp>
      <p:sp>
        <p:nvSpPr>
          <p:cNvPr id="3" name="Shape 1"/>
          <p:cNvSpPr/>
          <p:nvPr/>
        </p:nvSpPr>
        <p:spPr>
          <a:xfrm>
            <a:off x="9601200" y="3474720"/>
            <a:ext cx="4114800" cy="4114800"/>
          </a:xfrm>
          <a:prstGeom prst="ellipse">
            <a:avLst/>
          </a:prstGeom>
          <a:solidFill>
            <a:srgbClr val="6BDA4D">
              <a:alpha val="70000"/>
            </a:srgbClr>
          </a:solidFill>
          <a:ln/>
        </p:spPr>
      </p:sp>
      <p:sp>
        <p:nvSpPr>
          <p:cNvPr id="4" name="Shape 2"/>
          <p:cNvSpPr/>
          <p:nvPr/>
        </p:nvSpPr>
        <p:spPr>
          <a:xfrm>
            <a:off x="8412480" y="-1371600"/>
            <a:ext cx="2743200" cy="2743200"/>
          </a:xfrm>
          <a:prstGeom prst="ellipse">
            <a:avLst/>
          </a:prstGeom>
          <a:solidFill>
            <a:srgbClr val="AEDB4A">
              <a:alpha val="45000"/>
            </a:srgbClr>
          </a:solidFill>
          <a:ln/>
        </p:spPr>
      </p:sp>
      <p:pic>
        <p:nvPicPr>
          <p:cNvPr id="5" name="Image 0" descr="/sessions/relaxed-awesome-albattani/mnt/outputs/logo-blanco.png">    </p:cNvPr>
          <p:cNvPicPr>
            <a:picLocks noChangeAspect="1"/>
          </p:cNvPicPr>
          <p:nvPr/>
        </p:nvPicPr>
        <p:blipFill>
          <a:blip r:embed="rId1"/>
          <a:stretch>
            <a:fillRect/>
          </a:stretch>
        </p:blipFill>
        <p:spPr>
          <a:xfrm>
            <a:off x="914400" y="1234440"/>
            <a:ext cx="1463040" cy="1463040"/>
          </a:xfrm>
          <a:prstGeom prst="rect">
            <a:avLst/>
          </a:prstGeom>
        </p:spPr>
      </p:pic>
      <p:sp>
        <p:nvSpPr>
          <p:cNvPr id="6" name="Text 3"/>
          <p:cNvSpPr/>
          <p:nvPr/>
        </p:nvSpPr>
        <p:spPr>
          <a:xfrm>
            <a:off x="914400" y="2880360"/>
            <a:ext cx="10058400" cy="1097280"/>
          </a:xfrm>
          <a:prstGeom prst="rect">
            <a:avLst/>
          </a:prstGeom>
          <a:noFill/>
          <a:ln/>
        </p:spPr>
        <p:txBody>
          <a:bodyPr wrap="square" lIns="0" tIns="0" rIns="0" bIns="0" rtlCol="0" anchor="ctr"/>
          <a:lstStyle/>
          <a:p>
            <a:pPr algn="l" indent="0" marL="0">
              <a:buNone/>
            </a:pPr>
            <a:r>
              <a:rPr lang="en-US" sz="6000" b="1" dirty="0">
                <a:solidFill>
                  <a:srgbClr val="FFFFFF"/>
                </a:solidFill>
                <a:latin typeface="Calibri" pitchFamily="34" charset="0"/>
                <a:ea typeface="Calibri" pitchFamily="34" charset="-122"/>
                <a:cs typeface="Calibri" pitchFamily="34" charset="-120"/>
              </a:rPr>
              <a:t>Curso AICuenta</a:t>
            </a:r>
            <a:endParaRPr lang="en-US" sz="6000" dirty="0"/>
          </a:p>
        </p:txBody>
      </p:sp>
      <p:sp>
        <p:nvSpPr>
          <p:cNvPr id="7" name="Text 4"/>
          <p:cNvSpPr/>
          <p:nvPr/>
        </p:nvSpPr>
        <p:spPr>
          <a:xfrm>
            <a:off x="914400" y="3977640"/>
            <a:ext cx="10058400" cy="502920"/>
          </a:xfrm>
          <a:prstGeom prst="rect">
            <a:avLst/>
          </a:prstGeom>
          <a:noFill/>
          <a:ln/>
        </p:spPr>
        <p:txBody>
          <a:bodyPr wrap="square" lIns="0" tIns="0" rIns="0" bIns="0" rtlCol="0" anchor="ctr"/>
          <a:lstStyle/>
          <a:p>
            <a:pPr algn="l" indent="0" marL="0">
              <a:buNone/>
            </a:pPr>
            <a:r>
              <a:rPr lang="en-US" sz="2200" dirty="0">
                <a:solidFill>
                  <a:srgbClr val="B6F0A0"/>
                </a:solidFill>
                <a:latin typeface="Calibri" pitchFamily="34" charset="0"/>
                <a:ea typeface="Calibri" pitchFamily="34" charset="-122"/>
                <a:cs typeface="Calibri" pitchFamily="34" charset="-120"/>
              </a:rPr>
              <a:t>La plataforma de contabilidad inteligente para México</a:t>
            </a:r>
            <a:endParaRPr lang="en-US" sz="2200" dirty="0"/>
          </a:p>
        </p:txBody>
      </p:sp>
      <p:sp>
        <p:nvSpPr>
          <p:cNvPr id="8" name="Text 5"/>
          <p:cNvSpPr/>
          <p:nvPr/>
        </p:nvSpPr>
        <p:spPr>
          <a:xfrm>
            <a:off x="914400" y="4526280"/>
            <a:ext cx="10058400" cy="365760"/>
          </a:xfrm>
          <a:prstGeom prst="rect">
            <a:avLst/>
          </a:prstGeom>
          <a:noFill/>
          <a:ln/>
        </p:spPr>
        <p:txBody>
          <a:bodyPr wrap="square" lIns="0" tIns="0" rIns="0" bIns="0" rtlCol="0" anchor="ctr"/>
          <a:lstStyle/>
          <a:p>
            <a:pPr algn="l" indent="0" marL="0">
              <a:buNone/>
            </a:pPr>
            <a:r>
              <a:rPr lang="en-US" sz="1500" i="1" dirty="0">
                <a:solidFill>
                  <a:srgbClr val="FFFFFF"/>
                </a:solidFill>
                <a:latin typeface="Calibri" pitchFamily="34" charset="0"/>
                <a:ea typeface="Calibri" pitchFamily="34" charset="-122"/>
                <a:cs typeface="Calibri" pitchFamily="34" charset="-120"/>
              </a:rPr>
              <a:t>Guía práctica para contadores y CEOs · 5 módulos + caso integrador</a:t>
            </a:r>
            <a:endParaRPr lang="en-US" sz="1500" dirty="0"/>
          </a:p>
        </p:txBody>
      </p:sp>
      <p:sp>
        <p:nvSpPr>
          <p:cNvPr id="9" name="Shape 6"/>
          <p:cNvSpPr/>
          <p:nvPr/>
        </p:nvSpPr>
        <p:spPr>
          <a:xfrm>
            <a:off x="0" y="6601968"/>
            <a:ext cx="6095848" cy="256032"/>
          </a:xfrm>
          <a:prstGeom prst="rect">
            <a:avLst/>
          </a:prstGeom>
          <a:solidFill>
            <a:srgbClr val="4622AA"/>
          </a:solidFill>
          <a:ln/>
        </p:spPr>
      </p:sp>
      <p:sp>
        <p:nvSpPr>
          <p:cNvPr id="10" name="Shape 7"/>
          <p:cNvSpPr/>
          <p:nvPr/>
        </p:nvSpPr>
        <p:spPr>
          <a:xfrm>
            <a:off x="6095848" y="6601968"/>
            <a:ext cx="6095848" cy="256032"/>
          </a:xfrm>
          <a:prstGeom prst="rect">
            <a:avLst/>
          </a:prstGeom>
          <a:solidFill>
            <a:srgbClr val="6BDA4D"/>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Agenda del curso</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5 módulos + un caso integrador final</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640080" y="1801368"/>
            <a:ext cx="530352" cy="530352"/>
          </a:xfrm>
          <a:prstGeom prst="ellipse">
            <a:avLst/>
          </a:prstGeom>
          <a:solidFill>
            <a:srgbClr val="450C7D"/>
          </a:solidFill>
          <a:ln/>
        </p:spPr>
      </p:sp>
      <p:sp>
        <p:nvSpPr>
          <p:cNvPr id="9" name="Text 6"/>
          <p:cNvSpPr/>
          <p:nvPr/>
        </p:nvSpPr>
        <p:spPr>
          <a:xfrm>
            <a:off x="640080" y="180136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7"/>
          <p:cNvSpPr/>
          <p:nvPr/>
        </p:nvSpPr>
        <p:spPr>
          <a:xfrm>
            <a:off x="1417320" y="1783080"/>
            <a:ext cx="3657600" cy="457200"/>
          </a:xfrm>
          <a:prstGeom prst="rect">
            <a:avLst/>
          </a:prstGeom>
          <a:noFill/>
          <a:ln/>
        </p:spPr>
        <p:txBody>
          <a:bodyPr wrap="square" lIns="0" tIns="0" rIns="0" bIns="0" rtlCol="0" anchor="ctr"/>
          <a:lstStyle/>
          <a:p>
            <a:pPr algn="l" indent="0" marL="0">
              <a:buNone/>
            </a:pPr>
            <a:r>
              <a:rPr lang="en-US" sz="1800" b="1" dirty="0">
                <a:solidFill>
                  <a:srgbClr val="450C7D"/>
                </a:solidFill>
                <a:latin typeface="Calibri" pitchFamily="34" charset="0"/>
                <a:ea typeface="Calibri" pitchFamily="34" charset="-122"/>
                <a:cs typeface="Calibri" pitchFamily="34" charset="-120"/>
              </a:rPr>
              <a:t>Fundamentos</a:t>
            </a:r>
            <a:endParaRPr lang="en-US" sz="1800" dirty="0"/>
          </a:p>
        </p:txBody>
      </p:sp>
      <p:sp>
        <p:nvSpPr>
          <p:cNvPr id="11" name="Text 8"/>
          <p:cNvSpPr/>
          <p:nvPr/>
        </p:nvSpPr>
        <p:spPr>
          <a:xfrm>
            <a:off x="5120640" y="1783080"/>
            <a:ext cx="6583680" cy="457200"/>
          </a:xfrm>
          <a:prstGeom prst="rect">
            <a:avLst/>
          </a:prstGeom>
          <a:noFill/>
          <a:ln/>
        </p:spPr>
        <p:txBody>
          <a:bodyPr wrap="square" lIns="0" tIns="0" rIns="0" bIns="0" rtlCol="0" anchor="ctr"/>
          <a:lstStyle/>
          <a:p>
            <a:pPr algn="l" indent="0" marL="0">
              <a:buNone/>
            </a:pPr>
            <a:r>
              <a:rPr lang="en-US" sz="1400" dirty="0">
                <a:solidFill>
                  <a:srgbClr val="4B4265"/>
                </a:solidFill>
                <a:latin typeface="Calibri" pitchFamily="34" charset="0"/>
                <a:ea typeface="Calibri" pitchFamily="34" charset="-122"/>
                <a:cs typeface="Calibri" pitchFamily="34" charset="-120"/>
              </a:rPr>
              <a:t>Qué es AICuenta, módulos y planes disponibles</a:t>
            </a:r>
            <a:endParaRPr lang="en-US" sz="1400" dirty="0"/>
          </a:p>
        </p:txBody>
      </p:sp>
      <p:sp>
        <p:nvSpPr>
          <p:cNvPr id="12" name="Shape 9"/>
          <p:cNvSpPr/>
          <p:nvPr/>
        </p:nvSpPr>
        <p:spPr>
          <a:xfrm>
            <a:off x="640080" y="2514600"/>
            <a:ext cx="530352" cy="530352"/>
          </a:xfrm>
          <a:prstGeom prst="ellipse">
            <a:avLst/>
          </a:prstGeom>
          <a:solidFill>
            <a:srgbClr val="4622AA"/>
          </a:solidFill>
          <a:ln/>
        </p:spPr>
      </p:sp>
      <p:sp>
        <p:nvSpPr>
          <p:cNvPr id="13" name="Text 10"/>
          <p:cNvSpPr/>
          <p:nvPr/>
        </p:nvSpPr>
        <p:spPr>
          <a:xfrm>
            <a:off x="640080" y="2514600"/>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1"/>
          <p:cNvSpPr/>
          <p:nvPr/>
        </p:nvSpPr>
        <p:spPr>
          <a:xfrm>
            <a:off x="1417320" y="2496312"/>
            <a:ext cx="3657600" cy="457200"/>
          </a:xfrm>
          <a:prstGeom prst="rect">
            <a:avLst/>
          </a:prstGeom>
          <a:noFill/>
          <a:ln/>
        </p:spPr>
        <p:txBody>
          <a:bodyPr wrap="square" lIns="0" tIns="0" rIns="0" bIns="0" rtlCol="0" anchor="ctr"/>
          <a:lstStyle/>
          <a:p>
            <a:pPr algn="l" indent="0" marL="0">
              <a:buNone/>
            </a:pPr>
            <a:r>
              <a:rPr lang="en-US" sz="1800" b="1" dirty="0">
                <a:solidFill>
                  <a:srgbClr val="450C7D"/>
                </a:solidFill>
                <a:latin typeface="Calibri" pitchFamily="34" charset="0"/>
                <a:ea typeface="Calibri" pitchFamily="34" charset="-122"/>
                <a:cs typeface="Calibri" pitchFamily="34" charset="-120"/>
              </a:rPr>
              <a:t>Onboarding y accesos</a:t>
            </a:r>
            <a:endParaRPr lang="en-US" sz="1800" dirty="0"/>
          </a:p>
        </p:txBody>
      </p:sp>
      <p:sp>
        <p:nvSpPr>
          <p:cNvPr id="15" name="Text 12"/>
          <p:cNvSpPr/>
          <p:nvPr/>
        </p:nvSpPr>
        <p:spPr>
          <a:xfrm>
            <a:off x="5120640" y="2496312"/>
            <a:ext cx="6583680" cy="457200"/>
          </a:xfrm>
          <a:prstGeom prst="rect">
            <a:avLst/>
          </a:prstGeom>
          <a:noFill/>
          <a:ln/>
        </p:spPr>
        <p:txBody>
          <a:bodyPr wrap="square" lIns="0" tIns="0" rIns="0" bIns="0" rtlCol="0" anchor="ctr"/>
          <a:lstStyle/>
          <a:p>
            <a:pPr algn="l" indent="0" marL="0">
              <a:buNone/>
            </a:pPr>
            <a:r>
              <a:rPr lang="en-US" sz="1400" dirty="0">
                <a:solidFill>
                  <a:srgbClr val="4B4265"/>
                </a:solidFill>
                <a:latin typeface="Calibri" pitchFamily="34" charset="0"/>
                <a:ea typeface="Calibri" pitchFamily="34" charset="-122"/>
                <a:cs typeface="Calibri" pitchFamily="34" charset="-120"/>
              </a:rPr>
              <a:t>Alta, e.firma, RFC y equipos multi-usuario</a:t>
            </a:r>
            <a:endParaRPr lang="en-US" sz="1400" dirty="0"/>
          </a:p>
        </p:txBody>
      </p:sp>
      <p:sp>
        <p:nvSpPr>
          <p:cNvPr id="16" name="Shape 13"/>
          <p:cNvSpPr/>
          <p:nvPr/>
        </p:nvSpPr>
        <p:spPr>
          <a:xfrm>
            <a:off x="640080" y="3227832"/>
            <a:ext cx="530352" cy="530352"/>
          </a:xfrm>
          <a:prstGeom prst="ellipse">
            <a:avLst/>
          </a:prstGeom>
          <a:solidFill>
            <a:srgbClr val="4833D6"/>
          </a:solidFill>
          <a:ln/>
        </p:spPr>
      </p:sp>
      <p:sp>
        <p:nvSpPr>
          <p:cNvPr id="17" name="Text 14"/>
          <p:cNvSpPr/>
          <p:nvPr/>
        </p:nvSpPr>
        <p:spPr>
          <a:xfrm>
            <a:off x="640080" y="3227832"/>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417320" y="3209544"/>
            <a:ext cx="3657600" cy="457200"/>
          </a:xfrm>
          <a:prstGeom prst="rect">
            <a:avLst/>
          </a:prstGeom>
          <a:noFill/>
          <a:ln/>
        </p:spPr>
        <p:txBody>
          <a:bodyPr wrap="square" lIns="0" tIns="0" rIns="0" bIns="0" rtlCol="0" anchor="ctr"/>
          <a:lstStyle/>
          <a:p>
            <a:pPr algn="l" indent="0" marL="0">
              <a:buNone/>
            </a:pPr>
            <a:r>
              <a:rPr lang="en-US" sz="1800" b="1" dirty="0">
                <a:solidFill>
                  <a:srgbClr val="450C7D"/>
                </a:solidFill>
                <a:latin typeface="Calibri" pitchFamily="34" charset="0"/>
                <a:ea typeface="Calibri" pitchFamily="34" charset="-122"/>
                <a:cs typeface="Calibri" pitchFamily="34" charset="-120"/>
              </a:rPr>
              <a:t>El contador operativo</a:t>
            </a:r>
            <a:endParaRPr lang="en-US" sz="1800" dirty="0"/>
          </a:p>
        </p:txBody>
      </p:sp>
      <p:sp>
        <p:nvSpPr>
          <p:cNvPr id="19" name="Text 16"/>
          <p:cNvSpPr/>
          <p:nvPr/>
        </p:nvSpPr>
        <p:spPr>
          <a:xfrm>
            <a:off x="5120640" y="3209544"/>
            <a:ext cx="6583680" cy="457200"/>
          </a:xfrm>
          <a:prstGeom prst="rect">
            <a:avLst/>
          </a:prstGeom>
          <a:noFill/>
          <a:ln/>
        </p:spPr>
        <p:txBody>
          <a:bodyPr wrap="square" lIns="0" tIns="0" rIns="0" bIns="0" rtlCol="0" anchor="ctr"/>
          <a:lstStyle/>
          <a:p>
            <a:pPr algn="l" indent="0" marL="0">
              <a:buNone/>
            </a:pPr>
            <a:r>
              <a:rPr lang="en-US" sz="1400" dirty="0">
                <a:solidFill>
                  <a:srgbClr val="4B4265"/>
                </a:solidFill>
                <a:latin typeface="Calibri" pitchFamily="34" charset="0"/>
                <a:ea typeface="Calibri" pitchFamily="34" charset="-122"/>
                <a:cs typeface="Calibri" pitchFamily="34" charset="-120"/>
              </a:rPr>
              <a:t>Facturas, Estados Financieros, pagos y exportaciones</a:t>
            </a:r>
            <a:endParaRPr lang="en-US" sz="1400" dirty="0"/>
          </a:p>
        </p:txBody>
      </p:sp>
      <p:sp>
        <p:nvSpPr>
          <p:cNvPr id="20" name="Shape 17"/>
          <p:cNvSpPr/>
          <p:nvPr/>
        </p:nvSpPr>
        <p:spPr>
          <a:xfrm>
            <a:off x="640080" y="3941064"/>
            <a:ext cx="530352" cy="530352"/>
          </a:xfrm>
          <a:prstGeom prst="ellipse">
            <a:avLst/>
          </a:prstGeom>
          <a:solidFill>
            <a:srgbClr val="6BDA4D"/>
          </a:solidFill>
          <a:ln/>
        </p:spPr>
      </p:sp>
      <p:sp>
        <p:nvSpPr>
          <p:cNvPr id="21" name="Text 18"/>
          <p:cNvSpPr/>
          <p:nvPr/>
        </p:nvSpPr>
        <p:spPr>
          <a:xfrm>
            <a:off x="640080" y="3941064"/>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19"/>
          <p:cNvSpPr/>
          <p:nvPr/>
        </p:nvSpPr>
        <p:spPr>
          <a:xfrm>
            <a:off x="1417320" y="3922776"/>
            <a:ext cx="3657600" cy="457200"/>
          </a:xfrm>
          <a:prstGeom prst="rect">
            <a:avLst/>
          </a:prstGeom>
          <a:noFill/>
          <a:ln/>
        </p:spPr>
        <p:txBody>
          <a:bodyPr wrap="square" lIns="0" tIns="0" rIns="0" bIns="0" rtlCol="0" anchor="ctr"/>
          <a:lstStyle/>
          <a:p>
            <a:pPr algn="l" indent="0" marL="0">
              <a:buNone/>
            </a:pPr>
            <a:r>
              <a:rPr lang="en-US" sz="1800" b="1" dirty="0">
                <a:solidFill>
                  <a:srgbClr val="450C7D"/>
                </a:solidFill>
                <a:latin typeface="Calibri" pitchFamily="34" charset="0"/>
                <a:ea typeface="Calibri" pitchFamily="34" charset="-122"/>
                <a:cs typeface="Calibri" pitchFamily="34" charset="-120"/>
              </a:rPr>
              <a:t>El CEO estratégico</a:t>
            </a:r>
            <a:endParaRPr lang="en-US" sz="1800" dirty="0"/>
          </a:p>
        </p:txBody>
      </p:sp>
      <p:sp>
        <p:nvSpPr>
          <p:cNvPr id="23" name="Text 20"/>
          <p:cNvSpPr/>
          <p:nvPr/>
        </p:nvSpPr>
        <p:spPr>
          <a:xfrm>
            <a:off x="5120640" y="3922776"/>
            <a:ext cx="6583680" cy="457200"/>
          </a:xfrm>
          <a:prstGeom prst="rect">
            <a:avLst/>
          </a:prstGeom>
          <a:noFill/>
          <a:ln/>
        </p:spPr>
        <p:txBody>
          <a:bodyPr wrap="square" lIns="0" tIns="0" rIns="0" bIns="0" rtlCol="0" anchor="ctr"/>
          <a:lstStyle/>
          <a:p>
            <a:pPr algn="l" indent="0" marL="0">
              <a:buNone/>
            </a:pPr>
            <a:r>
              <a:rPr lang="en-US" sz="1400" dirty="0">
                <a:solidFill>
                  <a:srgbClr val="4B4265"/>
                </a:solidFill>
                <a:latin typeface="Calibri" pitchFamily="34" charset="0"/>
                <a:ea typeface="Calibri" pitchFamily="34" charset="-122"/>
                <a:cs typeface="Calibri" pitchFamily="34" charset="-120"/>
              </a:rPr>
              <a:t>Dashboard, KPIs, notificaciones y suscripción</a:t>
            </a:r>
            <a:endParaRPr lang="en-US" sz="1400" dirty="0"/>
          </a:p>
        </p:txBody>
      </p:sp>
      <p:sp>
        <p:nvSpPr>
          <p:cNvPr id="24" name="Shape 21"/>
          <p:cNvSpPr/>
          <p:nvPr/>
        </p:nvSpPr>
        <p:spPr>
          <a:xfrm>
            <a:off x="640080" y="4654296"/>
            <a:ext cx="530352" cy="530352"/>
          </a:xfrm>
          <a:prstGeom prst="ellipse">
            <a:avLst/>
          </a:prstGeom>
          <a:solidFill>
            <a:srgbClr val="AEDB4A"/>
          </a:solidFill>
          <a:ln/>
        </p:spPr>
      </p:sp>
      <p:sp>
        <p:nvSpPr>
          <p:cNvPr id="25" name="Text 22"/>
          <p:cNvSpPr/>
          <p:nvPr/>
        </p:nvSpPr>
        <p:spPr>
          <a:xfrm>
            <a:off x="640080" y="4654296"/>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6" name="Text 23"/>
          <p:cNvSpPr/>
          <p:nvPr/>
        </p:nvSpPr>
        <p:spPr>
          <a:xfrm>
            <a:off x="1417320" y="4636008"/>
            <a:ext cx="3657600" cy="457200"/>
          </a:xfrm>
          <a:prstGeom prst="rect">
            <a:avLst/>
          </a:prstGeom>
          <a:noFill/>
          <a:ln/>
        </p:spPr>
        <p:txBody>
          <a:bodyPr wrap="square" lIns="0" tIns="0" rIns="0" bIns="0" rtlCol="0" anchor="ctr"/>
          <a:lstStyle/>
          <a:p>
            <a:pPr algn="l" indent="0" marL="0">
              <a:buNone/>
            </a:pPr>
            <a:r>
              <a:rPr lang="en-US" sz="1800" b="1" dirty="0">
                <a:solidFill>
                  <a:srgbClr val="450C7D"/>
                </a:solidFill>
                <a:latin typeface="Calibri" pitchFamily="34" charset="0"/>
                <a:ea typeface="Calibri" pitchFamily="34" charset="-122"/>
                <a:cs typeface="Calibri" pitchFamily="34" charset="-120"/>
              </a:rPr>
              <a:t>IA y automatización</a:t>
            </a:r>
            <a:endParaRPr lang="en-US" sz="1800" dirty="0"/>
          </a:p>
        </p:txBody>
      </p:sp>
      <p:sp>
        <p:nvSpPr>
          <p:cNvPr id="27" name="Text 24"/>
          <p:cNvSpPr/>
          <p:nvPr/>
        </p:nvSpPr>
        <p:spPr>
          <a:xfrm>
            <a:off x="5120640" y="4636008"/>
            <a:ext cx="6583680" cy="457200"/>
          </a:xfrm>
          <a:prstGeom prst="rect">
            <a:avLst/>
          </a:prstGeom>
          <a:noFill/>
          <a:ln/>
        </p:spPr>
        <p:txBody>
          <a:bodyPr wrap="square" lIns="0" tIns="0" rIns="0" bIns="0" rtlCol="0" anchor="ctr"/>
          <a:lstStyle/>
          <a:p>
            <a:pPr algn="l" indent="0" marL="0">
              <a:buNone/>
            </a:pPr>
            <a:r>
              <a:rPr lang="en-US" sz="1400" dirty="0">
                <a:solidFill>
                  <a:srgbClr val="4B4265"/>
                </a:solidFill>
                <a:latin typeface="Calibri" pitchFamily="34" charset="0"/>
                <a:ea typeface="Calibri" pitchFamily="34" charset="-122"/>
                <a:cs typeface="Calibri" pitchFamily="34" charset="-120"/>
              </a:rPr>
              <a:t>Chat fiscal, chat documental y bot de WhatsApp</a:t>
            </a:r>
            <a:endParaRPr lang="en-US" sz="1400" dirty="0"/>
          </a:p>
        </p:txBody>
      </p:sp>
      <p:sp>
        <p:nvSpPr>
          <p:cNvPr id="28" name="Shape 25"/>
          <p:cNvSpPr/>
          <p:nvPr/>
        </p:nvSpPr>
        <p:spPr>
          <a:xfrm>
            <a:off x="640080" y="5367528"/>
            <a:ext cx="530352" cy="530352"/>
          </a:xfrm>
          <a:prstGeom prst="ellipse">
            <a:avLst/>
          </a:prstGeom>
          <a:solidFill>
            <a:srgbClr val="8B42D4"/>
          </a:solidFill>
          <a:ln/>
        </p:spPr>
      </p:sp>
      <p:sp>
        <p:nvSpPr>
          <p:cNvPr id="29" name="Text 26"/>
          <p:cNvSpPr/>
          <p:nvPr/>
        </p:nvSpPr>
        <p:spPr>
          <a:xfrm>
            <a:off x="640080" y="5367528"/>
            <a:ext cx="530352"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0" name="Text 27"/>
          <p:cNvSpPr/>
          <p:nvPr/>
        </p:nvSpPr>
        <p:spPr>
          <a:xfrm>
            <a:off x="1417320" y="5349240"/>
            <a:ext cx="3657600" cy="457200"/>
          </a:xfrm>
          <a:prstGeom prst="rect">
            <a:avLst/>
          </a:prstGeom>
          <a:noFill/>
          <a:ln/>
        </p:spPr>
        <p:txBody>
          <a:bodyPr wrap="square" lIns="0" tIns="0" rIns="0" bIns="0" rtlCol="0" anchor="ctr"/>
          <a:lstStyle/>
          <a:p>
            <a:pPr algn="l" indent="0" marL="0">
              <a:buNone/>
            </a:pPr>
            <a:r>
              <a:rPr lang="en-US" sz="1800" b="1" dirty="0">
                <a:solidFill>
                  <a:srgbClr val="450C7D"/>
                </a:solidFill>
                <a:latin typeface="Calibri" pitchFamily="34" charset="0"/>
                <a:ea typeface="Calibri" pitchFamily="34" charset="-122"/>
                <a:cs typeface="Calibri" pitchFamily="34" charset="-120"/>
              </a:rPr>
              <a:t>Caso integrador</a:t>
            </a:r>
            <a:endParaRPr lang="en-US" sz="1800" dirty="0"/>
          </a:p>
        </p:txBody>
      </p:sp>
      <p:sp>
        <p:nvSpPr>
          <p:cNvPr id="31" name="Text 28"/>
          <p:cNvSpPr/>
          <p:nvPr/>
        </p:nvSpPr>
        <p:spPr>
          <a:xfrm>
            <a:off x="5120640" y="5349240"/>
            <a:ext cx="6583680" cy="457200"/>
          </a:xfrm>
          <a:prstGeom prst="rect">
            <a:avLst/>
          </a:prstGeom>
          <a:noFill/>
          <a:ln/>
        </p:spPr>
        <p:txBody>
          <a:bodyPr wrap="square" lIns="0" tIns="0" rIns="0" bIns="0" rtlCol="0" anchor="ctr"/>
          <a:lstStyle/>
          <a:p>
            <a:pPr algn="l" indent="0" marL="0">
              <a:buNone/>
            </a:pPr>
            <a:r>
              <a:rPr lang="en-US" sz="1400" dirty="0">
                <a:solidFill>
                  <a:srgbClr val="4B4265"/>
                </a:solidFill>
                <a:latin typeface="Calibri" pitchFamily="34" charset="0"/>
                <a:ea typeface="Calibri" pitchFamily="34" charset="-122"/>
                <a:cs typeface="Calibri" pitchFamily="34" charset="-120"/>
              </a:rPr>
              <a:t>Cierre mensual de una empresa: paso a paso</a:t>
            </a:r>
            <a:endParaRPr lang="en-US" sz="1400" dirty="0"/>
          </a:p>
        </p:txBody>
      </p:sp>
      <p:sp>
        <p:nvSpPr>
          <p:cNvPr id="32" name="Text 29"/>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Curso AICuenta · Agenda</a:t>
            </a:r>
            <a:endParaRPr lang="en-US" sz="1000" dirty="0"/>
          </a:p>
        </p:txBody>
      </p:sp>
      <p:sp>
        <p:nvSpPr>
          <p:cNvPr id="33" name="Text 30"/>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¿Qué vas a aprender?</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Objetivos del curso por perfil</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783080"/>
            <a:ext cx="5349240" cy="4434840"/>
          </a:xfrm>
          <a:prstGeom prst="roundRect">
            <a:avLst>
              <a:gd name="adj" fmla="val 2887"/>
            </a:avLst>
          </a:prstGeom>
          <a:solidFill>
            <a:srgbClr val="F6F3FC"/>
          </a:solidFill>
          <a:ln w="9525">
            <a:solidFill>
              <a:srgbClr val="E4DEF2"/>
            </a:solidFill>
            <a:prstDash val="solid"/>
          </a:ln>
        </p:spPr>
      </p:sp>
      <p:sp>
        <p:nvSpPr>
          <p:cNvPr id="9" name="Shape 6"/>
          <p:cNvSpPr/>
          <p:nvPr/>
        </p:nvSpPr>
        <p:spPr>
          <a:xfrm>
            <a:off x="822960" y="2057400"/>
            <a:ext cx="502920" cy="502920"/>
          </a:xfrm>
          <a:prstGeom prst="ellipse">
            <a:avLst/>
          </a:prstGeom>
          <a:solidFill>
            <a:srgbClr val="4622AA"/>
          </a:solidFill>
          <a:ln/>
        </p:spPr>
      </p:sp>
      <p:sp>
        <p:nvSpPr>
          <p:cNvPr id="10" name="Text 7"/>
          <p:cNvSpPr/>
          <p:nvPr/>
        </p:nvSpPr>
        <p:spPr>
          <a:xfrm>
            <a:off x="822960" y="20574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1" name="Text 8"/>
          <p:cNvSpPr/>
          <p:nvPr/>
        </p:nvSpPr>
        <p:spPr>
          <a:xfrm>
            <a:off x="1463040" y="2011680"/>
            <a:ext cx="4114800" cy="502920"/>
          </a:xfrm>
          <a:prstGeom prst="rect">
            <a:avLst/>
          </a:prstGeom>
          <a:noFill/>
          <a:ln/>
        </p:spPr>
        <p:txBody>
          <a:bodyPr wrap="square" lIns="0" tIns="0" rIns="0" bIns="0" rtlCol="0" anchor="ctr"/>
          <a:lstStyle/>
          <a:p>
            <a:pPr indent="0" marL="0">
              <a:buNone/>
            </a:pPr>
            <a:r>
              <a:rPr lang="en-US" sz="2200" b="1" dirty="0">
                <a:solidFill>
                  <a:srgbClr val="450C7D"/>
                </a:solidFill>
                <a:latin typeface="Calibri" pitchFamily="34" charset="0"/>
                <a:ea typeface="Calibri" pitchFamily="34" charset="-122"/>
                <a:cs typeface="Calibri" pitchFamily="34" charset="-120"/>
              </a:rPr>
              <a:t>Contador</a:t>
            </a:r>
            <a:endParaRPr lang="en-US" sz="2200" dirty="0"/>
          </a:p>
        </p:txBody>
      </p:sp>
      <p:sp>
        <p:nvSpPr>
          <p:cNvPr id="12" name="Text 9"/>
          <p:cNvSpPr/>
          <p:nvPr/>
        </p:nvSpPr>
        <p:spPr>
          <a:xfrm>
            <a:off x="868680" y="2697480"/>
            <a:ext cx="4800600" cy="3383280"/>
          </a:xfrm>
          <a:prstGeom prst="rect">
            <a:avLst/>
          </a:prstGeom>
          <a:noFill/>
          <a:ln/>
        </p:spPr>
        <p:txBody>
          <a:bodyPr wrap="square" rtlCol="0" anchor="t"/>
          <a:lstStyle/>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Operar el catálogo de CFDIs y filtros avanzados.</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Generar Estados Financieros con base IVA 16/8/0 y desglose ISR.</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Conciliar pagos REP y ver el flujo efectivamente pagado.</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Exportar reportes a Excel desde cualquier módulo.</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Usar el chat fiscal para responder dudas en segundos.</a:t>
            </a:r>
            <a:endParaRPr lang="en-US" sz="1400" dirty="0"/>
          </a:p>
        </p:txBody>
      </p:sp>
      <p:sp>
        <p:nvSpPr>
          <p:cNvPr id="13" name="Shape 10"/>
          <p:cNvSpPr/>
          <p:nvPr/>
        </p:nvSpPr>
        <p:spPr>
          <a:xfrm>
            <a:off x="6309360" y="1783080"/>
            <a:ext cx="5349240" cy="4434840"/>
          </a:xfrm>
          <a:prstGeom prst="roundRect">
            <a:avLst>
              <a:gd name="adj" fmla="val 2887"/>
            </a:avLst>
          </a:prstGeom>
          <a:solidFill>
            <a:srgbClr val="EEFBE4"/>
          </a:solidFill>
          <a:ln w="9525">
            <a:solidFill>
              <a:srgbClr val="E4DEF2"/>
            </a:solidFill>
            <a:prstDash val="solid"/>
          </a:ln>
        </p:spPr>
      </p:sp>
      <p:sp>
        <p:nvSpPr>
          <p:cNvPr id="14" name="Shape 11"/>
          <p:cNvSpPr/>
          <p:nvPr/>
        </p:nvSpPr>
        <p:spPr>
          <a:xfrm>
            <a:off x="6583680" y="2057400"/>
            <a:ext cx="502920" cy="502920"/>
          </a:xfrm>
          <a:prstGeom prst="ellipse">
            <a:avLst/>
          </a:prstGeom>
          <a:solidFill>
            <a:srgbClr val="6BDA4D"/>
          </a:solidFill>
          <a:ln/>
        </p:spPr>
      </p:sp>
      <p:sp>
        <p:nvSpPr>
          <p:cNvPr id="15" name="Text 12"/>
          <p:cNvSpPr/>
          <p:nvPr/>
        </p:nvSpPr>
        <p:spPr>
          <a:xfrm>
            <a:off x="6583680" y="20574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6" name="Text 13"/>
          <p:cNvSpPr/>
          <p:nvPr/>
        </p:nvSpPr>
        <p:spPr>
          <a:xfrm>
            <a:off x="7223760" y="2011680"/>
            <a:ext cx="4114800" cy="502920"/>
          </a:xfrm>
          <a:prstGeom prst="rect">
            <a:avLst/>
          </a:prstGeom>
          <a:noFill/>
          <a:ln/>
        </p:spPr>
        <p:txBody>
          <a:bodyPr wrap="square" lIns="0" tIns="0" rIns="0" bIns="0" rtlCol="0" anchor="ctr"/>
          <a:lstStyle/>
          <a:p>
            <a:pPr indent="0" marL="0">
              <a:buNone/>
            </a:pPr>
            <a:r>
              <a:rPr lang="en-US" sz="2200" b="1" dirty="0">
                <a:solidFill>
                  <a:srgbClr val="450C7D"/>
                </a:solidFill>
                <a:latin typeface="Calibri" pitchFamily="34" charset="0"/>
                <a:ea typeface="Calibri" pitchFamily="34" charset="-122"/>
                <a:cs typeface="Calibri" pitchFamily="34" charset="-120"/>
              </a:rPr>
              <a:t>CEO / Dueño</a:t>
            </a:r>
            <a:endParaRPr lang="en-US" sz="2200" dirty="0"/>
          </a:p>
        </p:txBody>
      </p:sp>
      <p:sp>
        <p:nvSpPr>
          <p:cNvPr id="17" name="Text 14"/>
          <p:cNvSpPr/>
          <p:nvPr/>
        </p:nvSpPr>
        <p:spPr>
          <a:xfrm>
            <a:off x="6629400" y="2697480"/>
            <a:ext cx="4800600" cy="3383280"/>
          </a:xfrm>
          <a:prstGeom prst="rect">
            <a:avLst/>
          </a:prstGeom>
          <a:noFill/>
          <a:ln/>
        </p:spPr>
        <p:txBody>
          <a:bodyPr wrap="square" rtlCol="0" anchor="t"/>
          <a:lstStyle/>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Leer el dashboard mensual sin depender del contador.</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Entender ingresos, egresos, IVA e ISR de un vistazo.</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Vigilar el flujo de efectivo real (cobrado vs pagado).</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Administrar el equipo: invitar miembros y asignar RFCs.</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Aprovechar la IA para preguntas fiscales y normativa SAT.</a:t>
            </a:r>
            <a:endParaRPr lang="en-US" sz="1400" dirty="0"/>
          </a:p>
        </p:txBody>
      </p:sp>
      <p:sp>
        <p:nvSpPr>
          <p:cNvPr id="18" name="Text 1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Curso AICuenta · Objetivos</a:t>
            </a:r>
            <a:endParaRPr lang="en-US" sz="1000" dirty="0"/>
          </a:p>
        </p:txBody>
      </p:sp>
      <p:sp>
        <p:nvSpPr>
          <p:cNvPr id="19" name="Text 16"/>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450C7D"/>
        </a:solidFill>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4622AA">
              <a:alpha val="60000"/>
            </a:srgbClr>
          </a:solidFill>
          <a:ln/>
        </p:spPr>
      </p:sp>
      <p:sp>
        <p:nvSpPr>
          <p:cNvPr id="3" name="Shape 1"/>
          <p:cNvSpPr/>
          <p:nvPr/>
        </p:nvSpPr>
        <p:spPr>
          <a:xfrm>
            <a:off x="9144000" y="3200400"/>
            <a:ext cx="4114800" cy="4114800"/>
          </a:xfrm>
          <a:prstGeom prst="ellipse">
            <a:avLst/>
          </a:prstGeom>
          <a:solidFill>
            <a:srgbClr val="6BDA4D">
              <a:alpha val="55000"/>
            </a:srgbClr>
          </a:solidFill>
          <a:ln/>
        </p:spPr>
      </p:sp>
      <p:sp>
        <p:nvSpPr>
          <p:cNvPr id="4" name="Text 2"/>
          <p:cNvSpPr/>
          <p:nvPr/>
        </p:nvSpPr>
        <p:spPr>
          <a:xfrm>
            <a:off x="822960" y="2011680"/>
            <a:ext cx="7315200" cy="548640"/>
          </a:xfrm>
          <a:prstGeom prst="rect">
            <a:avLst/>
          </a:prstGeom>
          <a:noFill/>
          <a:ln/>
        </p:spPr>
        <p:txBody>
          <a:bodyPr wrap="square" lIns="0" tIns="0" rIns="0" bIns="0" rtlCol="0" anchor="ctr"/>
          <a:lstStyle/>
          <a:p>
            <a:pPr algn="l" indent="0" marL="0">
              <a:buNone/>
            </a:pPr>
            <a:r>
              <a:rPr lang="en-US" sz="2200" b="1" dirty="0">
                <a:solidFill>
                  <a:srgbClr val="AEDB4A"/>
                </a:solidFill>
                <a:latin typeface="Calibri" pitchFamily="34" charset="0"/>
                <a:ea typeface="Calibri" pitchFamily="34" charset="-122"/>
                <a:cs typeface="Calibri" pitchFamily="34" charset="-120"/>
              </a:rPr>
              <a:t>Módulo 1</a:t>
            </a:r>
            <a:endParaRPr lang="en-US" sz="2200" dirty="0"/>
          </a:p>
        </p:txBody>
      </p:sp>
      <p:sp>
        <p:nvSpPr>
          <p:cNvPr id="5" name="Text 3"/>
          <p:cNvSpPr/>
          <p:nvPr/>
        </p:nvSpPr>
        <p:spPr>
          <a:xfrm>
            <a:off x="822960" y="2606040"/>
            <a:ext cx="9144000" cy="1554480"/>
          </a:xfrm>
          <a:prstGeom prst="rect">
            <a:avLst/>
          </a:prstGeom>
          <a:noFill/>
          <a:ln/>
        </p:spPr>
        <p:txBody>
          <a:bodyPr wrap="square" lIns="0" tIns="0" rIns="0" bIns="0" rtlCol="0" anchor="t"/>
          <a:lstStyle/>
          <a:p>
            <a:pPr algn="l" indent="0" marL="0">
              <a:buNone/>
            </a:pPr>
            <a:r>
              <a:rPr lang="en-US" sz="5400" b="1" dirty="0">
                <a:solidFill>
                  <a:srgbClr val="FFFFFF"/>
                </a:solidFill>
                <a:latin typeface="Calibri" pitchFamily="34" charset="0"/>
                <a:ea typeface="Calibri" pitchFamily="34" charset="-122"/>
                <a:cs typeface="Calibri" pitchFamily="34" charset="-120"/>
              </a:rPr>
              <a:t>Fundamentos</a:t>
            </a:r>
            <a:endParaRPr lang="en-US" sz="5400" dirty="0"/>
          </a:p>
        </p:txBody>
      </p:sp>
      <p:sp>
        <p:nvSpPr>
          <p:cNvPr id="6" name="Text 4"/>
          <p:cNvSpPr/>
          <p:nvPr/>
        </p:nvSpPr>
        <p:spPr>
          <a:xfrm>
            <a:off x="822960" y="4297680"/>
            <a:ext cx="9144000" cy="548640"/>
          </a:xfrm>
          <a:prstGeom prst="rect">
            <a:avLst/>
          </a:prstGeom>
          <a:noFill/>
          <a:ln/>
        </p:spPr>
        <p:txBody>
          <a:bodyPr wrap="square" lIns="0" tIns="0" rIns="0" bIns="0" rtlCol="0" anchor="ctr"/>
          <a:lstStyle/>
          <a:p>
            <a:pPr algn="l" indent="0" marL="0">
              <a:buNone/>
            </a:pPr>
            <a:r>
              <a:rPr lang="en-US" sz="1800" i="1" dirty="0">
                <a:solidFill>
                  <a:srgbClr val="B6F0A0"/>
                </a:solidFill>
                <a:latin typeface="Calibri" pitchFamily="34" charset="0"/>
                <a:ea typeface="Calibri" pitchFamily="34" charset="-122"/>
                <a:cs typeface="Calibri" pitchFamily="34" charset="-120"/>
              </a:rPr>
              <a:t>Qué es AICuenta, por qué existe y cómo está construida</a:t>
            </a:r>
            <a:endParaRPr lang="en-US" sz="1800" dirty="0"/>
          </a:p>
        </p:txBody>
      </p:sp>
      <p:pic>
        <p:nvPicPr>
          <p:cNvPr id="7" name="Image 0" descr="/sessions/relaxed-awesome-albattani/mnt/outputs/logo-blanco.png">    </p:cNvPr>
          <p:cNvPicPr>
            <a:picLocks noChangeAspect="1"/>
          </p:cNvPicPr>
          <p:nvPr/>
        </p:nvPicPr>
        <p:blipFill>
          <a:blip r:embed="rId1"/>
          <a:stretch>
            <a:fillRect/>
          </a:stretch>
        </p:blipFill>
        <p:spPr>
          <a:xfrm>
            <a:off x="9601200" y="4937760"/>
            <a:ext cx="1645920" cy="1645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¿Qué es AICuenta?</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Plataforma de contabilidad y fiscalización inteligente para México</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Text 5"/>
          <p:cNvSpPr/>
          <p:nvPr/>
        </p:nvSpPr>
        <p:spPr>
          <a:xfrm>
            <a:off x="548640" y="1828800"/>
            <a:ext cx="5852160" cy="4389120"/>
          </a:xfrm>
          <a:prstGeom prst="rect">
            <a:avLst/>
          </a:prstGeom>
          <a:noFill/>
          <a:ln/>
        </p:spPr>
        <p:txBody>
          <a:bodyPr wrap="square" rtlCol="0" anchor="t"/>
          <a:lstStyle/>
          <a:p>
            <a:pPr indent="0" marL="0">
              <a:spcAft>
                <a:spcPts val="600"/>
              </a:spcAft>
              <a:buNone/>
            </a:pPr>
            <a:r>
              <a:rPr lang="en-US" sz="1500" dirty="0">
                <a:solidFill>
                  <a:srgbClr val="1A1033"/>
                </a:solidFill>
                <a:latin typeface="Calibri" pitchFamily="34" charset="0"/>
                <a:ea typeface="Calibri" pitchFamily="34" charset="-122"/>
                <a:cs typeface="Calibri" pitchFamily="34" charset="-120"/>
              </a:rPr>
              <a:t>AICuenta centraliza todo el ciclo fiscal en una sola plataforma:</a:t>
            </a:r>
            <a:endParaRPr lang="en-US" sz="1500" dirty="0"/>
          </a:p>
          <a:p>
            <a:pPr indent="0" marL="0">
              <a:spcAft>
                <a:spcPts val="600"/>
              </a:spcAft>
              <a:buNone/>
            </a:pPr>
            <a:endParaRPr lang="en-US" sz="1500" dirty="0"/>
          </a:p>
          <a:p>
            <a:pPr marL="342900" indent="-342900">
              <a:spcAft>
                <a:spcPts val="600"/>
              </a:spcAft>
              <a:buSzPct val="100000"/>
              <a:buChar char="•"/>
            </a:pPr>
            <a:r>
              <a:rPr lang="en-US" sz="1500" dirty="0">
                <a:solidFill>
                  <a:srgbClr val="1A1033"/>
                </a:solidFill>
                <a:latin typeface="Calibri" pitchFamily="34" charset="0"/>
                <a:ea typeface="Calibri" pitchFamily="34" charset="-122"/>
                <a:cs typeface="Calibri" pitchFamily="34" charset="-120"/>
              </a:rPr>
              <a:t>CFDIs (ingresos, egresos, nómina, retenciones)</a:t>
            </a:r>
            <a:endParaRPr lang="en-US" sz="1500" dirty="0"/>
          </a:p>
          <a:p>
            <a:pPr marL="342900" indent="-342900">
              <a:spcAft>
                <a:spcPts val="600"/>
              </a:spcAft>
              <a:buSzPct val="100000"/>
              <a:buChar char="•"/>
            </a:pPr>
            <a:r>
              <a:rPr lang="en-US" sz="1500" dirty="0">
                <a:solidFill>
                  <a:srgbClr val="1A1033"/>
                </a:solidFill>
                <a:latin typeface="Calibri" pitchFamily="34" charset="0"/>
                <a:ea typeface="Calibri" pitchFamily="34" charset="-122"/>
                <a:cs typeface="Calibri" pitchFamily="34" charset="-120"/>
              </a:rPr>
              <a:t>Estados financieros calculados automáticamente</a:t>
            </a:r>
            <a:endParaRPr lang="en-US" sz="1500" dirty="0"/>
          </a:p>
          <a:p>
            <a:pPr marL="342900" indent="-342900">
              <a:spcAft>
                <a:spcPts val="600"/>
              </a:spcAft>
              <a:buSzPct val="100000"/>
              <a:buChar char="•"/>
            </a:pPr>
            <a:r>
              <a:rPr lang="en-US" sz="1500" dirty="0">
                <a:solidFill>
                  <a:srgbClr val="1A1033"/>
                </a:solidFill>
                <a:latin typeface="Calibri" pitchFamily="34" charset="0"/>
                <a:ea typeface="Calibri" pitchFamily="34" charset="-122"/>
                <a:cs typeface="Calibri" pitchFamily="34" charset="-120"/>
              </a:rPr>
              <a:t>Impuestos: ISR, IVA con base 16/8/0/exento</a:t>
            </a:r>
            <a:endParaRPr lang="en-US" sz="1500" dirty="0"/>
          </a:p>
          <a:p>
            <a:pPr marL="342900" indent="-342900">
              <a:spcAft>
                <a:spcPts val="600"/>
              </a:spcAft>
              <a:buSzPct val="100000"/>
              <a:buChar char="•"/>
            </a:pPr>
            <a:r>
              <a:rPr lang="en-US" sz="1500" dirty="0">
                <a:solidFill>
                  <a:srgbClr val="1A1033"/>
                </a:solidFill>
                <a:latin typeface="Calibri" pitchFamily="34" charset="0"/>
                <a:ea typeface="Calibri" pitchFamily="34" charset="-122"/>
                <a:cs typeface="Calibri" pitchFamily="34" charset="-120"/>
              </a:rPr>
              <a:t>Conciliación de pagos (REP tipo P)</a:t>
            </a:r>
            <a:endParaRPr lang="en-US" sz="1500" dirty="0"/>
          </a:p>
          <a:p>
            <a:pPr marL="342900" indent="-342900">
              <a:spcAft>
                <a:spcPts val="600"/>
              </a:spcAft>
              <a:buSzPct val="100000"/>
              <a:buChar char="•"/>
            </a:pPr>
            <a:r>
              <a:rPr lang="en-US" sz="1500" dirty="0">
                <a:solidFill>
                  <a:srgbClr val="1A1033"/>
                </a:solidFill>
                <a:latin typeface="Calibri" pitchFamily="34" charset="0"/>
                <a:ea typeface="Calibri" pitchFamily="34" charset="-122"/>
                <a:cs typeface="Calibri" pitchFamily="34" charset="-120"/>
              </a:rPr>
              <a:t>Asistentes de IA fiscal y documental</a:t>
            </a:r>
            <a:endParaRPr lang="en-US" sz="1500" dirty="0"/>
          </a:p>
          <a:p>
            <a:pPr marL="342900" indent="-342900">
              <a:spcAft>
                <a:spcPts val="600"/>
              </a:spcAft>
              <a:buSzPct val="100000"/>
              <a:buChar char="•"/>
            </a:pPr>
            <a:r>
              <a:rPr lang="en-US" sz="1500" dirty="0">
                <a:solidFill>
                  <a:srgbClr val="1A1033"/>
                </a:solidFill>
                <a:latin typeface="Calibri" pitchFamily="34" charset="0"/>
                <a:ea typeface="Calibri" pitchFamily="34" charset="-122"/>
                <a:cs typeface="Calibri" pitchFamily="34" charset="-120"/>
              </a:rPr>
              <a:t>Bot de WhatsApp para capturar comprobantes</a:t>
            </a:r>
            <a:endParaRPr lang="en-US" sz="1500" dirty="0"/>
          </a:p>
        </p:txBody>
      </p:sp>
      <p:sp>
        <p:nvSpPr>
          <p:cNvPr id="9" name="Shape 6"/>
          <p:cNvSpPr/>
          <p:nvPr/>
        </p:nvSpPr>
        <p:spPr>
          <a:xfrm>
            <a:off x="6766560" y="1828800"/>
            <a:ext cx="4937760" cy="4389120"/>
          </a:xfrm>
          <a:prstGeom prst="roundRect">
            <a:avLst>
              <a:gd name="adj" fmla="val 2917"/>
            </a:avLst>
          </a:prstGeom>
          <a:solidFill>
            <a:srgbClr val="F6F3FC"/>
          </a:solidFill>
          <a:ln w="9525">
            <a:solidFill>
              <a:srgbClr val="E4DEF2"/>
            </a:solidFill>
            <a:prstDash val="solid"/>
          </a:ln>
        </p:spPr>
      </p:sp>
      <p:sp>
        <p:nvSpPr>
          <p:cNvPr id="10" name="Text 7"/>
          <p:cNvSpPr/>
          <p:nvPr/>
        </p:nvSpPr>
        <p:spPr>
          <a:xfrm>
            <a:off x="7040880" y="2057400"/>
            <a:ext cx="4389120" cy="365760"/>
          </a:xfrm>
          <a:prstGeom prst="rect">
            <a:avLst/>
          </a:prstGeom>
          <a:noFill/>
          <a:ln/>
        </p:spPr>
        <p:txBody>
          <a:bodyPr wrap="square" lIns="0" tIns="0" rIns="0" bIns="0" rtlCol="0" anchor="ctr"/>
          <a:lstStyle/>
          <a:p>
            <a:pPr indent="0" marL="0">
              <a:buNone/>
            </a:pPr>
            <a:r>
              <a:rPr lang="en-US" sz="1500" b="1" dirty="0">
                <a:solidFill>
                  <a:srgbClr val="450C7D"/>
                </a:solidFill>
                <a:latin typeface="Calibri" pitchFamily="34" charset="0"/>
                <a:ea typeface="Calibri" pitchFamily="34" charset="-122"/>
                <a:cs typeface="Calibri" pitchFamily="34" charset="-120"/>
              </a:rPr>
              <a:t>Alcance funcional</a:t>
            </a:r>
            <a:endParaRPr lang="en-US" sz="1500" dirty="0"/>
          </a:p>
        </p:txBody>
      </p:sp>
      <p:sp>
        <p:nvSpPr>
          <p:cNvPr id="11" name="Text 8"/>
          <p:cNvSpPr/>
          <p:nvPr/>
        </p:nvSpPr>
        <p:spPr>
          <a:xfrm>
            <a:off x="7040880" y="2606040"/>
            <a:ext cx="2148840" cy="822960"/>
          </a:xfrm>
          <a:prstGeom prst="rect">
            <a:avLst/>
          </a:prstGeom>
          <a:noFill/>
          <a:ln/>
        </p:spPr>
        <p:txBody>
          <a:bodyPr wrap="square" lIns="0" tIns="0" rIns="0" bIns="0" rtlCol="0" anchor="ctr"/>
          <a:lstStyle/>
          <a:p>
            <a:pPr algn="l" indent="0" marL="0">
              <a:buNone/>
            </a:pPr>
            <a:r>
              <a:rPr lang="en-US" sz="4600" b="1" dirty="0">
                <a:solidFill>
                  <a:srgbClr val="4622AA"/>
                </a:solidFill>
                <a:latin typeface="Calibri" pitchFamily="34" charset="0"/>
                <a:ea typeface="Calibri" pitchFamily="34" charset="-122"/>
                <a:cs typeface="Calibri" pitchFamily="34" charset="-120"/>
              </a:rPr>
              <a:t>4</a:t>
            </a:r>
            <a:endParaRPr lang="en-US" sz="4600" dirty="0"/>
          </a:p>
        </p:txBody>
      </p:sp>
      <p:sp>
        <p:nvSpPr>
          <p:cNvPr id="12" name="Text 9"/>
          <p:cNvSpPr/>
          <p:nvPr/>
        </p:nvSpPr>
        <p:spPr>
          <a:xfrm>
            <a:off x="7040880" y="3429000"/>
            <a:ext cx="2148840" cy="822960"/>
          </a:xfrm>
          <a:prstGeom prst="rect">
            <a:avLst/>
          </a:prstGeom>
          <a:noFill/>
          <a:ln/>
        </p:spPr>
        <p:txBody>
          <a:bodyPr wrap="square" lIns="0" tIns="0" rIns="0" bIns="0" rtlCol="0" anchor="t"/>
          <a:lstStyle/>
          <a:p>
            <a:pPr algn="l" indent="0" marL="0">
              <a:buNone/>
            </a:pPr>
            <a:r>
              <a:rPr lang="en-US" sz="1200" dirty="0">
                <a:solidFill>
                  <a:srgbClr val="4B4265"/>
                </a:solidFill>
                <a:latin typeface="Calibri" pitchFamily="34" charset="0"/>
                <a:ea typeface="Calibri" pitchFamily="34" charset="-122"/>
                <a:cs typeface="Calibri" pitchFamily="34" charset="-120"/>
              </a:rPr>
              <a:t>tipos de CFDI (I·E·N·P)</a:t>
            </a:r>
            <a:endParaRPr lang="en-US" sz="1200" dirty="0"/>
          </a:p>
        </p:txBody>
      </p:sp>
      <p:sp>
        <p:nvSpPr>
          <p:cNvPr id="13" name="Text 10"/>
          <p:cNvSpPr/>
          <p:nvPr/>
        </p:nvSpPr>
        <p:spPr>
          <a:xfrm>
            <a:off x="9372600" y="2606040"/>
            <a:ext cx="2148840" cy="822960"/>
          </a:xfrm>
          <a:prstGeom prst="rect">
            <a:avLst/>
          </a:prstGeom>
          <a:noFill/>
          <a:ln/>
        </p:spPr>
        <p:txBody>
          <a:bodyPr wrap="square" lIns="0" tIns="0" rIns="0" bIns="0" rtlCol="0" anchor="ctr"/>
          <a:lstStyle/>
          <a:p>
            <a:pPr algn="l" indent="0" marL="0">
              <a:buNone/>
            </a:pPr>
            <a:r>
              <a:rPr lang="en-US" sz="4600" b="1" dirty="0">
                <a:solidFill>
                  <a:srgbClr val="4833D6"/>
                </a:solidFill>
                <a:latin typeface="Calibri" pitchFamily="34" charset="0"/>
                <a:ea typeface="Calibri" pitchFamily="34" charset="-122"/>
                <a:cs typeface="Calibri" pitchFamily="34" charset="-120"/>
              </a:rPr>
              <a:t>3</a:t>
            </a:r>
            <a:endParaRPr lang="en-US" sz="4600" dirty="0"/>
          </a:p>
        </p:txBody>
      </p:sp>
      <p:sp>
        <p:nvSpPr>
          <p:cNvPr id="14" name="Text 11"/>
          <p:cNvSpPr/>
          <p:nvPr/>
        </p:nvSpPr>
        <p:spPr>
          <a:xfrm>
            <a:off x="9372600" y="3429000"/>
            <a:ext cx="2148840" cy="822960"/>
          </a:xfrm>
          <a:prstGeom prst="rect">
            <a:avLst/>
          </a:prstGeom>
          <a:noFill/>
          <a:ln/>
        </p:spPr>
        <p:txBody>
          <a:bodyPr wrap="square" lIns="0" tIns="0" rIns="0" bIns="0" rtlCol="0" anchor="t"/>
          <a:lstStyle/>
          <a:p>
            <a:pPr algn="l" indent="0" marL="0">
              <a:buNone/>
            </a:pPr>
            <a:r>
              <a:rPr lang="en-US" sz="1200" dirty="0">
                <a:solidFill>
                  <a:srgbClr val="4B4265"/>
                </a:solidFill>
                <a:latin typeface="Calibri" pitchFamily="34" charset="0"/>
                <a:ea typeface="Calibri" pitchFamily="34" charset="-122"/>
                <a:cs typeface="Calibri" pitchFamily="34" charset="-120"/>
              </a:rPr>
              <a:t>planes Stripe</a:t>
            </a:r>
            <a:endParaRPr lang="en-US" sz="1200" dirty="0"/>
          </a:p>
        </p:txBody>
      </p:sp>
      <p:sp>
        <p:nvSpPr>
          <p:cNvPr id="15" name="Text 12"/>
          <p:cNvSpPr/>
          <p:nvPr/>
        </p:nvSpPr>
        <p:spPr>
          <a:xfrm>
            <a:off x="7040880" y="4343400"/>
            <a:ext cx="2148840" cy="822960"/>
          </a:xfrm>
          <a:prstGeom prst="rect">
            <a:avLst/>
          </a:prstGeom>
          <a:noFill/>
          <a:ln/>
        </p:spPr>
        <p:txBody>
          <a:bodyPr wrap="square" lIns="0" tIns="0" rIns="0" bIns="0" rtlCol="0" anchor="ctr"/>
          <a:lstStyle/>
          <a:p>
            <a:pPr algn="l" indent="0" marL="0">
              <a:buNone/>
            </a:pPr>
            <a:r>
              <a:rPr lang="en-US" sz="4600" b="1" dirty="0">
                <a:solidFill>
                  <a:srgbClr val="6BDA4D"/>
                </a:solidFill>
                <a:latin typeface="Calibri" pitchFamily="34" charset="0"/>
                <a:ea typeface="Calibri" pitchFamily="34" charset="-122"/>
                <a:cs typeface="Calibri" pitchFamily="34" charset="-120"/>
              </a:rPr>
              <a:t>8+</a:t>
            </a:r>
            <a:endParaRPr lang="en-US" sz="4600" dirty="0"/>
          </a:p>
        </p:txBody>
      </p:sp>
      <p:sp>
        <p:nvSpPr>
          <p:cNvPr id="16" name="Text 13"/>
          <p:cNvSpPr/>
          <p:nvPr/>
        </p:nvSpPr>
        <p:spPr>
          <a:xfrm>
            <a:off x="7040880" y="5166360"/>
            <a:ext cx="2148840" cy="822960"/>
          </a:xfrm>
          <a:prstGeom prst="rect">
            <a:avLst/>
          </a:prstGeom>
          <a:noFill/>
          <a:ln/>
        </p:spPr>
        <p:txBody>
          <a:bodyPr wrap="square" lIns="0" tIns="0" rIns="0" bIns="0" rtlCol="0" anchor="t"/>
          <a:lstStyle/>
          <a:p>
            <a:pPr algn="l" indent="0" marL="0">
              <a:buNone/>
            </a:pPr>
            <a:r>
              <a:rPr lang="en-US" sz="1200" dirty="0">
                <a:solidFill>
                  <a:srgbClr val="4B4265"/>
                </a:solidFill>
                <a:latin typeface="Calibri" pitchFamily="34" charset="0"/>
                <a:ea typeface="Calibri" pitchFamily="34" charset="-122"/>
                <a:cs typeface="Calibri" pitchFamily="34" charset="-120"/>
              </a:rPr>
              <a:t>reportes a Excel</a:t>
            </a:r>
            <a:endParaRPr lang="en-US" sz="1200" dirty="0"/>
          </a:p>
        </p:txBody>
      </p:sp>
      <p:sp>
        <p:nvSpPr>
          <p:cNvPr id="17" name="Text 14"/>
          <p:cNvSpPr/>
          <p:nvPr/>
        </p:nvSpPr>
        <p:spPr>
          <a:xfrm>
            <a:off x="9372600" y="4343400"/>
            <a:ext cx="2148840" cy="822960"/>
          </a:xfrm>
          <a:prstGeom prst="rect">
            <a:avLst/>
          </a:prstGeom>
          <a:noFill/>
          <a:ln/>
        </p:spPr>
        <p:txBody>
          <a:bodyPr wrap="square" lIns="0" tIns="0" rIns="0" bIns="0" rtlCol="0" anchor="ctr"/>
          <a:lstStyle/>
          <a:p>
            <a:pPr algn="l" indent="0" marL="0">
              <a:buNone/>
            </a:pPr>
            <a:r>
              <a:rPr lang="en-US" sz="4600" b="1" dirty="0">
                <a:solidFill>
                  <a:srgbClr val="8B42D4"/>
                </a:solidFill>
                <a:latin typeface="Calibri" pitchFamily="34" charset="0"/>
                <a:ea typeface="Calibri" pitchFamily="34" charset="-122"/>
                <a:cs typeface="Calibri" pitchFamily="34" charset="-120"/>
              </a:rPr>
              <a:t>24/7</a:t>
            </a:r>
            <a:endParaRPr lang="en-US" sz="4600" dirty="0"/>
          </a:p>
        </p:txBody>
      </p:sp>
      <p:sp>
        <p:nvSpPr>
          <p:cNvPr id="18" name="Text 15"/>
          <p:cNvSpPr/>
          <p:nvPr/>
        </p:nvSpPr>
        <p:spPr>
          <a:xfrm>
            <a:off x="9372600" y="5166360"/>
            <a:ext cx="2148840" cy="822960"/>
          </a:xfrm>
          <a:prstGeom prst="rect">
            <a:avLst/>
          </a:prstGeom>
          <a:noFill/>
          <a:ln/>
        </p:spPr>
        <p:txBody>
          <a:bodyPr wrap="square" lIns="0" tIns="0" rIns="0" bIns="0" rtlCol="0" anchor="t"/>
          <a:lstStyle/>
          <a:p>
            <a:pPr algn="l" indent="0" marL="0">
              <a:buNone/>
            </a:pPr>
            <a:r>
              <a:rPr lang="en-US" sz="1200" dirty="0">
                <a:solidFill>
                  <a:srgbClr val="4B4265"/>
                </a:solidFill>
                <a:latin typeface="Calibri" pitchFamily="34" charset="0"/>
                <a:ea typeface="Calibri" pitchFamily="34" charset="-122"/>
                <a:cs typeface="Calibri" pitchFamily="34" charset="-120"/>
              </a:rPr>
              <a:t>asistentes IA</a:t>
            </a:r>
            <a:endParaRPr lang="en-US" sz="1200" dirty="0"/>
          </a:p>
        </p:txBody>
      </p:sp>
      <p:sp>
        <p:nvSpPr>
          <p:cNvPr id="19" name="Text 1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1 · Fundamentos</a:t>
            </a:r>
            <a:endParaRPr lang="en-US" sz="1000" dirty="0"/>
          </a:p>
        </p:txBody>
      </p:sp>
      <p:sp>
        <p:nvSpPr>
          <p:cNvPr id="20" name="Text 17"/>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Módulos y beneficios</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Todo lo que puedes hacer dentro de la plataforma</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828800"/>
            <a:ext cx="5623560" cy="4434840"/>
          </a:xfrm>
          <a:prstGeom prst="roundRect">
            <a:avLst>
              <a:gd name="adj" fmla="val 2887"/>
            </a:avLst>
          </a:prstGeom>
          <a:solidFill>
            <a:srgbClr val="F6F3FC"/>
          </a:solidFill>
          <a:ln w="9525">
            <a:solidFill>
              <a:srgbClr val="E4DEF2"/>
            </a:solidFill>
            <a:prstDash val="solid"/>
          </a:ln>
        </p:spPr>
      </p:sp>
      <p:sp>
        <p:nvSpPr>
          <p:cNvPr id="9" name="Shape 6"/>
          <p:cNvSpPr/>
          <p:nvPr/>
        </p:nvSpPr>
        <p:spPr>
          <a:xfrm>
            <a:off x="777240" y="2011680"/>
            <a:ext cx="502920" cy="502920"/>
          </a:xfrm>
          <a:prstGeom prst="ellipse">
            <a:avLst/>
          </a:prstGeom>
          <a:solidFill>
            <a:srgbClr val="4833D6"/>
          </a:solidFill>
          <a:ln/>
        </p:spPr>
      </p:sp>
      <p:sp>
        <p:nvSpPr>
          <p:cNvPr id="10" name="Text 7"/>
          <p:cNvSpPr/>
          <p:nvPr/>
        </p:nvSpPr>
        <p:spPr>
          <a:xfrm>
            <a:off x="777240" y="20116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a:t>
            </a:r>
            <a:endParaRPr lang="en-US" sz="2000" dirty="0"/>
          </a:p>
        </p:txBody>
      </p:sp>
      <p:sp>
        <p:nvSpPr>
          <p:cNvPr id="11" name="Text 8"/>
          <p:cNvSpPr/>
          <p:nvPr/>
        </p:nvSpPr>
        <p:spPr>
          <a:xfrm>
            <a:off x="1463040" y="1965960"/>
            <a:ext cx="4526280" cy="50292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Módulos incluidos</a:t>
            </a:r>
            <a:endParaRPr lang="en-US" sz="1800" dirty="0"/>
          </a:p>
        </p:txBody>
      </p:sp>
      <p:sp>
        <p:nvSpPr>
          <p:cNvPr id="12" name="Text 9"/>
          <p:cNvSpPr/>
          <p:nvPr/>
        </p:nvSpPr>
        <p:spPr>
          <a:xfrm>
            <a:off x="822960" y="2697480"/>
            <a:ext cx="5074920" cy="3429000"/>
          </a:xfrm>
          <a:prstGeom prst="rect">
            <a:avLst/>
          </a:prstGeom>
          <a:noFill/>
          <a:ln/>
        </p:spPr>
        <p:txBody>
          <a:bodyPr wrap="square" rtlCol="0" anchor="t"/>
          <a:lstStyle/>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Dashboard fiscal con KPIs mensuales</a:t>
            </a:r>
            <a:endParaRPr lang="en-US" sz="1400" dirty="0"/>
          </a:p>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Catálogo de facturas (CFDIs)</a:t>
            </a:r>
            <a:endParaRPr lang="en-US" sz="1400" dirty="0"/>
          </a:p>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Estados Financieros automáticos</a:t>
            </a:r>
            <a:endParaRPr lang="en-US" sz="1400" dirty="0"/>
          </a:p>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Conciliación de pagos y flujo real</a:t>
            </a:r>
            <a:endParaRPr lang="en-US" sz="1400" dirty="0"/>
          </a:p>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Chat fiscal y chat documental con IA</a:t>
            </a:r>
            <a:endParaRPr lang="en-US" sz="1400" dirty="0"/>
          </a:p>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Bot de WhatsApp para comprobantes</a:t>
            </a:r>
            <a:endParaRPr lang="en-US" sz="1400" dirty="0"/>
          </a:p>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Multi-usuario y multi-RFC</a:t>
            </a:r>
            <a:endParaRPr lang="en-US" sz="1400" dirty="0"/>
          </a:p>
        </p:txBody>
      </p:sp>
      <p:sp>
        <p:nvSpPr>
          <p:cNvPr id="13" name="Shape 10"/>
          <p:cNvSpPr/>
          <p:nvPr/>
        </p:nvSpPr>
        <p:spPr>
          <a:xfrm>
            <a:off x="6446520" y="1828800"/>
            <a:ext cx="5715000" cy="4434840"/>
          </a:xfrm>
          <a:prstGeom prst="roundRect">
            <a:avLst>
              <a:gd name="adj" fmla="val 2887"/>
            </a:avLst>
          </a:prstGeom>
          <a:solidFill>
            <a:srgbClr val="F6F3FC"/>
          </a:solidFill>
          <a:ln w="9525">
            <a:solidFill>
              <a:srgbClr val="E4DEF2"/>
            </a:solidFill>
            <a:prstDash val="solid"/>
          </a:ln>
        </p:spPr>
      </p:sp>
      <p:sp>
        <p:nvSpPr>
          <p:cNvPr id="14" name="Shape 11"/>
          <p:cNvSpPr/>
          <p:nvPr/>
        </p:nvSpPr>
        <p:spPr>
          <a:xfrm>
            <a:off x="6675120" y="2011680"/>
            <a:ext cx="502920" cy="502920"/>
          </a:xfrm>
          <a:prstGeom prst="ellipse">
            <a:avLst/>
          </a:prstGeom>
          <a:solidFill>
            <a:srgbClr val="6BDA4D"/>
          </a:solidFill>
          <a:ln/>
        </p:spPr>
      </p:sp>
      <p:sp>
        <p:nvSpPr>
          <p:cNvPr id="15" name="Text 12"/>
          <p:cNvSpPr/>
          <p:nvPr/>
        </p:nvSpPr>
        <p:spPr>
          <a:xfrm>
            <a:off x="6675120" y="20116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3"/>
          <p:cNvSpPr/>
          <p:nvPr/>
        </p:nvSpPr>
        <p:spPr>
          <a:xfrm>
            <a:off x="7360920" y="1965960"/>
            <a:ext cx="4617720" cy="50292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Beneficios del servicio</a:t>
            </a:r>
            <a:endParaRPr lang="en-US" sz="1800" dirty="0"/>
          </a:p>
        </p:txBody>
      </p:sp>
      <p:sp>
        <p:nvSpPr>
          <p:cNvPr id="17" name="Text 14"/>
          <p:cNvSpPr/>
          <p:nvPr/>
        </p:nvSpPr>
        <p:spPr>
          <a:xfrm>
            <a:off x="6720840" y="2697480"/>
            <a:ext cx="5166360" cy="3429000"/>
          </a:xfrm>
          <a:prstGeom prst="rect">
            <a:avLst/>
          </a:prstGeom>
          <a:noFill/>
          <a:ln/>
        </p:spPr>
        <p:txBody>
          <a:bodyPr wrap="square" rtlCol="0" anchor="t"/>
          <a:lstStyle/>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30 días gratis en cualquier plan</a:t>
            </a:r>
            <a:endParaRPr lang="en-US" sz="1400" dirty="0"/>
          </a:p>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Facturación segura con Stripe</a:t>
            </a:r>
            <a:endParaRPr lang="en-US" sz="1400" dirty="0"/>
          </a:p>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Cancelas cuando quieras</a:t>
            </a:r>
            <a:endParaRPr lang="en-US" sz="1400" dirty="0"/>
          </a:p>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Soporte por correo incluido</a:t>
            </a:r>
            <a:endParaRPr lang="en-US" sz="1400" dirty="0"/>
          </a:p>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Exportación a Excel desde cada módulo</a:t>
            </a:r>
            <a:endParaRPr lang="en-US" sz="1400" dirty="0"/>
          </a:p>
          <a:p>
            <a:pPr marL="342900" indent="-342900">
              <a:spcAft>
                <a:spcPts val="700"/>
              </a:spcAft>
              <a:buSzPct val="100000"/>
              <a:buChar char="•"/>
            </a:pPr>
            <a:r>
              <a:rPr lang="en-US" sz="1400" dirty="0">
                <a:solidFill>
                  <a:srgbClr val="1A1033"/>
                </a:solidFill>
                <a:latin typeface="Calibri" pitchFamily="34" charset="0"/>
                <a:ea typeface="Calibri" pitchFamily="34" charset="-122"/>
                <a:cs typeface="Calibri" pitchFamily="34" charset="-120"/>
              </a:rPr>
              <a:t>Datos siempre respaldados en la nube</a:t>
            </a:r>
            <a:endParaRPr lang="en-US" sz="1400" dirty="0"/>
          </a:p>
        </p:txBody>
      </p:sp>
      <p:sp>
        <p:nvSpPr>
          <p:cNvPr id="18" name="Text 1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1 · Fundamentos</a:t>
            </a:r>
            <a:endParaRPr lang="en-US" sz="1000" dirty="0"/>
          </a:p>
        </p:txBody>
      </p:sp>
      <p:sp>
        <p:nvSpPr>
          <p:cNvPr id="19" name="Text 16"/>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Planes de suscripción</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Elige el plan que se ajusta a tu volumen de CFDIs</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365760" y="1828800"/>
            <a:ext cx="2286000" cy="3566160"/>
          </a:xfrm>
          <a:prstGeom prst="roundRect">
            <a:avLst>
              <a:gd name="adj" fmla="val 5600"/>
            </a:avLst>
          </a:prstGeom>
          <a:solidFill>
            <a:srgbClr val="FFFFFF"/>
          </a:solidFill>
          <a:ln w="9525">
            <a:solidFill>
              <a:srgbClr val="E4DEF2"/>
            </a:solidFill>
            <a:prstDash val="solid"/>
          </a:ln>
        </p:spPr>
      </p:sp>
      <p:sp>
        <p:nvSpPr>
          <p:cNvPr id="9" name="Text 6"/>
          <p:cNvSpPr/>
          <p:nvPr/>
        </p:nvSpPr>
        <p:spPr>
          <a:xfrm>
            <a:off x="502920" y="2011680"/>
            <a:ext cx="2011680" cy="320040"/>
          </a:xfrm>
          <a:prstGeom prst="rect">
            <a:avLst/>
          </a:prstGeom>
          <a:noFill/>
          <a:ln/>
        </p:spPr>
        <p:txBody>
          <a:bodyPr wrap="square" lIns="0" tIns="0" rIns="0" bIns="0" rtlCol="0" anchor="ctr"/>
          <a:lstStyle/>
          <a:p>
            <a:pPr algn="ctr" indent="0" marL="0">
              <a:buNone/>
            </a:pPr>
            <a:r>
              <a:rPr lang="en-US" sz="1200" b="1" dirty="0">
                <a:solidFill>
                  <a:srgbClr val="4833D6"/>
                </a:solidFill>
                <a:latin typeface="Calibri" pitchFamily="34" charset="0"/>
                <a:ea typeface="Calibri" pitchFamily="34" charset="-122"/>
                <a:cs typeface="Calibri" pitchFamily="34" charset="-120"/>
              </a:rPr>
              <a:t>PLAN 1</a:t>
            </a:r>
            <a:endParaRPr lang="en-US" sz="1200" dirty="0"/>
          </a:p>
        </p:txBody>
      </p:sp>
      <p:sp>
        <p:nvSpPr>
          <p:cNvPr id="10" name="Text 7"/>
          <p:cNvSpPr/>
          <p:nvPr/>
        </p:nvSpPr>
        <p:spPr>
          <a:xfrm>
            <a:off x="502920" y="2423160"/>
            <a:ext cx="2011680" cy="685800"/>
          </a:xfrm>
          <a:prstGeom prst="rect">
            <a:avLst/>
          </a:prstGeom>
          <a:noFill/>
          <a:ln/>
        </p:spPr>
        <p:txBody>
          <a:bodyPr wrap="square" lIns="0" tIns="0" rIns="0" bIns="0" rtlCol="0" anchor="ctr"/>
          <a:lstStyle/>
          <a:p>
            <a:pPr algn="ctr" indent="0" marL="0">
              <a:buNone/>
            </a:pPr>
            <a:r>
              <a:rPr lang="en-US" sz="3200" b="1" dirty="0">
                <a:solidFill>
                  <a:srgbClr val="450C7D"/>
                </a:solidFill>
                <a:latin typeface="Calibri" pitchFamily="34" charset="0"/>
                <a:ea typeface="Calibri" pitchFamily="34" charset="-122"/>
                <a:cs typeface="Calibri" pitchFamily="34" charset="-120"/>
              </a:rPr>
              <a:t>$240</a:t>
            </a:r>
            <a:pPr algn="ctr" indent="0" marL="0">
              <a:buNone/>
            </a:pPr>
            <a:r>
              <a:rPr lang="en-US" sz="1200" dirty="0">
                <a:solidFill>
                  <a:srgbClr val="4B4265"/>
                </a:solidFill>
                <a:latin typeface="Calibri" pitchFamily="34" charset="0"/>
                <a:ea typeface="Calibri" pitchFamily="34" charset="-122"/>
                <a:cs typeface="Calibri" pitchFamily="34" charset="-120"/>
              </a:rPr>
              <a:t> /mes</a:t>
            </a:r>
            <a:endParaRPr lang="en-US" sz="3200" dirty="0"/>
          </a:p>
        </p:txBody>
      </p:sp>
      <p:sp>
        <p:nvSpPr>
          <p:cNvPr id="11" name="Text 8"/>
          <p:cNvSpPr/>
          <p:nvPr/>
        </p:nvSpPr>
        <p:spPr>
          <a:xfrm>
            <a:off x="502920" y="3200400"/>
            <a:ext cx="2011680" cy="320040"/>
          </a:xfrm>
          <a:prstGeom prst="rect">
            <a:avLst/>
          </a:prstGeom>
          <a:noFill/>
          <a:ln/>
        </p:spPr>
        <p:txBody>
          <a:bodyPr wrap="square" lIns="0" tIns="0" rIns="0" bIns="0" rtlCol="0" anchor="ctr"/>
          <a:lstStyle/>
          <a:p>
            <a:pPr algn="ctr" indent="0" marL="0">
              <a:buNone/>
            </a:pPr>
            <a:r>
              <a:rPr lang="en-US" sz="1300" b="1" dirty="0">
                <a:solidFill>
                  <a:srgbClr val="1A1033"/>
                </a:solidFill>
                <a:latin typeface="Calibri" pitchFamily="34" charset="0"/>
                <a:ea typeface="Calibri" pitchFamily="34" charset="-122"/>
                <a:cs typeface="Calibri" pitchFamily="34" charset="-120"/>
              </a:rPr>
              <a:t>Hasta 6,000 CFDIs</a:t>
            </a:r>
            <a:endParaRPr lang="en-US" sz="1300" dirty="0"/>
          </a:p>
        </p:txBody>
      </p:sp>
      <p:sp>
        <p:nvSpPr>
          <p:cNvPr id="12" name="Text 9"/>
          <p:cNvSpPr/>
          <p:nvPr/>
        </p:nvSpPr>
        <p:spPr>
          <a:xfrm>
            <a:off x="502920" y="3493008"/>
            <a:ext cx="2011680" cy="274320"/>
          </a:xfrm>
          <a:prstGeom prst="rect">
            <a:avLst/>
          </a:prstGeom>
          <a:noFill/>
          <a:ln/>
        </p:spPr>
        <p:txBody>
          <a:bodyPr wrap="square" lIns="0" tIns="0" rIns="0" bIns="0" rtlCol="0" anchor="ctr"/>
          <a:lstStyle/>
          <a:p>
            <a:pPr algn="ctr" indent="0" marL="0">
              <a:buNone/>
            </a:pPr>
            <a:r>
              <a:rPr lang="en-US" sz="1100" dirty="0">
                <a:solidFill>
                  <a:srgbClr val="4B4265"/>
                </a:solidFill>
                <a:latin typeface="Calibri" pitchFamily="34" charset="0"/>
                <a:ea typeface="Calibri" pitchFamily="34" charset="-122"/>
                <a:cs typeface="Calibri" pitchFamily="34" charset="-120"/>
              </a:rPr>
              <a:t>en 5 años</a:t>
            </a:r>
            <a:endParaRPr lang="en-US" sz="1100" dirty="0"/>
          </a:p>
        </p:txBody>
      </p:sp>
      <p:sp>
        <p:nvSpPr>
          <p:cNvPr id="13" name="Shape 10"/>
          <p:cNvSpPr/>
          <p:nvPr/>
        </p:nvSpPr>
        <p:spPr>
          <a:xfrm>
            <a:off x="640080" y="3931920"/>
            <a:ext cx="1737360" cy="365760"/>
          </a:xfrm>
          <a:prstGeom prst="roundRect">
            <a:avLst>
              <a:gd name="adj" fmla="val 20000"/>
            </a:avLst>
          </a:prstGeom>
          <a:solidFill>
            <a:srgbClr val="B6F0A0"/>
          </a:solidFill>
          <a:ln w="6350">
            <a:solidFill>
              <a:srgbClr val="6BDA4D"/>
            </a:solidFill>
            <a:prstDash val="solid"/>
          </a:ln>
        </p:spPr>
      </p:sp>
      <p:sp>
        <p:nvSpPr>
          <p:cNvPr id="14" name="Text 11"/>
          <p:cNvSpPr/>
          <p:nvPr/>
        </p:nvSpPr>
        <p:spPr>
          <a:xfrm>
            <a:off x="640080" y="3931920"/>
            <a:ext cx="1737360" cy="365760"/>
          </a:xfrm>
          <a:prstGeom prst="rect">
            <a:avLst/>
          </a:prstGeom>
          <a:noFill/>
          <a:ln/>
        </p:spPr>
        <p:txBody>
          <a:bodyPr wrap="square" lIns="0" tIns="0" rIns="0" bIns="0" rtlCol="0" anchor="ctr"/>
          <a:lstStyle/>
          <a:p>
            <a:pPr algn="ctr" indent="0" marL="0">
              <a:buNone/>
            </a:pPr>
            <a:r>
              <a:rPr lang="en-US" sz="1100" b="1" dirty="0">
                <a:solidFill>
                  <a:srgbClr val="450C7D"/>
                </a:solidFill>
                <a:latin typeface="Calibri" pitchFamily="34" charset="0"/>
                <a:ea typeface="Calibri" pitchFamily="34" charset="-122"/>
                <a:cs typeface="Calibri" pitchFamily="34" charset="-120"/>
              </a:rPr>
              <a:t>30 días gratis</a:t>
            </a:r>
            <a:endParaRPr lang="en-US" sz="1100" dirty="0"/>
          </a:p>
        </p:txBody>
      </p:sp>
      <p:sp>
        <p:nvSpPr>
          <p:cNvPr id="15" name="Shape 12"/>
          <p:cNvSpPr/>
          <p:nvPr/>
        </p:nvSpPr>
        <p:spPr>
          <a:xfrm>
            <a:off x="640080" y="4709160"/>
            <a:ext cx="1737360" cy="457200"/>
          </a:xfrm>
          <a:prstGeom prst="roundRect">
            <a:avLst>
              <a:gd name="adj" fmla="val 20000"/>
            </a:avLst>
          </a:prstGeom>
          <a:solidFill>
            <a:srgbClr val="F6F3FC"/>
          </a:solidFill>
          <a:ln w="9525">
            <a:solidFill>
              <a:srgbClr val="E4DEF2"/>
            </a:solidFill>
            <a:prstDash val="solid"/>
          </a:ln>
        </p:spPr>
      </p:sp>
      <p:sp>
        <p:nvSpPr>
          <p:cNvPr id="16" name="Text 13"/>
          <p:cNvSpPr/>
          <p:nvPr/>
        </p:nvSpPr>
        <p:spPr>
          <a:xfrm>
            <a:off x="640080" y="4709160"/>
            <a:ext cx="1737360" cy="457200"/>
          </a:xfrm>
          <a:prstGeom prst="rect">
            <a:avLst/>
          </a:prstGeom>
          <a:noFill/>
          <a:ln/>
        </p:spPr>
        <p:txBody>
          <a:bodyPr wrap="square" lIns="0" tIns="0" rIns="0" bIns="0" rtlCol="0" anchor="ctr"/>
          <a:lstStyle/>
          <a:p>
            <a:pPr algn="ctr" indent="0" marL="0">
              <a:buNone/>
            </a:pPr>
            <a:r>
              <a:rPr lang="en-US" sz="1200" b="1" dirty="0">
                <a:solidFill>
                  <a:srgbClr val="450C7D"/>
                </a:solidFill>
                <a:latin typeface="Calibri" pitchFamily="34" charset="0"/>
                <a:ea typeface="Calibri" pitchFamily="34" charset="-122"/>
                <a:cs typeface="Calibri" pitchFamily="34" charset="-120"/>
              </a:rPr>
              <a:t>Suscribirme</a:t>
            </a:r>
            <a:endParaRPr lang="en-US" sz="1200" dirty="0"/>
          </a:p>
        </p:txBody>
      </p:sp>
      <p:sp>
        <p:nvSpPr>
          <p:cNvPr id="17" name="Shape 14"/>
          <p:cNvSpPr/>
          <p:nvPr/>
        </p:nvSpPr>
        <p:spPr>
          <a:xfrm>
            <a:off x="2788920" y="1828800"/>
            <a:ext cx="2286000" cy="3566160"/>
          </a:xfrm>
          <a:prstGeom prst="roundRect">
            <a:avLst>
              <a:gd name="adj" fmla="val 5600"/>
            </a:avLst>
          </a:prstGeom>
          <a:solidFill>
            <a:srgbClr val="F6F3FC"/>
          </a:solidFill>
          <a:ln w="9525">
            <a:solidFill>
              <a:srgbClr val="4622AA"/>
            </a:solidFill>
            <a:prstDash val="solid"/>
          </a:ln>
        </p:spPr>
      </p:sp>
      <p:sp>
        <p:nvSpPr>
          <p:cNvPr id="18" name="Shape 15"/>
          <p:cNvSpPr/>
          <p:nvPr/>
        </p:nvSpPr>
        <p:spPr>
          <a:xfrm>
            <a:off x="3108960" y="1627632"/>
            <a:ext cx="1645920" cy="365760"/>
          </a:xfrm>
          <a:prstGeom prst="roundRect">
            <a:avLst>
              <a:gd name="adj" fmla="val 20000"/>
            </a:avLst>
          </a:prstGeom>
          <a:solidFill>
            <a:srgbClr val="4622AA"/>
          </a:solidFill>
          <a:ln/>
        </p:spPr>
      </p:sp>
      <p:sp>
        <p:nvSpPr>
          <p:cNvPr id="19" name="Text 16"/>
          <p:cNvSpPr/>
          <p:nvPr/>
        </p:nvSpPr>
        <p:spPr>
          <a:xfrm>
            <a:off x="3108960" y="1627632"/>
            <a:ext cx="164592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RECOMENDADO</a:t>
            </a:r>
            <a:endParaRPr lang="en-US" sz="1000" dirty="0"/>
          </a:p>
        </p:txBody>
      </p:sp>
      <p:sp>
        <p:nvSpPr>
          <p:cNvPr id="20" name="Text 17"/>
          <p:cNvSpPr/>
          <p:nvPr/>
        </p:nvSpPr>
        <p:spPr>
          <a:xfrm>
            <a:off x="2926080" y="2011680"/>
            <a:ext cx="2011680" cy="320040"/>
          </a:xfrm>
          <a:prstGeom prst="rect">
            <a:avLst/>
          </a:prstGeom>
          <a:noFill/>
          <a:ln/>
        </p:spPr>
        <p:txBody>
          <a:bodyPr wrap="square" lIns="0" tIns="0" rIns="0" bIns="0" rtlCol="0" anchor="ctr"/>
          <a:lstStyle/>
          <a:p>
            <a:pPr algn="ctr" indent="0" marL="0">
              <a:buNone/>
            </a:pPr>
            <a:r>
              <a:rPr lang="en-US" sz="1200" b="1" dirty="0">
                <a:solidFill>
                  <a:srgbClr val="4622AA"/>
                </a:solidFill>
                <a:latin typeface="Calibri" pitchFamily="34" charset="0"/>
                <a:ea typeface="Calibri" pitchFamily="34" charset="-122"/>
                <a:cs typeface="Calibri" pitchFamily="34" charset="-120"/>
              </a:rPr>
              <a:t>PLAN 2</a:t>
            </a:r>
            <a:endParaRPr lang="en-US" sz="1200" dirty="0"/>
          </a:p>
        </p:txBody>
      </p:sp>
      <p:sp>
        <p:nvSpPr>
          <p:cNvPr id="21" name="Text 18"/>
          <p:cNvSpPr/>
          <p:nvPr/>
        </p:nvSpPr>
        <p:spPr>
          <a:xfrm>
            <a:off x="2926080" y="2423160"/>
            <a:ext cx="2011680" cy="685800"/>
          </a:xfrm>
          <a:prstGeom prst="rect">
            <a:avLst/>
          </a:prstGeom>
          <a:noFill/>
          <a:ln/>
        </p:spPr>
        <p:txBody>
          <a:bodyPr wrap="square" lIns="0" tIns="0" rIns="0" bIns="0" rtlCol="0" anchor="ctr"/>
          <a:lstStyle/>
          <a:p>
            <a:pPr algn="ctr" indent="0" marL="0">
              <a:buNone/>
            </a:pPr>
            <a:r>
              <a:rPr lang="en-US" sz="3200" b="1" dirty="0">
                <a:solidFill>
                  <a:srgbClr val="450C7D"/>
                </a:solidFill>
                <a:latin typeface="Calibri" pitchFamily="34" charset="0"/>
                <a:ea typeface="Calibri" pitchFamily="34" charset="-122"/>
                <a:cs typeface="Calibri" pitchFamily="34" charset="-120"/>
              </a:rPr>
              <a:t>$450</a:t>
            </a:r>
            <a:pPr algn="ctr" indent="0" marL="0">
              <a:buNone/>
            </a:pPr>
            <a:r>
              <a:rPr lang="en-US" sz="1200" dirty="0">
                <a:solidFill>
                  <a:srgbClr val="4B4265"/>
                </a:solidFill>
                <a:latin typeface="Calibri" pitchFamily="34" charset="0"/>
                <a:ea typeface="Calibri" pitchFamily="34" charset="-122"/>
                <a:cs typeface="Calibri" pitchFamily="34" charset="-120"/>
              </a:rPr>
              <a:t> /mes</a:t>
            </a:r>
            <a:endParaRPr lang="en-US" sz="3200" dirty="0"/>
          </a:p>
        </p:txBody>
      </p:sp>
      <p:sp>
        <p:nvSpPr>
          <p:cNvPr id="22" name="Text 19"/>
          <p:cNvSpPr/>
          <p:nvPr/>
        </p:nvSpPr>
        <p:spPr>
          <a:xfrm>
            <a:off x="2926080" y="3200400"/>
            <a:ext cx="2011680" cy="320040"/>
          </a:xfrm>
          <a:prstGeom prst="rect">
            <a:avLst/>
          </a:prstGeom>
          <a:noFill/>
          <a:ln/>
        </p:spPr>
        <p:txBody>
          <a:bodyPr wrap="square" lIns="0" tIns="0" rIns="0" bIns="0" rtlCol="0" anchor="ctr"/>
          <a:lstStyle/>
          <a:p>
            <a:pPr algn="ctr" indent="0" marL="0">
              <a:buNone/>
            </a:pPr>
            <a:r>
              <a:rPr lang="en-US" sz="1300" b="1" dirty="0">
                <a:solidFill>
                  <a:srgbClr val="1A1033"/>
                </a:solidFill>
                <a:latin typeface="Calibri" pitchFamily="34" charset="0"/>
                <a:ea typeface="Calibri" pitchFamily="34" charset="-122"/>
                <a:cs typeface="Calibri" pitchFamily="34" charset="-120"/>
              </a:rPr>
              <a:t>Hasta 10,000 CFDIs</a:t>
            </a:r>
            <a:endParaRPr lang="en-US" sz="1300" dirty="0"/>
          </a:p>
        </p:txBody>
      </p:sp>
      <p:sp>
        <p:nvSpPr>
          <p:cNvPr id="23" name="Text 20"/>
          <p:cNvSpPr/>
          <p:nvPr/>
        </p:nvSpPr>
        <p:spPr>
          <a:xfrm>
            <a:off x="2926080" y="3493008"/>
            <a:ext cx="2011680" cy="274320"/>
          </a:xfrm>
          <a:prstGeom prst="rect">
            <a:avLst/>
          </a:prstGeom>
          <a:noFill/>
          <a:ln/>
        </p:spPr>
        <p:txBody>
          <a:bodyPr wrap="square" lIns="0" tIns="0" rIns="0" bIns="0" rtlCol="0" anchor="ctr"/>
          <a:lstStyle/>
          <a:p>
            <a:pPr algn="ctr" indent="0" marL="0">
              <a:buNone/>
            </a:pPr>
            <a:r>
              <a:rPr lang="en-US" sz="1100" dirty="0">
                <a:solidFill>
                  <a:srgbClr val="4B4265"/>
                </a:solidFill>
                <a:latin typeface="Calibri" pitchFamily="34" charset="0"/>
                <a:ea typeface="Calibri" pitchFamily="34" charset="-122"/>
                <a:cs typeface="Calibri" pitchFamily="34" charset="-120"/>
              </a:rPr>
              <a:t>en 5 años</a:t>
            </a:r>
            <a:endParaRPr lang="en-US" sz="1100" dirty="0"/>
          </a:p>
        </p:txBody>
      </p:sp>
      <p:sp>
        <p:nvSpPr>
          <p:cNvPr id="24" name="Shape 21"/>
          <p:cNvSpPr/>
          <p:nvPr/>
        </p:nvSpPr>
        <p:spPr>
          <a:xfrm>
            <a:off x="3063240" y="3931920"/>
            <a:ext cx="1737360" cy="365760"/>
          </a:xfrm>
          <a:prstGeom prst="roundRect">
            <a:avLst>
              <a:gd name="adj" fmla="val 20000"/>
            </a:avLst>
          </a:prstGeom>
          <a:solidFill>
            <a:srgbClr val="B6F0A0"/>
          </a:solidFill>
          <a:ln w="6350">
            <a:solidFill>
              <a:srgbClr val="6BDA4D"/>
            </a:solidFill>
            <a:prstDash val="solid"/>
          </a:ln>
        </p:spPr>
      </p:sp>
      <p:sp>
        <p:nvSpPr>
          <p:cNvPr id="25" name="Text 22"/>
          <p:cNvSpPr/>
          <p:nvPr/>
        </p:nvSpPr>
        <p:spPr>
          <a:xfrm>
            <a:off x="3063240" y="3931920"/>
            <a:ext cx="1737360" cy="365760"/>
          </a:xfrm>
          <a:prstGeom prst="rect">
            <a:avLst/>
          </a:prstGeom>
          <a:noFill/>
          <a:ln/>
        </p:spPr>
        <p:txBody>
          <a:bodyPr wrap="square" lIns="0" tIns="0" rIns="0" bIns="0" rtlCol="0" anchor="ctr"/>
          <a:lstStyle/>
          <a:p>
            <a:pPr algn="ctr" indent="0" marL="0">
              <a:buNone/>
            </a:pPr>
            <a:r>
              <a:rPr lang="en-US" sz="1100" b="1" dirty="0">
                <a:solidFill>
                  <a:srgbClr val="450C7D"/>
                </a:solidFill>
                <a:latin typeface="Calibri" pitchFamily="34" charset="0"/>
                <a:ea typeface="Calibri" pitchFamily="34" charset="-122"/>
                <a:cs typeface="Calibri" pitchFamily="34" charset="-120"/>
              </a:rPr>
              <a:t>30 días gratis</a:t>
            </a:r>
            <a:endParaRPr lang="en-US" sz="1100" dirty="0"/>
          </a:p>
        </p:txBody>
      </p:sp>
      <p:sp>
        <p:nvSpPr>
          <p:cNvPr id="26" name="Shape 23"/>
          <p:cNvSpPr/>
          <p:nvPr/>
        </p:nvSpPr>
        <p:spPr>
          <a:xfrm>
            <a:off x="3063240" y="4709160"/>
            <a:ext cx="1737360" cy="457200"/>
          </a:xfrm>
          <a:prstGeom prst="roundRect">
            <a:avLst>
              <a:gd name="adj" fmla="val 20000"/>
            </a:avLst>
          </a:prstGeom>
          <a:solidFill>
            <a:srgbClr val="4622AA"/>
          </a:solidFill>
          <a:ln w="9525">
            <a:solidFill>
              <a:srgbClr val="4622AA"/>
            </a:solidFill>
            <a:prstDash val="solid"/>
          </a:ln>
        </p:spPr>
      </p:sp>
      <p:sp>
        <p:nvSpPr>
          <p:cNvPr id="27" name="Text 24"/>
          <p:cNvSpPr/>
          <p:nvPr/>
        </p:nvSpPr>
        <p:spPr>
          <a:xfrm>
            <a:off x="3063240" y="4709160"/>
            <a:ext cx="17373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Suscribirme</a:t>
            </a:r>
            <a:endParaRPr lang="en-US" sz="1200" dirty="0"/>
          </a:p>
        </p:txBody>
      </p:sp>
      <p:sp>
        <p:nvSpPr>
          <p:cNvPr id="28" name="Shape 25"/>
          <p:cNvSpPr/>
          <p:nvPr/>
        </p:nvSpPr>
        <p:spPr>
          <a:xfrm>
            <a:off x="5212080" y="1828800"/>
            <a:ext cx="2286000" cy="3566160"/>
          </a:xfrm>
          <a:prstGeom prst="roundRect">
            <a:avLst>
              <a:gd name="adj" fmla="val 5600"/>
            </a:avLst>
          </a:prstGeom>
          <a:solidFill>
            <a:srgbClr val="FFFFFF"/>
          </a:solidFill>
          <a:ln w="9525">
            <a:solidFill>
              <a:srgbClr val="E4DEF2"/>
            </a:solidFill>
            <a:prstDash val="solid"/>
          </a:ln>
        </p:spPr>
      </p:sp>
      <p:sp>
        <p:nvSpPr>
          <p:cNvPr id="29" name="Text 26"/>
          <p:cNvSpPr/>
          <p:nvPr/>
        </p:nvSpPr>
        <p:spPr>
          <a:xfrm>
            <a:off x="5349240" y="2011680"/>
            <a:ext cx="2011680" cy="320040"/>
          </a:xfrm>
          <a:prstGeom prst="rect">
            <a:avLst/>
          </a:prstGeom>
          <a:noFill/>
          <a:ln/>
        </p:spPr>
        <p:txBody>
          <a:bodyPr wrap="square" lIns="0" tIns="0" rIns="0" bIns="0" rtlCol="0" anchor="ctr"/>
          <a:lstStyle/>
          <a:p>
            <a:pPr algn="ctr" indent="0" marL="0">
              <a:buNone/>
            </a:pPr>
            <a:r>
              <a:rPr lang="en-US" sz="1200" b="1" dirty="0">
                <a:solidFill>
                  <a:srgbClr val="8B42D4"/>
                </a:solidFill>
                <a:latin typeface="Calibri" pitchFamily="34" charset="0"/>
                <a:ea typeface="Calibri" pitchFamily="34" charset="-122"/>
                <a:cs typeface="Calibri" pitchFamily="34" charset="-120"/>
              </a:rPr>
              <a:t>PLAN 3</a:t>
            </a:r>
            <a:endParaRPr lang="en-US" sz="1200" dirty="0"/>
          </a:p>
        </p:txBody>
      </p:sp>
      <p:sp>
        <p:nvSpPr>
          <p:cNvPr id="30" name="Text 27"/>
          <p:cNvSpPr/>
          <p:nvPr/>
        </p:nvSpPr>
        <p:spPr>
          <a:xfrm>
            <a:off x="5349240" y="2423160"/>
            <a:ext cx="2011680" cy="685800"/>
          </a:xfrm>
          <a:prstGeom prst="rect">
            <a:avLst/>
          </a:prstGeom>
          <a:noFill/>
          <a:ln/>
        </p:spPr>
        <p:txBody>
          <a:bodyPr wrap="square" lIns="0" tIns="0" rIns="0" bIns="0" rtlCol="0" anchor="ctr"/>
          <a:lstStyle/>
          <a:p>
            <a:pPr algn="ctr" indent="0" marL="0">
              <a:buNone/>
            </a:pPr>
            <a:r>
              <a:rPr lang="en-US" sz="3200" b="1" dirty="0">
                <a:solidFill>
                  <a:srgbClr val="450C7D"/>
                </a:solidFill>
                <a:latin typeface="Calibri" pitchFamily="34" charset="0"/>
                <a:ea typeface="Calibri" pitchFamily="34" charset="-122"/>
                <a:cs typeface="Calibri" pitchFamily="34" charset="-120"/>
              </a:rPr>
              <a:t>$800</a:t>
            </a:r>
            <a:pPr algn="ctr" indent="0" marL="0">
              <a:buNone/>
            </a:pPr>
            <a:r>
              <a:rPr lang="en-US" sz="1200" dirty="0">
                <a:solidFill>
                  <a:srgbClr val="4B4265"/>
                </a:solidFill>
                <a:latin typeface="Calibri" pitchFamily="34" charset="0"/>
                <a:ea typeface="Calibri" pitchFamily="34" charset="-122"/>
                <a:cs typeface="Calibri" pitchFamily="34" charset="-120"/>
              </a:rPr>
              <a:t> /mes</a:t>
            </a:r>
            <a:endParaRPr lang="en-US" sz="3200" dirty="0"/>
          </a:p>
        </p:txBody>
      </p:sp>
      <p:sp>
        <p:nvSpPr>
          <p:cNvPr id="31" name="Text 28"/>
          <p:cNvSpPr/>
          <p:nvPr/>
        </p:nvSpPr>
        <p:spPr>
          <a:xfrm>
            <a:off x="5349240" y="3200400"/>
            <a:ext cx="2011680" cy="320040"/>
          </a:xfrm>
          <a:prstGeom prst="rect">
            <a:avLst/>
          </a:prstGeom>
          <a:noFill/>
          <a:ln/>
        </p:spPr>
        <p:txBody>
          <a:bodyPr wrap="square" lIns="0" tIns="0" rIns="0" bIns="0" rtlCol="0" anchor="ctr"/>
          <a:lstStyle/>
          <a:p>
            <a:pPr algn="ctr" indent="0" marL="0">
              <a:buNone/>
            </a:pPr>
            <a:r>
              <a:rPr lang="en-US" sz="1300" b="1" dirty="0">
                <a:solidFill>
                  <a:srgbClr val="1A1033"/>
                </a:solidFill>
                <a:latin typeface="Calibri" pitchFamily="34" charset="0"/>
                <a:ea typeface="Calibri" pitchFamily="34" charset="-122"/>
                <a:cs typeface="Calibri" pitchFamily="34" charset="-120"/>
              </a:rPr>
              <a:t>Hasta 20,000 CFDIs</a:t>
            </a:r>
            <a:endParaRPr lang="en-US" sz="1300" dirty="0"/>
          </a:p>
        </p:txBody>
      </p:sp>
      <p:sp>
        <p:nvSpPr>
          <p:cNvPr id="32" name="Text 29"/>
          <p:cNvSpPr/>
          <p:nvPr/>
        </p:nvSpPr>
        <p:spPr>
          <a:xfrm>
            <a:off x="5349240" y="3493008"/>
            <a:ext cx="2011680" cy="274320"/>
          </a:xfrm>
          <a:prstGeom prst="rect">
            <a:avLst/>
          </a:prstGeom>
          <a:noFill/>
          <a:ln/>
        </p:spPr>
        <p:txBody>
          <a:bodyPr wrap="square" lIns="0" tIns="0" rIns="0" bIns="0" rtlCol="0" anchor="ctr"/>
          <a:lstStyle/>
          <a:p>
            <a:pPr algn="ctr" indent="0" marL="0">
              <a:buNone/>
            </a:pPr>
            <a:r>
              <a:rPr lang="en-US" sz="1100" dirty="0">
                <a:solidFill>
                  <a:srgbClr val="4B4265"/>
                </a:solidFill>
                <a:latin typeface="Calibri" pitchFamily="34" charset="0"/>
                <a:ea typeface="Calibri" pitchFamily="34" charset="-122"/>
                <a:cs typeface="Calibri" pitchFamily="34" charset="-120"/>
              </a:rPr>
              <a:t>en 5 años</a:t>
            </a:r>
            <a:endParaRPr lang="en-US" sz="1100" dirty="0"/>
          </a:p>
        </p:txBody>
      </p:sp>
      <p:sp>
        <p:nvSpPr>
          <p:cNvPr id="33" name="Shape 30"/>
          <p:cNvSpPr/>
          <p:nvPr/>
        </p:nvSpPr>
        <p:spPr>
          <a:xfrm>
            <a:off x="5486400" y="3931920"/>
            <a:ext cx="1737360" cy="365760"/>
          </a:xfrm>
          <a:prstGeom prst="roundRect">
            <a:avLst>
              <a:gd name="adj" fmla="val 20000"/>
            </a:avLst>
          </a:prstGeom>
          <a:solidFill>
            <a:srgbClr val="B6F0A0"/>
          </a:solidFill>
          <a:ln w="6350">
            <a:solidFill>
              <a:srgbClr val="6BDA4D"/>
            </a:solidFill>
            <a:prstDash val="solid"/>
          </a:ln>
        </p:spPr>
      </p:sp>
      <p:sp>
        <p:nvSpPr>
          <p:cNvPr id="34" name="Text 31"/>
          <p:cNvSpPr/>
          <p:nvPr/>
        </p:nvSpPr>
        <p:spPr>
          <a:xfrm>
            <a:off x="5486400" y="3931920"/>
            <a:ext cx="1737360" cy="365760"/>
          </a:xfrm>
          <a:prstGeom prst="rect">
            <a:avLst/>
          </a:prstGeom>
          <a:noFill/>
          <a:ln/>
        </p:spPr>
        <p:txBody>
          <a:bodyPr wrap="square" lIns="0" tIns="0" rIns="0" bIns="0" rtlCol="0" anchor="ctr"/>
          <a:lstStyle/>
          <a:p>
            <a:pPr algn="ctr" indent="0" marL="0">
              <a:buNone/>
            </a:pPr>
            <a:r>
              <a:rPr lang="en-US" sz="1100" b="1" dirty="0">
                <a:solidFill>
                  <a:srgbClr val="450C7D"/>
                </a:solidFill>
                <a:latin typeface="Calibri" pitchFamily="34" charset="0"/>
                <a:ea typeface="Calibri" pitchFamily="34" charset="-122"/>
                <a:cs typeface="Calibri" pitchFamily="34" charset="-120"/>
              </a:rPr>
              <a:t>30 días gratis</a:t>
            </a:r>
            <a:endParaRPr lang="en-US" sz="1100" dirty="0"/>
          </a:p>
        </p:txBody>
      </p:sp>
      <p:sp>
        <p:nvSpPr>
          <p:cNvPr id="35" name="Shape 32"/>
          <p:cNvSpPr/>
          <p:nvPr/>
        </p:nvSpPr>
        <p:spPr>
          <a:xfrm>
            <a:off x="5486400" y="4709160"/>
            <a:ext cx="1737360" cy="457200"/>
          </a:xfrm>
          <a:prstGeom prst="roundRect">
            <a:avLst>
              <a:gd name="adj" fmla="val 20000"/>
            </a:avLst>
          </a:prstGeom>
          <a:solidFill>
            <a:srgbClr val="F6F3FC"/>
          </a:solidFill>
          <a:ln w="9525">
            <a:solidFill>
              <a:srgbClr val="E4DEF2"/>
            </a:solidFill>
            <a:prstDash val="solid"/>
          </a:ln>
        </p:spPr>
      </p:sp>
      <p:sp>
        <p:nvSpPr>
          <p:cNvPr id="36" name="Text 33"/>
          <p:cNvSpPr/>
          <p:nvPr/>
        </p:nvSpPr>
        <p:spPr>
          <a:xfrm>
            <a:off x="5486400" y="4709160"/>
            <a:ext cx="1737360" cy="457200"/>
          </a:xfrm>
          <a:prstGeom prst="rect">
            <a:avLst/>
          </a:prstGeom>
          <a:noFill/>
          <a:ln/>
        </p:spPr>
        <p:txBody>
          <a:bodyPr wrap="square" lIns="0" tIns="0" rIns="0" bIns="0" rtlCol="0" anchor="ctr"/>
          <a:lstStyle/>
          <a:p>
            <a:pPr algn="ctr" indent="0" marL="0">
              <a:buNone/>
            </a:pPr>
            <a:r>
              <a:rPr lang="en-US" sz="1200" b="1" dirty="0">
                <a:solidFill>
                  <a:srgbClr val="450C7D"/>
                </a:solidFill>
                <a:latin typeface="Calibri" pitchFamily="34" charset="0"/>
                <a:ea typeface="Calibri" pitchFamily="34" charset="-122"/>
                <a:cs typeface="Calibri" pitchFamily="34" charset="-120"/>
              </a:rPr>
              <a:t>Suscribirme</a:t>
            </a:r>
            <a:endParaRPr lang="en-US" sz="1200" dirty="0"/>
          </a:p>
        </p:txBody>
      </p:sp>
      <p:sp>
        <p:nvSpPr>
          <p:cNvPr id="37" name="Shape 34"/>
          <p:cNvSpPr/>
          <p:nvPr/>
        </p:nvSpPr>
        <p:spPr>
          <a:xfrm>
            <a:off x="7635240" y="1828800"/>
            <a:ext cx="2286000" cy="3566160"/>
          </a:xfrm>
          <a:prstGeom prst="roundRect">
            <a:avLst>
              <a:gd name="adj" fmla="val 5600"/>
            </a:avLst>
          </a:prstGeom>
          <a:solidFill>
            <a:srgbClr val="FFFFFF"/>
          </a:solidFill>
          <a:ln w="9525">
            <a:solidFill>
              <a:srgbClr val="E4DEF2"/>
            </a:solidFill>
            <a:prstDash val="solid"/>
          </a:ln>
        </p:spPr>
      </p:sp>
      <p:sp>
        <p:nvSpPr>
          <p:cNvPr id="38" name="Text 35"/>
          <p:cNvSpPr/>
          <p:nvPr/>
        </p:nvSpPr>
        <p:spPr>
          <a:xfrm>
            <a:off x="7772400" y="2011680"/>
            <a:ext cx="2011680" cy="320040"/>
          </a:xfrm>
          <a:prstGeom prst="rect">
            <a:avLst/>
          </a:prstGeom>
          <a:noFill/>
          <a:ln/>
        </p:spPr>
        <p:txBody>
          <a:bodyPr wrap="square" lIns="0" tIns="0" rIns="0" bIns="0" rtlCol="0" anchor="ctr"/>
          <a:lstStyle/>
          <a:p>
            <a:pPr algn="ctr" indent="0" marL="0">
              <a:buNone/>
            </a:pPr>
            <a:r>
              <a:rPr lang="en-US" sz="1200" b="1" dirty="0">
                <a:solidFill>
                  <a:srgbClr val="6BDA4D"/>
                </a:solidFill>
                <a:latin typeface="Calibri" pitchFamily="34" charset="0"/>
                <a:ea typeface="Calibri" pitchFamily="34" charset="-122"/>
                <a:cs typeface="Calibri" pitchFamily="34" charset="-120"/>
              </a:rPr>
              <a:t>PLAN 4</a:t>
            </a:r>
            <a:endParaRPr lang="en-US" sz="1200" dirty="0"/>
          </a:p>
        </p:txBody>
      </p:sp>
      <p:sp>
        <p:nvSpPr>
          <p:cNvPr id="39" name="Text 36"/>
          <p:cNvSpPr/>
          <p:nvPr/>
        </p:nvSpPr>
        <p:spPr>
          <a:xfrm>
            <a:off x="7772400" y="2423160"/>
            <a:ext cx="2011680" cy="685800"/>
          </a:xfrm>
          <a:prstGeom prst="rect">
            <a:avLst/>
          </a:prstGeom>
          <a:noFill/>
          <a:ln/>
        </p:spPr>
        <p:txBody>
          <a:bodyPr wrap="square" lIns="0" tIns="0" rIns="0" bIns="0" rtlCol="0" anchor="ctr"/>
          <a:lstStyle/>
          <a:p>
            <a:pPr algn="ctr" indent="0" marL="0">
              <a:buNone/>
            </a:pPr>
            <a:r>
              <a:rPr lang="en-US" sz="3200" b="1" dirty="0">
                <a:solidFill>
                  <a:srgbClr val="450C7D"/>
                </a:solidFill>
                <a:latin typeface="Calibri" pitchFamily="34" charset="0"/>
                <a:ea typeface="Calibri" pitchFamily="34" charset="-122"/>
                <a:cs typeface="Calibri" pitchFamily="34" charset="-120"/>
              </a:rPr>
              <a:t>$1,500</a:t>
            </a:r>
            <a:pPr algn="ctr" indent="0" marL="0">
              <a:buNone/>
            </a:pPr>
            <a:r>
              <a:rPr lang="en-US" sz="1200" dirty="0">
                <a:solidFill>
                  <a:srgbClr val="4B4265"/>
                </a:solidFill>
                <a:latin typeface="Calibri" pitchFamily="34" charset="0"/>
                <a:ea typeface="Calibri" pitchFamily="34" charset="-122"/>
                <a:cs typeface="Calibri" pitchFamily="34" charset="-120"/>
              </a:rPr>
              <a:t> /mes</a:t>
            </a:r>
            <a:endParaRPr lang="en-US" sz="3200" dirty="0"/>
          </a:p>
        </p:txBody>
      </p:sp>
      <p:sp>
        <p:nvSpPr>
          <p:cNvPr id="40" name="Text 37"/>
          <p:cNvSpPr/>
          <p:nvPr/>
        </p:nvSpPr>
        <p:spPr>
          <a:xfrm>
            <a:off x="7772400" y="3200400"/>
            <a:ext cx="2011680" cy="320040"/>
          </a:xfrm>
          <a:prstGeom prst="rect">
            <a:avLst/>
          </a:prstGeom>
          <a:noFill/>
          <a:ln/>
        </p:spPr>
        <p:txBody>
          <a:bodyPr wrap="square" lIns="0" tIns="0" rIns="0" bIns="0" rtlCol="0" anchor="ctr"/>
          <a:lstStyle/>
          <a:p>
            <a:pPr algn="ctr" indent="0" marL="0">
              <a:buNone/>
            </a:pPr>
            <a:r>
              <a:rPr lang="en-US" sz="1300" b="1" dirty="0">
                <a:solidFill>
                  <a:srgbClr val="1A1033"/>
                </a:solidFill>
                <a:latin typeface="Calibri" pitchFamily="34" charset="0"/>
                <a:ea typeface="Calibri" pitchFamily="34" charset="-122"/>
                <a:cs typeface="Calibri" pitchFamily="34" charset="-120"/>
              </a:rPr>
              <a:t>Hasta 40,000 CFDIs</a:t>
            </a:r>
            <a:endParaRPr lang="en-US" sz="1300" dirty="0"/>
          </a:p>
        </p:txBody>
      </p:sp>
      <p:sp>
        <p:nvSpPr>
          <p:cNvPr id="41" name="Text 38"/>
          <p:cNvSpPr/>
          <p:nvPr/>
        </p:nvSpPr>
        <p:spPr>
          <a:xfrm>
            <a:off x="7772400" y="3493008"/>
            <a:ext cx="2011680" cy="274320"/>
          </a:xfrm>
          <a:prstGeom prst="rect">
            <a:avLst/>
          </a:prstGeom>
          <a:noFill/>
          <a:ln/>
        </p:spPr>
        <p:txBody>
          <a:bodyPr wrap="square" lIns="0" tIns="0" rIns="0" bIns="0" rtlCol="0" anchor="ctr"/>
          <a:lstStyle/>
          <a:p>
            <a:pPr algn="ctr" indent="0" marL="0">
              <a:buNone/>
            </a:pPr>
            <a:r>
              <a:rPr lang="en-US" sz="1100" dirty="0">
                <a:solidFill>
                  <a:srgbClr val="4B4265"/>
                </a:solidFill>
                <a:latin typeface="Calibri" pitchFamily="34" charset="0"/>
                <a:ea typeface="Calibri" pitchFamily="34" charset="-122"/>
                <a:cs typeface="Calibri" pitchFamily="34" charset="-120"/>
              </a:rPr>
              <a:t>en 5 años</a:t>
            </a:r>
            <a:endParaRPr lang="en-US" sz="1100" dirty="0"/>
          </a:p>
        </p:txBody>
      </p:sp>
      <p:sp>
        <p:nvSpPr>
          <p:cNvPr id="42" name="Shape 39"/>
          <p:cNvSpPr/>
          <p:nvPr/>
        </p:nvSpPr>
        <p:spPr>
          <a:xfrm>
            <a:off x="7909560" y="3931920"/>
            <a:ext cx="1737360" cy="365760"/>
          </a:xfrm>
          <a:prstGeom prst="roundRect">
            <a:avLst>
              <a:gd name="adj" fmla="val 20000"/>
            </a:avLst>
          </a:prstGeom>
          <a:solidFill>
            <a:srgbClr val="B6F0A0"/>
          </a:solidFill>
          <a:ln w="6350">
            <a:solidFill>
              <a:srgbClr val="6BDA4D"/>
            </a:solidFill>
            <a:prstDash val="solid"/>
          </a:ln>
        </p:spPr>
      </p:sp>
      <p:sp>
        <p:nvSpPr>
          <p:cNvPr id="43" name="Text 40"/>
          <p:cNvSpPr/>
          <p:nvPr/>
        </p:nvSpPr>
        <p:spPr>
          <a:xfrm>
            <a:off x="7909560" y="3931920"/>
            <a:ext cx="1737360" cy="365760"/>
          </a:xfrm>
          <a:prstGeom prst="rect">
            <a:avLst/>
          </a:prstGeom>
          <a:noFill/>
          <a:ln/>
        </p:spPr>
        <p:txBody>
          <a:bodyPr wrap="square" lIns="0" tIns="0" rIns="0" bIns="0" rtlCol="0" anchor="ctr"/>
          <a:lstStyle/>
          <a:p>
            <a:pPr algn="ctr" indent="0" marL="0">
              <a:buNone/>
            </a:pPr>
            <a:r>
              <a:rPr lang="en-US" sz="1100" b="1" dirty="0">
                <a:solidFill>
                  <a:srgbClr val="450C7D"/>
                </a:solidFill>
                <a:latin typeface="Calibri" pitchFamily="34" charset="0"/>
                <a:ea typeface="Calibri" pitchFamily="34" charset="-122"/>
                <a:cs typeface="Calibri" pitchFamily="34" charset="-120"/>
              </a:rPr>
              <a:t>30 días gratis</a:t>
            </a:r>
            <a:endParaRPr lang="en-US" sz="1100" dirty="0"/>
          </a:p>
        </p:txBody>
      </p:sp>
      <p:sp>
        <p:nvSpPr>
          <p:cNvPr id="44" name="Shape 41"/>
          <p:cNvSpPr/>
          <p:nvPr/>
        </p:nvSpPr>
        <p:spPr>
          <a:xfrm>
            <a:off x="7909560" y="4709160"/>
            <a:ext cx="1737360" cy="457200"/>
          </a:xfrm>
          <a:prstGeom prst="roundRect">
            <a:avLst>
              <a:gd name="adj" fmla="val 20000"/>
            </a:avLst>
          </a:prstGeom>
          <a:solidFill>
            <a:srgbClr val="F6F3FC"/>
          </a:solidFill>
          <a:ln w="9525">
            <a:solidFill>
              <a:srgbClr val="E4DEF2"/>
            </a:solidFill>
            <a:prstDash val="solid"/>
          </a:ln>
        </p:spPr>
      </p:sp>
      <p:sp>
        <p:nvSpPr>
          <p:cNvPr id="45" name="Text 42"/>
          <p:cNvSpPr/>
          <p:nvPr/>
        </p:nvSpPr>
        <p:spPr>
          <a:xfrm>
            <a:off x="7909560" y="4709160"/>
            <a:ext cx="1737360" cy="457200"/>
          </a:xfrm>
          <a:prstGeom prst="rect">
            <a:avLst/>
          </a:prstGeom>
          <a:noFill/>
          <a:ln/>
        </p:spPr>
        <p:txBody>
          <a:bodyPr wrap="square" lIns="0" tIns="0" rIns="0" bIns="0" rtlCol="0" anchor="ctr"/>
          <a:lstStyle/>
          <a:p>
            <a:pPr algn="ctr" indent="0" marL="0">
              <a:buNone/>
            </a:pPr>
            <a:r>
              <a:rPr lang="en-US" sz="1200" b="1" dirty="0">
                <a:solidFill>
                  <a:srgbClr val="450C7D"/>
                </a:solidFill>
                <a:latin typeface="Calibri" pitchFamily="34" charset="0"/>
                <a:ea typeface="Calibri" pitchFamily="34" charset="-122"/>
                <a:cs typeface="Calibri" pitchFamily="34" charset="-120"/>
              </a:rPr>
              <a:t>Suscribirme</a:t>
            </a:r>
            <a:endParaRPr lang="en-US" sz="1200" dirty="0"/>
          </a:p>
        </p:txBody>
      </p:sp>
      <p:sp>
        <p:nvSpPr>
          <p:cNvPr id="46" name="Shape 43"/>
          <p:cNvSpPr/>
          <p:nvPr/>
        </p:nvSpPr>
        <p:spPr>
          <a:xfrm>
            <a:off x="10058400" y="1828800"/>
            <a:ext cx="2286000" cy="3566160"/>
          </a:xfrm>
          <a:prstGeom prst="roundRect">
            <a:avLst>
              <a:gd name="adj" fmla="val 5600"/>
            </a:avLst>
          </a:prstGeom>
          <a:solidFill>
            <a:srgbClr val="FFFFFF"/>
          </a:solidFill>
          <a:ln w="9525">
            <a:solidFill>
              <a:srgbClr val="E4DEF2"/>
            </a:solidFill>
            <a:prstDash val="solid"/>
          </a:ln>
        </p:spPr>
      </p:sp>
      <p:sp>
        <p:nvSpPr>
          <p:cNvPr id="47" name="Text 44"/>
          <p:cNvSpPr/>
          <p:nvPr/>
        </p:nvSpPr>
        <p:spPr>
          <a:xfrm>
            <a:off x="10195560" y="2011680"/>
            <a:ext cx="2011680" cy="320040"/>
          </a:xfrm>
          <a:prstGeom prst="rect">
            <a:avLst/>
          </a:prstGeom>
          <a:noFill/>
          <a:ln/>
        </p:spPr>
        <p:txBody>
          <a:bodyPr wrap="square" lIns="0" tIns="0" rIns="0" bIns="0" rtlCol="0" anchor="ctr"/>
          <a:lstStyle/>
          <a:p>
            <a:pPr algn="ctr" indent="0" marL="0">
              <a:buNone/>
            </a:pPr>
            <a:r>
              <a:rPr lang="en-US" sz="1200" b="1" dirty="0">
                <a:solidFill>
                  <a:srgbClr val="AEDB4A"/>
                </a:solidFill>
                <a:latin typeface="Calibri" pitchFamily="34" charset="0"/>
                <a:ea typeface="Calibri" pitchFamily="34" charset="-122"/>
                <a:cs typeface="Calibri" pitchFamily="34" charset="-120"/>
              </a:rPr>
              <a:t>PLAN 5</a:t>
            </a:r>
            <a:endParaRPr lang="en-US" sz="1200" dirty="0"/>
          </a:p>
        </p:txBody>
      </p:sp>
      <p:sp>
        <p:nvSpPr>
          <p:cNvPr id="48" name="Text 45"/>
          <p:cNvSpPr/>
          <p:nvPr/>
        </p:nvSpPr>
        <p:spPr>
          <a:xfrm>
            <a:off x="10195560" y="2423160"/>
            <a:ext cx="2011680" cy="685800"/>
          </a:xfrm>
          <a:prstGeom prst="rect">
            <a:avLst/>
          </a:prstGeom>
          <a:noFill/>
          <a:ln/>
        </p:spPr>
        <p:txBody>
          <a:bodyPr wrap="square" lIns="0" tIns="0" rIns="0" bIns="0" rtlCol="0" anchor="ctr"/>
          <a:lstStyle/>
          <a:p>
            <a:pPr algn="ctr" indent="0" marL="0">
              <a:buNone/>
            </a:pPr>
            <a:r>
              <a:rPr lang="en-US" sz="3200" b="1" dirty="0">
                <a:solidFill>
                  <a:srgbClr val="450C7D"/>
                </a:solidFill>
                <a:latin typeface="Calibri" pitchFamily="34" charset="0"/>
                <a:ea typeface="Calibri" pitchFamily="34" charset="-122"/>
                <a:cs typeface="Calibri" pitchFamily="34" charset="-120"/>
              </a:rPr>
              <a:t>$3,000</a:t>
            </a:r>
            <a:pPr algn="ctr" indent="0" marL="0">
              <a:buNone/>
            </a:pPr>
            <a:r>
              <a:rPr lang="en-US" sz="1200" dirty="0">
                <a:solidFill>
                  <a:srgbClr val="4B4265"/>
                </a:solidFill>
                <a:latin typeface="Calibri" pitchFamily="34" charset="0"/>
                <a:ea typeface="Calibri" pitchFamily="34" charset="-122"/>
                <a:cs typeface="Calibri" pitchFamily="34" charset="-120"/>
              </a:rPr>
              <a:t> /mes</a:t>
            </a:r>
            <a:endParaRPr lang="en-US" sz="3200" dirty="0"/>
          </a:p>
        </p:txBody>
      </p:sp>
      <p:sp>
        <p:nvSpPr>
          <p:cNvPr id="49" name="Text 46"/>
          <p:cNvSpPr/>
          <p:nvPr/>
        </p:nvSpPr>
        <p:spPr>
          <a:xfrm>
            <a:off x="10195560" y="3200400"/>
            <a:ext cx="2011680" cy="320040"/>
          </a:xfrm>
          <a:prstGeom prst="rect">
            <a:avLst/>
          </a:prstGeom>
          <a:noFill/>
          <a:ln/>
        </p:spPr>
        <p:txBody>
          <a:bodyPr wrap="square" lIns="0" tIns="0" rIns="0" bIns="0" rtlCol="0" anchor="ctr"/>
          <a:lstStyle/>
          <a:p>
            <a:pPr algn="ctr" indent="0" marL="0">
              <a:buNone/>
            </a:pPr>
            <a:r>
              <a:rPr lang="en-US" sz="1300" b="1" dirty="0">
                <a:solidFill>
                  <a:srgbClr val="1A1033"/>
                </a:solidFill>
                <a:latin typeface="Calibri" pitchFamily="34" charset="0"/>
                <a:ea typeface="Calibri" pitchFamily="34" charset="-122"/>
                <a:cs typeface="Calibri" pitchFamily="34" charset="-120"/>
              </a:rPr>
              <a:t>Hasta 80,000 CFDIs</a:t>
            </a:r>
            <a:endParaRPr lang="en-US" sz="1300" dirty="0"/>
          </a:p>
        </p:txBody>
      </p:sp>
      <p:sp>
        <p:nvSpPr>
          <p:cNvPr id="50" name="Text 47"/>
          <p:cNvSpPr/>
          <p:nvPr/>
        </p:nvSpPr>
        <p:spPr>
          <a:xfrm>
            <a:off x="10195560" y="3493008"/>
            <a:ext cx="2011680" cy="274320"/>
          </a:xfrm>
          <a:prstGeom prst="rect">
            <a:avLst/>
          </a:prstGeom>
          <a:noFill/>
          <a:ln/>
        </p:spPr>
        <p:txBody>
          <a:bodyPr wrap="square" lIns="0" tIns="0" rIns="0" bIns="0" rtlCol="0" anchor="ctr"/>
          <a:lstStyle/>
          <a:p>
            <a:pPr algn="ctr" indent="0" marL="0">
              <a:buNone/>
            </a:pPr>
            <a:r>
              <a:rPr lang="en-US" sz="1100" dirty="0">
                <a:solidFill>
                  <a:srgbClr val="4B4265"/>
                </a:solidFill>
                <a:latin typeface="Calibri" pitchFamily="34" charset="0"/>
                <a:ea typeface="Calibri" pitchFamily="34" charset="-122"/>
                <a:cs typeface="Calibri" pitchFamily="34" charset="-120"/>
              </a:rPr>
              <a:t>en 5 años</a:t>
            </a:r>
            <a:endParaRPr lang="en-US" sz="1100" dirty="0"/>
          </a:p>
        </p:txBody>
      </p:sp>
      <p:sp>
        <p:nvSpPr>
          <p:cNvPr id="51" name="Shape 48"/>
          <p:cNvSpPr/>
          <p:nvPr/>
        </p:nvSpPr>
        <p:spPr>
          <a:xfrm>
            <a:off x="10332720" y="3931920"/>
            <a:ext cx="1737360" cy="365760"/>
          </a:xfrm>
          <a:prstGeom prst="roundRect">
            <a:avLst>
              <a:gd name="adj" fmla="val 20000"/>
            </a:avLst>
          </a:prstGeom>
          <a:solidFill>
            <a:srgbClr val="B6F0A0"/>
          </a:solidFill>
          <a:ln w="6350">
            <a:solidFill>
              <a:srgbClr val="6BDA4D"/>
            </a:solidFill>
            <a:prstDash val="solid"/>
          </a:ln>
        </p:spPr>
      </p:sp>
      <p:sp>
        <p:nvSpPr>
          <p:cNvPr id="52" name="Text 49"/>
          <p:cNvSpPr/>
          <p:nvPr/>
        </p:nvSpPr>
        <p:spPr>
          <a:xfrm>
            <a:off x="10332720" y="3931920"/>
            <a:ext cx="1737360" cy="365760"/>
          </a:xfrm>
          <a:prstGeom prst="rect">
            <a:avLst/>
          </a:prstGeom>
          <a:noFill/>
          <a:ln/>
        </p:spPr>
        <p:txBody>
          <a:bodyPr wrap="square" lIns="0" tIns="0" rIns="0" bIns="0" rtlCol="0" anchor="ctr"/>
          <a:lstStyle/>
          <a:p>
            <a:pPr algn="ctr" indent="0" marL="0">
              <a:buNone/>
            </a:pPr>
            <a:r>
              <a:rPr lang="en-US" sz="1100" b="1" dirty="0">
                <a:solidFill>
                  <a:srgbClr val="450C7D"/>
                </a:solidFill>
                <a:latin typeface="Calibri" pitchFamily="34" charset="0"/>
                <a:ea typeface="Calibri" pitchFamily="34" charset="-122"/>
                <a:cs typeface="Calibri" pitchFamily="34" charset="-120"/>
              </a:rPr>
              <a:t>30 días gratis</a:t>
            </a:r>
            <a:endParaRPr lang="en-US" sz="1100" dirty="0"/>
          </a:p>
        </p:txBody>
      </p:sp>
      <p:sp>
        <p:nvSpPr>
          <p:cNvPr id="53" name="Shape 50"/>
          <p:cNvSpPr/>
          <p:nvPr/>
        </p:nvSpPr>
        <p:spPr>
          <a:xfrm>
            <a:off x="10332720" y="4709160"/>
            <a:ext cx="1737360" cy="457200"/>
          </a:xfrm>
          <a:prstGeom prst="roundRect">
            <a:avLst>
              <a:gd name="adj" fmla="val 20000"/>
            </a:avLst>
          </a:prstGeom>
          <a:solidFill>
            <a:srgbClr val="F6F3FC"/>
          </a:solidFill>
          <a:ln w="9525">
            <a:solidFill>
              <a:srgbClr val="E4DEF2"/>
            </a:solidFill>
            <a:prstDash val="solid"/>
          </a:ln>
        </p:spPr>
      </p:sp>
      <p:sp>
        <p:nvSpPr>
          <p:cNvPr id="54" name="Text 51"/>
          <p:cNvSpPr/>
          <p:nvPr/>
        </p:nvSpPr>
        <p:spPr>
          <a:xfrm>
            <a:off x="10332720" y="4709160"/>
            <a:ext cx="1737360" cy="457200"/>
          </a:xfrm>
          <a:prstGeom prst="rect">
            <a:avLst/>
          </a:prstGeom>
          <a:noFill/>
          <a:ln/>
        </p:spPr>
        <p:txBody>
          <a:bodyPr wrap="square" lIns="0" tIns="0" rIns="0" bIns="0" rtlCol="0" anchor="ctr"/>
          <a:lstStyle/>
          <a:p>
            <a:pPr algn="ctr" indent="0" marL="0">
              <a:buNone/>
            </a:pPr>
            <a:r>
              <a:rPr lang="en-US" sz="1200" b="1" dirty="0">
                <a:solidFill>
                  <a:srgbClr val="450C7D"/>
                </a:solidFill>
                <a:latin typeface="Calibri" pitchFamily="34" charset="0"/>
                <a:ea typeface="Calibri" pitchFamily="34" charset="-122"/>
                <a:cs typeface="Calibri" pitchFamily="34" charset="-120"/>
              </a:rPr>
              <a:t>Suscribirme</a:t>
            </a:r>
            <a:endParaRPr lang="en-US" sz="1200" dirty="0"/>
          </a:p>
        </p:txBody>
      </p:sp>
      <p:sp>
        <p:nvSpPr>
          <p:cNvPr id="55" name="Shape 52"/>
          <p:cNvSpPr/>
          <p:nvPr/>
        </p:nvSpPr>
        <p:spPr>
          <a:xfrm>
            <a:off x="365760" y="5623560"/>
            <a:ext cx="11384280" cy="685800"/>
          </a:xfrm>
          <a:prstGeom prst="roundRect">
            <a:avLst>
              <a:gd name="adj" fmla="val 18667"/>
            </a:avLst>
          </a:prstGeom>
          <a:solidFill>
            <a:srgbClr val="EEFBE4"/>
          </a:solidFill>
          <a:ln w="9525">
            <a:solidFill>
              <a:srgbClr val="E4DEF2"/>
            </a:solidFill>
            <a:prstDash val="solid"/>
          </a:ln>
        </p:spPr>
      </p:sp>
      <p:sp>
        <p:nvSpPr>
          <p:cNvPr id="56" name="Text 53"/>
          <p:cNvSpPr/>
          <p:nvPr/>
        </p:nvSpPr>
        <p:spPr>
          <a:xfrm>
            <a:off x="457200" y="5623560"/>
            <a:ext cx="11201400" cy="685800"/>
          </a:xfrm>
          <a:prstGeom prst="rect">
            <a:avLst/>
          </a:prstGeom>
          <a:noFill/>
          <a:ln/>
        </p:spPr>
        <p:txBody>
          <a:bodyPr wrap="square" lIns="0" tIns="0" rIns="0" bIns="0" rtlCol="0" anchor="ctr"/>
          <a:lstStyle/>
          <a:p>
            <a:pPr algn="ctr" indent="0" marL="0">
              <a:buNone/>
            </a:pPr>
            <a:r>
              <a:rPr lang="en-US" sz="1300" b="1" dirty="0">
                <a:solidFill>
                  <a:srgbClr val="450C7D"/>
                </a:solidFill>
                <a:latin typeface="Calibri" pitchFamily="34" charset="0"/>
                <a:ea typeface="Calibri" pitchFamily="34" charset="-122"/>
                <a:cs typeface="Calibri" pitchFamily="34" charset="-120"/>
              </a:rPr>
              <a:t>Todos los planes incluyen:  Facturación segura con Stripe  ·  Cancelación cuando quieras  ·  Soporte por correo  ·  30 días gratis</a:t>
            </a:r>
            <a:endParaRPr lang="en-US" sz="1300" dirty="0"/>
          </a:p>
        </p:txBody>
      </p:sp>
      <p:sp>
        <p:nvSpPr>
          <p:cNvPr id="57" name="Text 54"/>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1 · Fundamentos</a:t>
            </a:r>
            <a:endParaRPr lang="en-US" sz="1000" dirty="0"/>
          </a:p>
        </p:txBody>
      </p:sp>
      <p:sp>
        <p:nvSpPr>
          <p:cNvPr id="58" name="Text 55"/>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450C7D"/>
        </a:solidFill>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4622AA">
              <a:alpha val="60000"/>
            </a:srgbClr>
          </a:solidFill>
          <a:ln/>
        </p:spPr>
      </p:sp>
      <p:sp>
        <p:nvSpPr>
          <p:cNvPr id="3" name="Shape 1"/>
          <p:cNvSpPr/>
          <p:nvPr/>
        </p:nvSpPr>
        <p:spPr>
          <a:xfrm>
            <a:off x="9144000" y="3200400"/>
            <a:ext cx="4114800" cy="4114800"/>
          </a:xfrm>
          <a:prstGeom prst="ellipse">
            <a:avLst/>
          </a:prstGeom>
          <a:solidFill>
            <a:srgbClr val="6BDA4D">
              <a:alpha val="55000"/>
            </a:srgbClr>
          </a:solidFill>
          <a:ln/>
        </p:spPr>
      </p:sp>
      <p:sp>
        <p:nvSpPr>
          <p:cNvPr id="4" name="Text 2"/>
          <p:cNvSpPr/>
          <p:nvPr/>
        </p:nvSpPr>
        <p:spPr>
          <a:xfrm>
            <a:off x="822960" y="2011680"/>
            <a:ext cx="7315200" cy="548640"/>
          </a:xfrm>
          <a:prstGeom prst="rect">
            <a:avLst/>
          </a:prstGeom>
          <a:noFill/>
          <a:ln/>
        </p:spPr>
        <p:txBody>
          <a:bodyPr wrap="square" lIns="0" tIns="0" rIns="0" bIns="0" rtlCol="0" anchor="ctr"/>
          <a:lstStyle/>
          <a:p>
            <a:pPr algn="l" indent="0" marL="0">
              <a:buNone/>
            </a:pPr>
            <a:r>
              <a:rPr lang="en-US" sz="2200" b="1" dirty="0">
                <a:solidFill>
                  <a:srgbClr val="AEDB4A"/>
                </a:solidFill>
                <a:latin typeface="Calibri" pitchFamily="34" charset="0"/>
                <a:ea typeface="Calibri" pitchFamily="34" charset="-122"/>
                <a:cs typeface="Calibri" pitchFamily="34" charset="-120"/>
              </a:rPr>
              <a:t>Módulo 2</a:t>
            </a:r>
            <a:endParaRPr lang="en-US" sz="2200" dirty="0"/>
          </a:p>
        </p:txBody>
      </p:sp>
      <p:sp>
        <p:nvSpPr>
          <p:cNvPr id="5" name="Text 3"/>
          <p:cNvSpPr/>
          <p:nvPr/>
        </p:nvSpPr>
        <p:spPr>
          <a:xfrm>
            <a:off x="822960" y="2606040"/>
            <a:ext cx="9144000" cy="1554480"/>
          </a:xfrm>
          <a:prstGeom prst="rect">
            <a:avLst/>
          </a:prstGeom>
          <a:noFill/>
          <a:ln/>
        </p:spPr>
        <p:txBody>
          <a:bodyPr wrap="square" lIns="0" tIns="0" rIns="0" bIns="0" rtlCol="0" anchor="t"/>
          <a:lstStyle/>
          <a:p>
            <a:pPr algn="l" indent="0" marL="0">
              <a:buNone/>
            </a:pPr>
            <a:r>
              <a:rPr lang="en-US" sz="5400" b="1" dirty="0">
                <a:solidFill>
                  <a:srgbClr val="FFFFFF"/>
                </a:solidFill>
                <a:latin typeface="Calibri" pitchFamily="34" charset="0"/>
                <a:ea typeface="Calibri" pitchFamily="34" charset="-122"/>
                <a:cs typeface="Calibri" pitchFamily="34" charset="-120"/>
              </a:rPr>
              <a:t>Onboarding y accesos</a:t>
            </a:r>
            <a:endParaRPr lang="en-US" sz="5400" dirty="0"/>
          </a:p>
        </p:txBody>
      </p:sp>
      <p:sp>
        <p:nvSpPr>
          <p:cNvPr id="6" name="Text 4"/>
          <p:cNvSpPr/>
          <p:nvPr/>
        </p:nvSpPr>
        <p:spPr>
          <a:xfrm>
            <a:off x="822960" y="4297680"/>
            <a:ext cx="9144000" cy="548640"/>
          </a:xfrm>
          <a:prstGeom prst="rect">
            <a:avLst/>
          </a:prstGeom>
          <a:noFill/>
          <a:ln/>
        </p:spPr>
        <p:txBody>
          <a:bodyPr wrap="square" lIns="0" tIns="0" rIns="0" bIns="0" rtlCol="0" anchor="ctr"/>
          <a:lstStyle/>
          <a:p>
            <a:pPr algn="l" indent="0" marL="0">
              <a:buNone/>
            </a:pPr>
            <a:r>
              <a:rPr lang="en-US" sz="1800" i="1" dirty="0">
                <a:solidFill>
                  <a:srgbClr val="B6F0A0"/>
                </a:solidFill>
                <a:latin typeface="Calibri" pitchFamily="34" charset="0"/>
                <a:ea typeface="Calibri" pitchFamily="34" charset="-122"/>
                <a:cs typeface="Calibri" pitchFamily="34" charset="-120"/>
              </a:rPr>
              <a:t>Del registro al primer RFC activo, más equipos multi-usuario</a:t>
            </a:r>
            <a:endParaRPr lang="en-US" sz="1800" dirty="0"/>
          </a:p>
        </p:txBody>
      </p:sp>
      <p:pic>
        <p:nvPicPr>
          <p:cNvPr id="7" name="Image 0" descr="/sessions/relaxed-awesome-albattani/mnt/outputs/logo-blanco.png">    </p:cNvPr>
          <p:cNvPicPr>
            <a:picLocks noChangeAspect="1"/>
          </p:cNvPicPr>
          <p:nvPr/>
        </p:nvPicPr>
        <p:blipFill>
          <a:blip r:embed="rId1"/>
          <a:stretch>
            <a:fillRect/>
          </a:stretch>
        </p:blipFill>
        <p:spPr>
          <a:xfrm>
            <a:off x="9601200" y="4937760"/>
            <a:ext cx="1645920" cy="16459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Primer inicio: alta, e.firma y RFC</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Los 4 pasos para activar tu cuenta</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640080" y="1920240"/>
            <a:ext cx="685800" cy="685800"/>
          </a:xfrm>
          <a:prstGeom prst="ellipse">
            <a:avLst/>
          </a:prstGeom>
          <a:solidFill>
            <a:srgbClr val="4622AA"/>
          </a:solidFill>
          <a:ln/>
        </p:spPr>
      </p:sp>
      <p:sp>
        <p:nvSpPr>
          <p:cNvPr id="9" name="Text 6"/>
          <p:cNvSpPr/>
          <p:nvPr/>
        </p:nvSpPr>
        <p:spPr>
          <a:xfrm>
            <a:off x="640080" y="192024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7"/>
          <p:cNvSpPr/>
          <p:nvPr/>
        </p:nvSpPr>
        <p:spPr>
          <a:xfrm>
            <a:off x="1554480" y="1828800"/>
            <a:ext cx="3657600" cy="45720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Regístrate</a:t>
            </a:r>
            <a:endParaRPr lang="en-US" sz="1800" dirty="0"/>
          </a:p>
        </p:txBody>
      </p:sp>
      <p:sp>
        <p:nvSpPr>
          <p:cNvPr id="11" name="Text 8"/>
          <p:cNvSpPr/>
          <p:nvPr/>
        </p:nvSpPr>
        <p:spPr>
          <a:xfrm>
            <a:off x="1554480" y="2286000"/>
            <a:ext cx="7772400" cy="502920"/>
          </a:xfrm>
          <a:prstGeom prst="rect">
            <a:avLst/>
          </a:prstGeom>
          <a:noFill/>
          <a:ln/>
        </p:spPr>
        <p:txBody>
          <a:bodyPr wrap="square" lIns="0" tIns="0" rIns="0" bIns="0" rtlCol="0" anchor="t"/>
          <a:lstStyle/>
          <a:p>
            <a:pPr indent="0" marL="0">
              <a:buNone/>
            </a:pPr>
            <a:r>
              <a:rPr lang="en-US" sz="1300" dirty="0">
                <a:solidFill>
                  <a:srgbClr val="4B4265"/>
                </a:solidFill>
                <a:latin typeface="Calibri" pitchFamily="34" charset="0"/>
                <a:ea typeface="Calibri" pitchFamily="34" charset="-122"/>
                <a:cs typeface="Calibri" pitchFamily="34" charset="-120"/>
              </a:rPr>
              <a:t>Crea tu cuenta con correo y contraseña o entra directo con Google. Recibirás un correo de bienvenida.</a:t>
            </a:r>
            <a:endParaRPr lang="en-US" sz="1300" dirty="0"/>
          </a:p>
        </p:txBody>
      </p:sp>
      <p:sp>
        <p:nvSpPr>
          <p:cNvPr id="12" name="Shape 9"/>
          <p:cNvSpPr/>
          <p:nvPr/>
        </p:nvSpPr>
        <p:spPr>
          <a:xfrm>
            <a:off x="640080" y="2971800"/>
            <a:ext cx="685800" cy="685800"/>
          </a:xfrm>
          <a:prstGeom prst="ellipse">
            <a:avLst/>
          </a:prstGeom>
          <a:solidFill>
            <a:srgbClr val="4833D6"/>
          </a:solidFill>
          <a:ln/>
        </p:spPr>
      </p:sp>
      <p:sp>
        <p:nvSpPr>
          <p:cNvPr id="13" name="Text 10"/>
          <p:cNvSpPr/>
          <p:nvPr/>
        </p:nvSpPr>
        <p:spPr>
          <a:xfrm>
            <a:off x="640080" y="29718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1"/>
          <p:cNvSpPr/>
          <p:nvPr/>
        </p:nvSpPr>
        <p:spPr>
          <a:xfrm>
            <a:off x="1554480" y="2880360"/>
            <a:ext cx="3657600" cy="45720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Confirma tu correo</a:t>
            </a:r>
            <a:endParaRPr lang="en-US" sz="1800" dirty="0"/>
          </a:p>
        </p:txBody>
      </p:sp>
      <p:sp>
        <p:nvSpPr>
          <p:cNvPr id="15" name="Text 12"/>
          <p:cNvSpPr/>
          <p:nvPr/>
        </p:nvSpPr>
        <p:spPr>
          <a:xfrm>
            <a:off x="1554480" y="3337560"/>
            <a:ext cx="7772400" cy="502920"/>
          </a:xfrm>
          <a:prstGeom prst="rect">
            <a:avLst/>
          </a:prstGeom>
          <a:noFill/>
          <a:ln/>
        </p:spPr>
        <p:txBody>
          <a:bodyPr wrap="square" lIns="0" tIns="0" rIns="0" bIns="0" rtlCol="0" anchor="t"/>
          <a:lstStyle/>
          <a:p>
            <a:pPr indent="0" marL="0">
              <a:buNone/>
            </a:pPr>
            <a:r>
              <a:rPr lang="en-US" sz="1300" dirty="0">
                <a:solidFill>
                  <a:srgbClr val="4B4265"/>
                </a:solidFill>
                <a:latin typeface="Calibri" pitchFamily="34" charset="0"/>
                <a:ea typeface="Calibri" pitchFamily="34" charset="-122"/>
                <a:cs typeface="Calibri" pitchFamily="34" charset="-120"/>
              </a:rPr>
              <a:t>Haz clic en el enlace que llegó a tu bandeja. Con eso ya puedes iniciar sesión.</a:t>
            </a:r>
            <a:endParaRPr lang="en-US" sz="1300" dirty="0"/>
          </a:p>
        </p:txBody>
      </p:sp>
      <p:sp>
        <p:nvSpPr>
          <p:cNvPr id="16" name="Shape 13"/>
          <p:cNvSpPr/>
          <p:nvPr/>
        </p:nvSpPr>
        <p:spPr>
          <a:xfrm>
            <a:off x="640080" y="4023360"/>
            <a:ext cx="685800" cy="685800"/>
          </a:xfrm>
          <a:prstGeom prst="ellipse">
            <a:avLst/>
          </a:prstGeom>
          <a:solidFill>
            <a:srgbClr val="8B42D4"/>
          </a:solidFill>
          <a:ln/>
        </p:spPr>
      </p:sp>
      <p:sp>
        <p:nvSpPr>
          <p:cNvPr id="17" name="Text 14"/>
          <p:cNvSpPr/>
          <p:nvPr/>
        </p:nvSpPr>
        <p:spPr>
          <a:xfrm>
            <a:off x="640080" y="402336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554480" y="3931920"/>
            <a:ext cx="3657600" cy="45720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Sube tu e.firma</a:t>
            </a:r>
            <a:endParaRPr lang="en-US" sz="1800" dirty="0"/>
          </a:p>
        </p:txBody>
      </p:sp>
      <p:sp>
        <p:nvSpPr>
          <p:cNvPr id="19" name="Text 16"/>
          <p:cNvSpPr/>
          <p:nvPr/>
        </p:nvSpPr>
        <p:spPr>
          <a:xfrm>
            <a:off x="1554480" y="4389120"/>
            <a:ext cx="7772400" cy="502920"/>
          </a:xfrm>
          <a:prstGeom prst="rect">
            <a:avLst/>
          </a:prstGeom>
          <a:noFill/>
          <a:ln/>
        </p:spPr>
        <p:txBody>
          <a:bodyPr wrap="square" lIns="0" tIns="0" rIns="0" bIns="0" rtlCol="0" anchor="t"/>
          <a:lstStyle/>
          <a:p>
            <a:pPr indent="0" marL="0">
              <a:buNone/>
            </a:pPr>
            <a:r>
              <a:rPr lang="en-US" sz="1300" dirty="0">
                <a:solidFill>
                  <a:srgbClr val="4B4265"/>
                </a:solidFill>
                <a:latin typeface="Calibri" pitchFamily="34" charset="0"/>
                <a:ea typeface="Calibri" pitchFamily="34" charset="-122"/>
                <a:cs typeface="Calibri" pitchFamily="34" charset="-120"/>
              </a:rPr>
              <a:t>Carga los archivos de tu firma electrónica del SAT. AICuenta los usará para traer tus facturas automáticamente.</a:t>
            </a:r>
            <a:endParaRPr lang="en-US" sz="1300" dirty="0"/>
          </a:p>
        </p:txBody>
      </p:sp>
      <p:sp>
        <p:nvSpPr>
          <p:cNvPr id="20" name="Shape 17"/>
          <p:cNvSpPr/>
          <p:nvPr/>
        </p:nvSpPr>
        <p:spPr>
          <a:xfrm>
            <a:off x="640080" y="5074920"/>
            <a:ext cx="685800" cy="685800"/>
          </a:xfrm>
          <a:prstGeom prst="ellipse">
            <a:avLst/>
          </a:prstGeom>
          <a:solidFill>
            <a:srgbClr val="6BDA4D"/>
          </a:solidFill>
          <a:ln/>
        </p:spPr>
      </p:sp>
      <p:sp>
        <p:nvSpPr>
          <p:cNvPr id="21" name="Text 18"/>
          <p:cNvSpPr/>
          <p:nvPr/>
        </p:nvSpPr>
        <p:spPr>
          <a:xfrm>
            <a:off x="640080" y="507492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2" name="Text 19"/>
          <p:cNvSpPr/>
          <p:nvPr/>
        </p:nvSpPr>
        <p:spPr>
          <a:xfrm>
            <a:off x="1554480" y="4983480"/>
            <a:ext cx="3657600" cy="45720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Registra tu RFC</a:t>
            </a:r>
            <a:endParaRPr lang="en-US" sz="1800" dirty="0"/>
          </a:p>
        </p:txBody>
      </p:sp>
      <p:sp>
        <p:nvSpPr>
          <p:cNvPr id="23" name="Text 20"/>
          <p:cNvSpPr/>
          <p:nvPr/>
        </p:nvSpPr>
        <p:spPr>
          <a:xfrm>
            <a:off x="1554480" y="5440680"/>
            <a:ext cx="7772400" cy="502920"/>
          </a:xfrm>
          <a:prstGeom prst="rect">
            <a:avLst/>
          </a:prstGeom>
          <a:noFill/>
          <a:ln/>
        </p:spPr>
        <p:txBody>
          <a:bodyPr wrap="square" lIns="0" tIns="0" rIns="0" bIns="0" rtlCol="0" anchor="t"/>
          <a:lstStyle/>
          <a:p>
            <a:pPr indent="0" marL="0">
              <a:buNone/>
            </a:pPr>
            <a:r>
              <a:rPr lang="en-US" sz="1300" dirty="0">
                <a:solidFill>
                  <a:srgbClr val="4B4265"/>
                </a:solidFill>
                <a:latin typeface="Calibri" pitchFamily="34" charset="0"/>
                <a:ea typeface="Calibri" pitchFamily="34" charset="-122"/>
                <a:cs typeface="Calibri" pitchFamily="34" charset="-120"/>
              </a:rPr>
              <a:t>Indica el RFC con el que operarás. Desde ahí ya verás tus KPIs, CFDIs y estados financieros.</a:t>
            </a:r>
            <a:endParaRPr lang="en-US" sz="1300" dirty="0"/>
          </a:p>
        </p:txBody>
      </p:sp>
      <p:sp>
        <p:nvSpPr>
          <p:cNvPr id="24" name="Shape 21"/>
          <p:cNvSpPr/>
          <p:nvPr/>
        </p:nvSpPr>
        <p:spPr>
          <a:xfrm>
            <a:off x="9692640" y="1828800"/>
            <a:ext cx="2103120" cy="4206240"/>
          </a:xfrm>
          <a:prstGeom prst="roundRect">
            <a:avLst>
              <a:gd name="adj" fmla="val 6087"/>
            </a:avLst>
          </a:prstGeom>
          <a:solidFill>
            <a:srgbClr val="EEFBE4"/>
          </a:solidFill>
          <a:ln w="9525">
            <a:solidFill>
              <a:srgbClr val="E4DEF2"/>
            </a:solidFill>
            <a:prstDash val="solid"/>
          </a:ln>
        </p:spPr>
      </p:sp>
      <p:sp>
        <p:nvSpPr>
          <p:cNvPr id="25" name="Shape 22"/>
          <p:cNvSpPr/>
          <p:nvPr/>
        </p:nvSpPr>
        <p:spPr>
          <a:xfrm>
            <a:off x="9829800" y="1965960"/>
            <a:ext cx="457200" cy="457200"/>
          </a:xfrm>
          <a:prstGeom prst="ellipse">
            <a:avLst/>
          </a:prstGeom>
          <a:solidFill>
            <a:srgbClr val="6BDA4D"/>
          </a:solidFill>
          <a:ln/>
        </p:spPr>
      </p:sp>
      <p:sp>
        <p:nvSpPr>
          <p:cNvPr id="26" name="Text 23"/>
          <p:cNvSpPr/>
          <p:nvPr/>
        </p:nvSpPr>
        <p:spPr>
          <a:xfrm>
            <a:off x="9829800" y="196596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7" name="Text 24"/>
          <p:cNvSpPr/>
          <p:nvPr/>
        </p:nvSpPr>
        <p:spPr>
          <a:xfrm>
            <a:off x="10378440" y="1965960"/>
            <a:ext cx="1371600" cy="457200"/>
          </a:xfrm>
          <a:prstGeom prst="rect">
            <a:avLst/>
          </a:prstGeom>
          <a:noFill/>
          <a:ln/>
        </p:spPr>
        <p:txBody>
          <a:bodyPr wrap="square" lIns="0" tIns="0" rIns="0" bIns="0" rtlCol="0" anchor="ctr"/>
          <a:lstStyle/>
          <a:p>
            <a:pPr indent="0" marL="0">
              <a:buNone/>
            </a:pPr>
            <a:r>
              <a:rPr lang="en-US" sz="1200" b="1" dirty="0">
                <a:solidFill>
                  <a:srgbClr val="450C7D"/>
                </a:solidFill>
                <a:latin typeface="Calibri" pitchFamily="34" charset="0"/>
                <a:ea typeface="Calibri" pitchFamily="34" charset="-122"/>
                <a:cs typeface="Calibri" pitchFamily="34" charset="-120"/>
              </a:rPr>
              <a:t>Tu e.firma está segura</a:t>
            </a:r>
            <a:endParaRPr lang="en-US" sz="1200" dirty="0"/>
          </a:p>
        </p:txBody>
      </p:sp>
      <p:sp>
        <p:nvSpPr>
          <p:cNvPr id="28" name="Text 25"/>
          <p:cNvSpPr/>
          <p:nvPr/>
        </p:nvSpPr>
        <p:spPr>
          <a:xfrm>
            <a:off x="9829800" y="2514600"/>
            <a:ext cx="1828800" cy="3291840"/>
          </a:xfrm>
          <a:prstGeom prst="rect">
            <a:avLst/>
          </a:prstGeom>
          <a:noFill/>
          <a:ln/>
        </p:spPr>
        <p:txBody>
          <a:bodyPr wrap="square" lIns="0" tIns="0" rIns="0" bIns="0" rtlCol="0" anchor="t"/>
          <a:lstStyle/>
          <a:p>
            <a:pPr indent="0" marL="0">
              <a:buNone/>
            </a:pPr>
            <a:r>
              <a:rPr lang="en-US" sz="1100" dirty="0">
                <a:solidFill>
                  <a:srgbClr val="1A1033"/>
                </a:solidFill>
                <a:latin typeface="Calibri" pitchFamily="34" charset="0"/>
                <a:ea typeface="Calibri" pitchFamily="34" charset="-122"/>
                <a:cs typeface="Calibri" pitchFamily="34" charset="-120"/>
              </a:rPr>
              <a:t>Se cifra y se usa únicamente para descargar tus comprobantes del SAT. Nadie más tiene acceso a ella.</a:t>
            </a:r>
            <a:endParaRPr lang="en-US" sz="1100" dirty="0"/>
          </a:p>
        </p:txBody>
      </p:sp>
      <p:sp>
        <p:nvSpPr>
          <p:cNvPr id="29" name="Text 26"/>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2 · Onboarding</a:t>
            </a:r>
            <a:endParaRPr lang="en-US" sz="1000" dirty="0"/>
          </a:p>
        </p:txBody>
      </p:sp>
      <p:sp>
        <p:nvSpPr>
          <p:cNvPr id="30" name="Text 27"/>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Equipos: roles y multi-usuario</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Quién puede hacer qué dentro de una cuenta</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828800"/>
            <a:ext cx="6949440" cy="4206240"/>
          </a:xfrm>
          <a:prstGeom prst="roundRect">
            <a:avLst>
              <a:gd name="adj" fmla="val 3043"/>
            </a:avLst>
          </a:prstGeom>
          <a:solidFill>
            <a:srgbClr val="FFFFFF"/>
          </a:solidFill>
          <a:ln w="9525">
            <a:solidFill>
              <a:srgbClr val="E4DEF2"/>
            </a:solidFill>
            <a:prstDash val="solid"/>
          </a:ln>
        </p:spPr>
      </p:sp>
      <p:sp>
        <p:nvSpPr>
          <p:cNvPr id="9" name="Text 6"/>
          <p:cNvSpPr/>
          <p:nvPr/>
        </p:nvSpPr>
        <p:spPr>
          <a:xfrm>
            <a:off x="777240" y="1920240"/>
            <a:ext cx="6400800" cy="411480"/>
          </a:xfrm>
          <a:prstGeom prst="rect">
            <a:avLst/>
          </a:prstGeom>
          <a:noFill/>
          <a:ln/>
        </p:spPr>
        <p:txBody>
          <a:bodyPr wrap="square" lIns="0" tIns="0" rIns="0" bIns="0" rtlCol="0" anchor="ctr"/>
          <a:lstStyle/>
          <a:p>
            <a:pPr indent="0" marL="0">
              <a:buNone/>
            </a:pPr>
            <a:r>
              <a:rPr lang="en-US" sz="1500" b="1" dirty="0">
                <a:solidFill>
                  <a:srgbClr val="450C7D"/>
                </a:solidFill>
                <a:latin typeface="Calibri" pitchFamily="34" charset="0"/>
                <a:ea typeface="Calibri" pitchFamily="34" charset="-122"/>
                <a:cs typeface="Calibri" pitchFamily="34" charset="-120"/>
              </a:rPr>
              <a:t>Los 3 tipos de usuario</a:t>
            </a:r>
            <a:endParaRPr lang="en-US" sz="1500" dirty="0"/>
          </a:p>
        </p:txBody>
      </p:sp>
      <p:sp>
        <p:nvSpPr>
          <p:cNvPr id="10" name="Shape 7"/>
          <p:cNvSpPr/>
          <p:nvPr/>
        </p:nvSpPr>
        <p:spPr>
          <a:xfrm>
            <a:off x="777240" y="2560320"/>
            <a:ext cx="502920" cy="502920"/>
          </a:xfrm>
          <a:prstGeom prst="ellipse">
            <a:avLst/>
          </a:prstGeom>
          <a:solidFill>
            <a:srgbClr val="450C7D"/>
          </a:solidFill>
          <a:ln/>
        </p:spPr>
      </p:sp>
      <p:sp>
        <p:nvSpPr>
          <p:cNvPr id="11" name="Text 8"/>
          <p:cNvSpPr/>
          <p:nvPr/>
        </p:nvSpPr>
        <p:spPr>
          <a:xfrm>
            <a:off x="777240" y="25603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a:t>
            </a:r>
            <a:endParaRPr lang="en-US" sz="2000" dirty="0"/>
          </a:p>
        </p:txBody>
      </p:sp>
      <p:sp>
        <p:nvSpPr>
          <p:cNvPr id="12" name="Text 9"/>
          <p:cNvSpPr/>
          <p:nvPr/>
        </p:nvSpPr>
        <p:spPr>
          <a:xfrm>
            <a:off x="1417320" y="2514600"/>
            <a:ext cx="5852160" cy="365760"/>
          </a:xfrm>
          <a:prstGeom prst="rect">
            <a:avLst/>
          </a:prstGeom>
          <a:noFill/>
          <a:ln/>
        </p:spPr>
        <p:txBody>
          <a:bodyPr wrap="square" lIns="0" tIns="0" rIns="0" bIns="0" rtlCol="0" anchor="ctr"/>
          <a:lstStyle/>
          <a:p>
            <a:pPr indent="0" marL="0">
              <a:buNone/>
            </a:pPr>
            <a:r>
              <a:rPr lang="en-US" sz="1500" b="1" dirty="0">
                <a:solidFill>
                  <a:srgbClr val="450C7D"/>
                </a:solidFill>
                <a:latin typeface="Calibri" pitchFamily="34" charset="0"/>
                <a:ea typeface="Calibri" pitchFamily="34" charset="-122"/>
                <a:cs typeface="Calibri" pitchFamily="34" charset="-120"/>
              </a:rPr>
              <a:t>Dueño</a:t>
            </a:r>
            <a:endParaRPr lang="en-US" sz="1500" dirty="0"/>
          </a:p>
        </p:txBody>
      </p:sp>
      <p:sp>
        <p:nvSpPr>
          <p:cNvPr id="13" name="Text 10"/>
          <p:cNvSpPr/>
          <p:nvPr/>
        </p:nvSpPr>
        <p:spPr>
          <a:xfrm>
            <a:off x="1417320" y="2880360"/>
            <a:ext cx="5852160" cy="640080"/>
          </a:xfrm>
          <a:prstGeom prst="rect">
            <a:avLst/>
          </a:prstGeom>
          <a:noFill/>
          <a:ln/>
        </p:spPr>
        <p:txBody>
          <a:bodyPr wrap="square" lIns="0" tIns="0" rIns="0" bIns="0" rtlCol="0" anchor="t"/>
          <a:lstStyle/>
          <a:p>
            <a:pPr indent="0" marL="0">
              <a:buNone/>
            </a:pPr>
            <a:r>
              <a:rPr lang="en-US" sz="1200" dirty="0">
                <a:solidFill>
                  <a:srgbClr val="1A1033"/>
                </a:solidFill>
                <a:latin typeface="Calibri" pitchFamily="34" charset="0"/>
                <a:ea typeface="Calibri" pitchFamily="34" charset="-122"/>
                <a:cs typeface="Calibri" pitchFamily="34" charset="-120"/>
              </a:rPr>
              <a:t>Es el titular de la cuenta. Administra el plan, invita miembros y ve toda la información.</a:t>
            </a:r>
            <a:endParaRPr lang="en-US" sz="1200" dirty="0"/>
          </a:p>
        </p:txBody>
      </p:sp>
      <p:sp>
        <p:nvSpPr>
          <p:cNvPr id="14" name="Shape 11"/>
          <p:cNvSpPr/>
          <p:nvPr/>
        </p:nvSpPr>
        <p:spPr>
          <a:xfrm>
            <a:off x="777240" y="3611880"/>
            <a:ext cx="502920" cy="502920"/>
          </a:xfrm>
          <a:prstGeom prst="ellipse">
            <a:avLst/>
          </a:prstGeom>
          <a:solidFill>
            <a:srgbClr val="4833D6"/>
          </a:solidFill>
          <a:ln/>
        </p:spPr>
      </p:sp>
      <p:sp>
        <p:nvSpPr>
          <p:cNvPr id="15" name="Text 12"/>
          <p:cNvSpPr/>
          <p:nvPr/>
        </p:nvSpPr>
        <p:spPr>
          <a:xfrm>
            <a:off x="777240" y="36118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M</a:t>
            </a:r>
            <a:endParaRPr lang="en-US" sz="2000" dirty="0"/>
          </a:p>
        </p:txBody>
      </p:sp>
      <p:sp>
        <p:nvSpPr>
          <p:cNvPr id="16" name="Text 13"/>
          <p:cNvSpPr/>
          <p:nvPr/>
        </p:nvSpPr>
        <p:spPr>
          <a:xfrm>
            <a:off x="1417320" y="3566160"/>
            <a:ext cx="5852160" cy="365760"/>
          </a:xfrm>
          <a:prstGeom prst="rect">
            <a:avLst/>
          </a:prstGeom>
          <a:noFill/>
          <a:ln/>
        </p:spPr>
        <p:txBody>
          <a:bodyPr wrap="square" lIns="0" tIns="0" rIns="0" bIns="0" rtlCol="0" anchor="ctr"/>
          <a:lstStyle/>
          <a:p>
            <a:pPr indent="0" marL="0">
              <a:buNone/>
            </a:pPr>
            <a:r>
              <a:rPr lang="en-US" sz="1500" b="1" dirty="0">
                <a:solidFill>
                  <a:srgbClr val="4833D6"/>
                </a:solidFill>
                <a:latin typeface="Calibri" pitchFamily="34" charset="0"/>
                <a:ea typeface="Calibri" pitchFamily="34" charset="-122"/>
                <a:cs typeface="Calibri" pitchFamily="34" charset="-120"/>
              </a:rPr>
              <a:t>Miembro</a:t>
            </a:r>
            <a:endParaRPr lang="en-US" sz="1500" dirty="0"/>
          </a:p>
        </p:txBody>
      </p:sp>
      <p:sp>
        <p:nvSpPr>
          <p:cNvPr id="17" name="Text 14"/>
          <p:cNvSpPr/>
          <p:nvPr/>
        </p:nvSpPr>
        <p:spPr>
          <a:xfrm>
            <a:off x="1417320" y="3931920"/>
            <a:ext cx="5852160" cy="640080"/>
          </a:xfrm>
          <a:prstGeom prst="rect">
            <a:avLst/>
          </a:prstGeom>
          <a:noFill/>
          <a:ln/>
        </p:spPr>
        <p:txBody>
          <a:bodyPr wrap="square" lIns="0" tIns="0" rIns="0" bIns="0" rtlCol="0" anchor="t"/>
          <a:lstStyle/>
          <a:p>
            <a:pPr indent="0" marL="0">
              <a:buNone/>
            </a:pPr>
            <a:r>
              <a:rPr lang="en-US" sz="1200" dirty="0">
                <a:solidFill>
                  <a:srgbClr val="1A1033"/>
                </a:solidFill>
                <a:latin typeface="Calibri" pitchFamily="34" charset="0"/>
                <a:ea typeface="Calibri" pitchFamily="34" charset="-122"/>
                <a:cs typeface="Calibri" pitchFamily="34" charset="-120"/>
              </a:rPr>
              <a:t>Colaborador invitado por el dueño. Solo ve los RFCs que le fueron asignados.</a:t>
            </a:r>
            <a:endParaRPr lang="en-US" sz="1200" dirty="0"/>
          </a:p>
        </p:txBody>
      </p:sp>
      <p:sp>
        <p:nvSpPr>
          <p:cNvPr id="18" name="Shape 15"/>
          <p:cNvSpPr/>
          <p:nvPr/>
        </p:nvSpPr>
        <p:spPr>
          <a:xfrm>
            <a:off x="777240" y="4663440"/>
            <a:ext cx="502920" cy="502920"/>
          </a:xfrm>
          <a:prstGeom prst="ellipse">
            <a:avLst/>
          </a:prstGeom>
          <a:solidFill>
            <a:srgbClr val="8B42D4"/>
          </a:solidFill>
          <a:ln/>
        </p:spPr>
      </p:sp>
      <p:sp>
        <p:nvSpPr>
          <p:cNvPr id="19" name="Text 16"/>
          <p:cNvSpPr/>
          <p:nvPr/>
        </p:nvSpPr>
        <p:spPr>
          <a:xfrm>
            <a:off x="777240" y="466344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20" name="Text 17"/>
          <p:cNvSpPr/>
          <p:nvPr/>
        </p:nvSpPr>
        <p:spPr>
          <a:xfrm>
            <a:off x="1417320" y="4617720"/>
            <a:ext cx="5852160" cy="365760"/>
          </a:xfrm>
          <a:prstGeom prst="rect">
            <a:avLst/>
          </a:prstGeom>
          <a:noFill/>
          <a:ln/>
        </p:spPr>
        <p:txBody>
          <a:bodyPr wrap="square" lIns="0" tIns="0" rIns="0" bIns="0" rtlCol="0" anchor="ctr"/>
          <a:lstStyle/>
          <a:p>
            <a:pPr indent="0" marL="0">
              <a:buNone/>
            </a:pPr>
            <a:r>
              <a:rPr lang="en-US" sz="1500" b="1" dirty="0">
                <a:solidFill>
                  <a:srgbClr val="8B42D4"/>
                </a:solidFill>
                <a:latin typeface="Calibri" pitchFamily="34" charset="0"/>
                <a:ea typeface="Calibri" pitchFamily="34" charset="-122"/>
                <a:cs typeface="Calibri" pitchFamily="34" charset="-120"/>
              </a:rPr>
              <a:t>Colaborador de despacho</a:t>
            </a:r>
            <a:endParaRPr lang="en-US" sz="1500" dirty="0"/>
          </a:p>
        </p:txBody>
      </p:sp>
      <p:sp>
        <p:nvSpPr>
          <p:cNvPr id="21" name="Text 18"/>
          <p:cNvSpPr/>
          <p:nvPr/>
        </p:nvSpPr>
        <p:spPr>
          <a:xfrm>
            <a:off x="1417320" y="4983480"/>
            <a:ext cx="5852160" cy="640080"/>
          </a:xfrm>
          <a:prstGeom prst="rect">
            <a:avLst/>
          </a:prstGeom>
          <a:noFill/>
          <a:ln/>
        </p:spPr>
        <p:txBody>
          <a:bodyPr wrap="square" lIns="0" tIns="0" rIns="0" bIns="0" rtlCol="0" anchor="t"/>
          <a:lstStyle/>
          <a:p>
            <a:pPr indent="0" marL="0">
              <a:buNone/>
            </a:pPr>
            <a:r>
              <a:rPr lang="en-US" sz="1200" dirty="0">
                <a:solidFill>
                  <a:srgbClr val="1A1033"/>
                </a:solidFill>
                <a:latin typeface="Calibri" pitchFamily="34" charset="0"/>
                <a:ea typeface="Calibri" pitchFamily="34" charset="-122"/>
                <a:cs typeface="Calibri" pitchFamily="34" charset="-120"/>
              </a:rPr>
              <a:t>Contador externo que atiende a varios clientes desde una sola vista.</a:t>
            </a:r>
            <a:endParaRPr lang="en-US" sz="1200" dirty="0"/>
          </a:p>
        </p:txBody>
      </p:sp>
      <p:sp>
        <p:nvSpPr>
          <p:cNvPr id="22" name="Shape 19"/>
          <p:cNvSpPr/>
          <p:nvPr/>
        </p:nvSpPr>
        <p:spPr>
          <a:xfrm>
            <a:off x="7772400" y="1828800"/>
            <a:ext cx="4023360" cy="4206240"/>
          </a:xfrm>
          <a:prstGeom prst="roundRect">
            <a:avLst>
              <a:gd name="adj" fmla="val 3182"/>
            </a:avLst>
          </a:prstGeom>
          <a:solidFill>
            <a:srgbClr val="F6F3FC"/>
          </a:solidFill>
          <a:ln w="9525">
            <a:solidFill>
              <a:srgbClr val="E4DEF2"/>
            </a:solidFill>
            <a:prstDash val="solid"/>
          </a:ln>
        </p:spPr>
      </p:sp>
      <p:sp>
        <p:nvSpPr>
          <p:cNvPr id="23" name="Text 20"/>
          <p:cNvSpPr/>
          <p:nvPr/>
        </p:nvSpPr>
        <p:spPr>
          <a:xfrm>
            <a:off x="8001000" y="1920240"/>
            <a:ext cx="3657600" cy="411480"/>
          </a:xfrm>
          <a:prstGeom prst="rect">
            <a:avLst/>
          </a:prstGeom>
          <a:noFill/>
          <a:ln/>
        </p:spPr>
        <p:txBody>
          <a:bodyPr wrap="square" lIns="0" tIns="0" rIns="0" bIns="0" rtlCol="0" anchor="ctr"/>
          <a:lstStyle/>
          <a:p>
            <a:pPr indent="0" marL="0">
              <a:buNone/>
            </a:pPr>
            <a:r>
              <a:rPr lang="en-US" sz="1500" b="1" dirty="0">
                <a:solidFill>
                  <a:srgbClr val="450C7D"/>
                </a:solidFill>
                <a:latin typeface="Calibri" pitchFamily="34" charset="0"/>
                <a:ea typeface="Calibri" pitchFamily="34" charset="-122"/>
                <a:cs typeface="Calibri" pitchFamily="34" charset="-120"/>
              </a:rPr>
              <a:t>¿Cuándo abrir cuenta multi?</a:t>
            </a:r>
            <a:endParaRPr lang="en-US" sz="1500" dirty="0"/>
          </a:p>
        </p:txBody>
      </p:sp>
      <p:sp>
        <p:nvSpPr>
          <p:cNvPr id="24" name="Text 21"/>
          <p:cNvSpPr/>
          <p:nvPr/>
        </p:nvSpPr>
        <p:spPr>
          <a:xfrm>
            <a:off x="8001000" y="2468880"/>
            <a:ext cx="3566160" cy="3429000"/>
          </a:xfrm>
          <a:prstGeom prst="rect">
            <a:avLst/>
          </a:prstGeom>
          <a:noFill/>
          <a:ln/>
        </p:spPr>
        <p:txBody>
          <a:bodyPr wrap="square" rtlCol="0" anchor="t"/>
          <a:lstStyle/>
          <a:p>
            <a:pPr marL="342900" indent="-342900">
              <a:spcAft>
                <a:spcPts val="800"/>
              </a:spcAft>
              <a:buSzPct val="100000"/>
              <a:buChar char="•"/>
            </a:pPr>
            <a:r>
              <a:rPr lang="en-US" sz="1200" dirty="0">
                <a:solidFill>
                  <a:srgbClr val="1A1033"/>
                </a:solidFill>
                <a:latin typeface="Calibri" pitchFamily="34" charset="0"/>
                <a:ea typeface="Calibri" pitchFamily="34" charset="-122"/>
                <a:cs typeface="Calibri" pitchFamily="34" charset="-120"/>
              </a:rPr>
              <a:t>Cuando tu contador y tú necesitan ver la misma información desde cuentas distintas.</a:t>
            </a:r>
            <a:endParaRPr lang="en-US" sz="1200" dirty="0"/>
          </a:p>
          <a:p>
            <a:pPr marL="342900" indent="-342900">
              <a:spcAft>
                <a:spcPts val="800"/>
              </a:spcAft>
              <a:buSzPct val="100000"/>
              <a:buChar char="•"/>
            </a:pPr>
            <a:r>
              <a:rPr lang="en-US" sz="1200" dirty="0">
                <a:solidFill>
                  <a:srgbClr val="1A1033"/>
                </a:solidFill>
                <a:latin typeface="Calibri" pitchFamily="34" charset="0"/>
                <a:ea typeface="Calibri" pitchFamily="34" charset="-122"/>
                <a:cs typeface="Calibri" pitchFamily="34" charset="-120"/>
              </a:rPr>
              <a:t>Cuando manejas varias empresas o RFCs y quieres separarlos por responsable.</a:t>
            </a:r>
            <a:endParaRPr lang="en-US" sz="1200" dirty="0"/>
          </a:p>
          <a:p>
            <a:pPr marL="342900" indent="-342900">
              <a:spcAft>
                <a:spcPts val="800"/>
              </a:spcAft>
              <a:buSzPct val="100000"/>
              <a:buChar char="•"/>
            </a:pPr>
            <a:r>
              <a:rPr lang="en-US" sz="1200" dirty="0">
                <a:solidFill>
                  <a:srgbClr val="1A1033"/>
                </a:solidFill>
                <a:latin typeface="Calibri" pitchFamily="34" charset="0"/>
                <a:ea typeface="Calibri" pitchFamily="34" charset="-122"/>
                <a:cs typeface="Calibri" pitchFamily="34" charset="-120"/>
              </a:rPr>
              <a:t>Cuando eres un despacho y cada colaborador atiende a clientes distintos.</a:t>
            </a:r>
            <a:endParaRPr lang="en-US" sz="1200" dirty="0"/>
          </a:p>
        </p:txBody>
      </p:sp>
      <p:sp>
        <p:nvSpPr>
          <p:cNvPr id="25" name="Text 2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2 · Onboarding</a:t>
            </a:r>
            <a:endParaRPr lang="en-US" sz="1000" dirty="0"/>
          </a:p>
        </p:txBody>
      </p:sp>
      <p:sp>
        <p:nvSpPr>
          <p:cNvPr id="26" name="Text 23"/>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450C7D"/>
        </a:solidFill>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4622AA">
              <a:alpha val="60000"/>
            </a:srgbClr>
          </a:solidFill>
          <a:ln/>
        </p:spPr>
      </p:sp>
      <p:sp>
        <p:nvSpPr>
          <p:cNvPr id="3" name="Shape 1"/>
          <p:cNvSpPr/>
          <p:nvPr/>
        </p:nvSpPr>
        <p:spPr>
          <a:xfrm>
            <a:off x="9144000" y="3200400"/>
            <a:ext cx="4114800" cy="4114800"/>
          </a:xfrm>
          <a:prstGeom prst="ellipse">
            <a:avLst/>
          </a:prstGeom>
          <a:solidFill>
            <a:srgbClr val="6BDA4D">
              <a:alpha val="55000"/>
            </a:srgbClr>
          </a:solidFill>
          <a:ln/>
        </p:spPr>
      </p:sp>
      <p:sp>
        <p:nvSpPr>
          <p:cNvPr id="4" name="Text 2"/>
          <p:cNvSpPr/>
          <p:nvPr/>
        </p:nvSpPr>
        <p:spPr>
          <a:xfrm>
            <a:off x="822960" y="2011680"/>
            <a:ext cx="7315200" cy="548640"/>
          </a:xfrm>
          <a:prstGeom prst="rect">
            <a:avLst/>
          </a:prstGeom>
          <a:noFill/>
          <a:ln/>
        </p:spPr>
        <p:txBody>
          <a:bodyPr wrap="square" lIns="0" tIns="0" rIns="0" bIns="0" rtlCol="0" anchor="ctr"/>
          <a:lstStyle/>
          <a:p>
            <a:pPr algn="l" indent="0" marL="0">
              <a:buNone/>
            </a:pPr>
            <a:r>
              <a:rPr lang="en-US" sz="2200" b="1" dirty="0">
                <a:solidFill>
                  <a:srgbClr val="AEDB4A"/>
                </a:solidFill>
                <a:latin typeface="Calibri" pitchFamily="34" charset="0"/>
                <a:ea typeface="Calibri" pitchFamily="34" charset="-122"/>
                <a:cs typeface="Calibri" pitchFamily="34" charset="-120"/>
              </a:rPr>
              <a:t>Módulo 3</a:t>
            </a:r>
            <a:endParaRPr lang="en-US" sz="2200" dirty="0"/>
          </a:p>
        </p:txBody>
      </p:sp>
      <p:sp>
        <p:nvSpPr>
          <p:cNvPr id="5" name="Text 3"/>
          <p:cNvSpPr/>
          <p:nvPr/>
        </p:nvSpPr>
        <p:spPr>
          <a:xfrm>
            <a:off x="822960" y="2606040"/>
            <a:ext cx="9144000" cy="1554480"/>
          </a:xfrm>
          <a:prstGeom prst="rect">
            <a:avLst/>
          </a:prstGeom>
          <a:noFill/>
          <a:ln/>
        </p:spPr>
        <p:txBody>
          <a:bodyPr wrap="square" lIns="0" tIns="0" rIns="0" bIns="0" rtlCol="0" anchor="t"/>
          <a:lstStyle/>
          <a:p>
            <a:pPr algn="l" indent="0" marL="0">
              <a:buNone/>
            </a:pPr>
            <a:r>
              <a:rPr lang="en-US" sz="5400" b="1" dirty="0">
                <a:solidFill>
                  <a:srgbClr val="FFFFFF"/>
                </a:solidFill>
                <a:latin typeface="Calibri" pitchFamily="34" charset="0"/>
                <a:ea typeface="Calibri" pitchFamily="34" charset="-122"/>
                <a:cs typeface="Calibri" pitchFamily="34" charset="-120"/>
              </a:rPr>
              <a:t>El contador operativo</a:t>
            </a:r>
            <a:endParaRPr lang="en-US" sz="5400" dirty="0"/>
          </a:p>
        </p:txBody>
      </p:sp>
      <p:sp>
        <p:nvSpPr>
          <p:cNvPr id="6" name="Text 4"/>
          <p:cNvSpPr/>
          <p:nvPr/>
        </p:nvSpPr>
        <p:spPr>
          <a:xfrm>
            <a:off x="822960" y="4297680"/>
            <a:ext cx="9144000" cy="548640"/>
          </a:xfrm>
          <a:prstGeom prst="rect">
            <a:avLst/>
          </a:prstGeom>
          <a:noFill/>
          <a:ln/>
        </p:spPr>
        <p:txBody>
          <a:bodyPr wrap="square" lIns="0" tIns="0" rIns="0" bIns="0" rtlCol="0" anchor="ctr"/>
          <a:lstStyle/>
          <a:p>
            <a:pPr algn="l" indent="0" marL="0">
              <a:buNone/>
            </a:pPr>
            <a:r>
              <a:rPr lang="en-US" sz="1800" i="1" dirty="0">
                <a:solidFill>
                  <a:srgbClr val="B6F0A0"/>
                </a:solidFill>
                <a:latin typeface="Calibri" pitchFamily="34" charset="0"/>
                <a:ea typeface="Calibri" pitchFamily="34" charset="-122"/>
                <a:cs typeface="Calibri" pitchFamily="34" charset="-120"/>
              </a:rPr>
              <a:t>Facturas, Estados Financieros, pagos y exportaciones</a:t>
            </a:r>
            <a:endParaRPr lang="en-US" sz="1800" dirty="0"/>
          </a:p>
        </p:txBody>
      </p:sp>
      <p:pic>
        <p:nvPicPr>
          <p:cNvPr id="7" name="Image 0" descr="/sessions/relaxed-awesome-albattani/mnt/outputs/logo-blanco.png">    </p:cNvPr>
          <p:cNvPicPr>
            <a:picLocks noChangeAspect="1"/>
          </p:cNvPicPr>
          <p:nvPr/>
        </p:nvPicPr>
        <p:blipFill>
          <a:blip r:embed="rId1"/>
          <a:stretch>
            <a:fillRect/>
          </a:stretch>
        </p:blipFill>
        <p:spPr>
          <a:xfrm>
            <a:off x="9601200" y="4937760"/>
            <a:ext cx="1645920" cy="16459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Catálogo de facturas (CFDIs)</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Listado completo con filtros por tipo, fecha, RFC y estado</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828800"/>
            <a:ext cx="2697480" cy="2743200"/>
          </a:xfrm>
          <a:prstGeom prst="roundRect">
            <a:avLst>
              <a:gd name="adj" fmla="val 4746"/>
            </a:avLst>
          </a:prstGeom>
          <a:solidFill>
            <a:srgbClr val="F6F3FC"/>
          </a:solidFill>
          <a:ln w="9525">
            <a:solidFill>
              <a:srgbClr val="E4DEF2"/>
            </a:solidFill>
            <a:prstDash val="solid"/>
          </a:ln>
        </p:spPr>
      </p:sp>
      <p:sp>
        <p:nvSpPr>
          <p:cNvPr id="9" name="Shape 6"/>
          <p:cNvSpPr/>
          <p:nvPr/>
        </p:nvSpPr>
        <p:spPr>
          <a:xfrm>
            <a:off x="731520" y="2011680"/>
            <a:ext cx="640080" cy="640080"/>
          </a:xfrm>
          <a:prstGeom prst="ellipse">
            <a:avLst/>
          </a:prstGeom>
          <a:solidFill>
            <a:srgbClr val="6BDA4D"/>
          </a:solidFill>
          <a:ln/>
        </p:spPr>
      </p:sp>
      <p:sp>
        <p:nvSpPr>
          <p:cNvPr id="10" name="Text 7"/>
          <p:cNvSpPr/>
          <p:nvPr/>
        </p:nvSpPr>
        <p:spPr>
          <a:xfrm>
            <a:off x="73152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a:t>
            </a:r>
            <a:endParaRPr lang="en-US" sz="2000" dirty="0"/>
          </a:p>
        </p:txBody>
      </p:sp>
      <p:sp>
        <p:nvSpPr>
          <p:cNvPr id="11" name="Text 8"/>
          <p:cNvSpPr/>
          <p:nvPr/>
        </p:nvSpPr>
        <p:spPr>
          <a:xfrm>
            <a:off x="1508760" y="2057400"/>
            <a:ext cx="1737360" cy="457200"/>
          </a:xfrm>
          <a:prstGeom prst="rect">
            <a:avLst/>
          </a:prstGeom>
          <a:noFill/>
          <a:ln/>
        </p:spPr>
        <p:txBody>
          <a:bodyPr wrap="square" lIns="0" tIns="0" rIns="0" bIns="0" rtlCol="0" anchor="ctr"/>
          <a:lstStyle/>
          <a:p>
            <a:pPr indent="0" marL="0">
              <a:buNone/>
            </a:pPr>
            <a:r>
              <a:rPr lang="en-US" sz="2000" b="1" dirty="0">
                <a:solidFill>
                  <a:srgbClr val="450C7D"/>
                </a:solidFill>
                <a:latin typeface="Calibri" pitchFamily="34" charset="0"/>
                <a:ea typeface="Calibri" pitchFamily="34" charset="-122"/>
                <a:cs typeface="Calibri" pitchFamily="34" charset="-120"/>
              </a:rPr>
              <a:t>Ingreso</a:t>
            </a:r>
            <a:endParaRPr lang="en-US" sz="2000" dirty="0"/>
          </a:p>
        </p:txBody>
      </p:sp>
      <p:sp>
        <p:nvSpPr>
          <p:cNvPr id="12" name="Text 9"/>
          <p:cNvSpPr/>
          <p:nvPr/>
        </p:nvSpPr>
        <p:spPr>
          <a:xfrm>
            <a:off x="731520" y="2743200"/>
            <a:ext cx="2377440" cy="1737360"/>
          </a:xfrm>
          <a:prstGeom prst="rect">
            <a:avLst/>
          </a:prstGeom>
          <a:noFill/>
          <a:ln/>
        </p:spPr>
        <p:txBody>
          <a:bodyPr wrap="square" lIns="0" tIns="0" rIns="0" bIns="0" rtlCol="0" anchor="t"/>
          <a:lstStyle/>
          <a:p>
            <a:pPr indent="0" marL="0">
              <a:buNone/>
            </a:pPr>
            <a:r>
              <a:rPr lang="en-US" sz="1200" dirty="0">
                <a:solidFill>
                  <a:srgbClr val="1A1033"/>
                </a:solidFill>
                <a:latin typeface="Calibri" pitchFamily="34" charset="0"/>
                <a:ea typeface="Calibri" pitchFamily="34" charset="-122"/>
                <a:cs typeface="Calibri" pitchFamily="34" charset="-120"/>
              </a:rPr>
              <a:t>Ventas y facturación. Base de ingresos gravados por IVA/ISR.</a:t>
            </a:r>
            <a:endParaRPr lang="en-US" sz="1200" dirty="0"/>
          </a:p>
        </p:txBody>
      </p:sp>
      <p:sp>
        <p:nvSpPr>
          <p:cNvPr id="13" name="Shape 10"/>
          <p:cNvSpPr/>
          <p:nvPr/>
        </p:nvSpPr>
        <p:spPr>
          <a:xfrm>
            <a:off x="3429000" y="1828800"/>
            <a:ext cx="2697480" cy="2743200"/>
          </a:xfrm>
          <a:prstGeom prst="roundRect">
            <a:avLst>
              <a:gd name="adj" fmla="val 4746"/>
            </a:avLst>
          </a:prstGeom>
          <a:solidFill>
            <a:srgbClr val="F6F3FC"/>
          </a:solidFill>
          <a:ln w="9525">
            <a:solidFill>
              <a:srgbClr val="E4DEF2"/>
            </a:solidFill>
            <a:prstDash val="solid"/>
          </a:ln>
        </p:spPr>
      </p:sp>
      <p:sp>
        <p:nvSpPr>
          <p:cNvPr id="14" name="Shape 11"/>
          <p:cNvSpPr/>
          <p:nvPr/>
        </p:nvSpPr>
        <p:spPr>
          <a:xfrm>
            <a:off x="3611880" y="2011680"/>
            <a:ext cx="640080" cy="640080"/>
          </a:xfrm>
          <a:prstGeom prst="ellipse">
            <a:avLst/>
          </a:prstGeom>
          <a:solidFill>
            <a:srgbClr val="4622AA"/>
          </a:solidFill>
          <a:ln/>
        </p:spPr>
      </p:sp>
      <p:sp>
        <p:nvSpPr>
          <p:cNvPr id="15" name="Text 12"/>
          <p:cNvSpPr/>
          <p:nvPr/>
        </p:nvSpPr>
        <p:spPr>
          <a:xfrm>
            <a:off x="361188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a:t>
            </a:r>
            <a:endParaRPr lang="en-US" sz="2000" dirty="0"/>
          </a:p>
        </p:txBody>
      </p:sp>
      <p:sp>
        <p:nvSpPr>
          <p:cNvPr id="16" name="Text 13"/>
          <p:cNvSpPr/>
          <p:nvPr/>
        </p:nvSpPr>
        <p:spPr>
          <a:xfrm>
            <a:off x="4389120" y="2057400"/>
            <a:ext cx="1737360" cy="457200"/>
          </a:xfrm>
          <a:prstGeom prst="rect">
            <a:avLst/>
          </a:prstGeom>
          <a:noFill/>
          <a:ln/>
        </p:spPr>
        <p:txBody>
          <a:bodyPr wrap="square" lIns="0" tIns="0" rIns="0" bIns="0" rtlCol="0" anchor="ctr"/>
          <a:lstStyle/>
          <a:p>
            <a:pPr indent="0" marL="0">
              <a:buNone/>
            </a:pPr>
            <a:r>
              <a:rPr lang="en-US" sz="2000" b="1" dirty="0">
                <a:solidFill>
                  <a:srgbClr val="450C7D"/>
                </a:solidFill>
                <a:latin typeface="Calibri" pitchFamily="34" charset="0"/>
                <a:ea typeface="Calibri" pitchFamily="34" charset="-122"/>
                <a:cs typeface="Calibri" pitchFamily="34" charset="-120"/>
              </a:rPr>
              <a:t>Egreso</a:t>
            </a:r>
            <a:endParaRPr lang="en-US" sz="2000" dirty="0"/>
          </a:p>
        </p:txBody>
      </p:sp>
      <p:sp>
        <p:nvSpPr>
          <p:cNvPr id="17" name="Text 14"/>
          <p:cNvSpPr/>
          <p:nvPr/>
        </p:nvSpPr>
        <p:spPr>
          <a:xfrm>
            <a:off x="3611880" y="2743200"/>
            <a:ext cx="2377440" cy="1737360"/>
          </a:xfrm>
          <a:prstGeom prst="rect">
            <a:avLst/>
          </a:prstGeom>
          <a:noFill/>
          <a:ln/>
        </p:spPr>
        <p:txBody>
          <a:bodyPr wrap="square" lIns="0" tIns="0" rIns="0" bIns="0" rtlCol="0" anchor="t"/>
          <a:lstStyle/>
          <a:p>
            <a:pPr indent="0" marL="0">
              <a:buNone/>
            </a:pPr>
            <a:r>
              <a:rPr lang="en-US" sz="1200" dirty="0">
                <a:solidFill>
                  <a:srgbClr val="1A1033"/>
                </a:solidFill>
                <a:latin typeface="Calibri" pitchFamily="34" charset="0"/>
                <a:ea typeface="Calibri" pitchFamily="34" charset="-122"/>
                <a:cs typeface="Calibri" pitchFamily="34" charset="-120"/>
              </a:rPr>
              <a:t>Notas de crédito ligadas a ingresos previos. Reducen la base.</a:t>
            </a:r>
            <a:endParaRPr lang="en-US" sz="1200" dirty="0"/>
          </a:p>
        </p:txBody>
      </p:sp>
      <p:sp>
        <p:nvSpPr>
          <p:cNvPr id="18" name="Shape 15"/>
          <p:cNvSpPr/>
          <p:nvPr/>
        </p:nvSpPr>
        <p:spPr>
          <a:xfrm>
            <a:off x="6309360" y="1828800"/>
            <a:ext cx="2697480" cy="2743200"/>
          </a:xfrm>
          <a:prstGeom prst="roundRect">
            <a:avLst>
              <a:gd name="adj" fmla="val 4746"/>
            </a:avLst>
          </a:prstGeom>
          <a:solidFill>
            <a:srgbClr val="F6F3FC"/>
          </a:solidFill>
          <a:ln w="9525">
            <a:solidFill>
              <a:srgbClr val="E4DEF2"/>
            </a:solidFill>
            <a:prstDash val="solid"/>
          </a:ln>
        </p:spPr>
      </p:sp>
      <p:sp>
        <p:nvSpPr>
          <p:cNvPr id="19" name="Shape 16"/>
          <p:cNvSpPr/>
          <p:nvPr/>
        </p:nvSpPr>
        <p:spPr>
          <a:xfrm>
            <a:off x="6492240" y="2011680"/>
            <a:ext cx="640080" cy="640080"/>
          </a:xfrm>
          <a:prstGeom prst="ellipse">
            <a:avLst/>
          </a:prstGeom>
          <a:solidFill>
            <a:srgbClr val="4833D6"/>
          </a:solidFill>
          <a:ln/>
        </p:spPr>
      </p:sp>
      <p:sp>
        <p:nvSpPr>
          <p:cNvPr id="20" name="Text 17"/>
          <p:cNvSpPr/>
          <p:nvPr/>
        </p:nvSpPr>
        <p:spPr>
          <a:xfrm>
            <a:off x="649224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N</a:t>
            </a:r>
            <a:endParaRPr lang="en-US" sz="2000" dirty="0"/>
          </a:p>
        </p:txBody>
      </p:sp>
      <p:sp>
        <p:nvSpPr>
          <p:cNvPr id="21" name="Text 18"/>
          <p:cNvSpPr/>
          <p:nvPr/>
        </p:nvSpPr>
        <p:spPr>
          <a:xfrm>
            <a:off x="7269480" y="2057400"/>
            <a:ext cx="1737360" cy="457200"/>
          </a:xfrm>
          <a:prstGeom prst="rect">
            <a:avLst/>
          </a:prstGeom>
          <a:noFill/>
          <a:ln/>
        </p:spPr>
        <p:txBody>
          <a:bodyPr wrap="square" lIns="0" tIns="0" rIns="0" bIns="0" rtlCol="0" anchor="ctr"/>
          <a:lstStyle/>
          <a:p>
            <a:pPr indent="0" marL="0">
              <a:buNone/>
            </a:pPr>
            <a:r>
              <a:rPr lang="en-US" sz="2000" b="1" dirty="0">
                <a:solidFill>
                  <a:srgbClr val="450C7D"/>
                </a:solidFill>
                <a:latin typeface="Calibri" pitchFamily="34" charset="0"/>
                <a:ea typeface="Calibri" pitchFamily="34" charset="-122"/>
                <a:cs typeface="Calibri" pitchFamily="34" charset="-120"/>
              </a:rPr>
              <a:t>Nómina</a:t>
            </a:r>
            <a:endParaRPr lang="en-US" sz="2000" dirty="0"/>
          </a:p>
        </p:txBody>
      </p:sp>
      <p:sp>
        <p:nvSpPr>
          <p:cNvPr id="22" name="Text 19"/>
          <p:cNvSpPr/>
          <p:nvPr/>
        </p:nvSpPr>
        <p:spPr>
          <a:xfrm>
            <a:off x="6492240" y="2743200"/>
            <a:ext cx="2377440" cy="1737360"/>
          </a:xfrm>
          <a:prstGeom prst="rect">
            <a:avLst/>
          </a:prstGeom>
          <a:noFill/>
          <a:ln/>
        </p:spPr>
        <p:txBody>
          <a:bodyPr wrap="square" lIns="0" tIns="0" rIns="0" bIns="0" rtlCol="0" anchor="t"/>
          <a:lstStyle/>
          <a:p>
            <a:pPr indent="0" marL="0">
              <a:buNone/>
            </a:pPr>
            <a:r>
              <a:rPr lang="en-US" sz="1200" dirty="0">
                <a:solidFill>
                  <a:srgbClr val="1A1033"/>
                </a:solidFill>
                <a:latin typeface="Calibri" pitchFamily="34" charset="0"/>
                <a:ea typeface="Calibri" pitchFamily="34" charset="-122"/>
                <a:cs typeface="Calibri" pitchFamily="34" charset="-120"/>
              </a:rPr>
              <a:t>Recibos de nómina emitidos. Alimentan el módulo de nómina.</a:t>
            </a:r>
            <a:endParaRPr lang="en-US" sz="1200" dirty="0"/>
          </a:p>
        </p:txBody>
      </p:sp>
      <p:sp>
        <p:nvSpPr>
          <p:cNvPr id="23" name="Shape 20"/>
          <p:cNvSpPr/>
          <p:nvPr/>
        </p:nvSpPr>
        <p:spPr>
          <a:xfrm>
            <a:off x="9189720" y="1828800"/>
            <a:ext cx="2697480" cy="2743200"/>
          </a:xfrm>
          <a:prstGeom prst="roundRect">
            <a:avLst>
              <a:gd name="adj" fmla="val 4746"/>
            </a:avLst>
          </a:prstGeom>
          <a:solidFill>
            <a:srgbClr val="F6F3FC"/>
          </a:solidFill>
          <a:ln w="9525">
            <a:solidFill>
              <a:srgbClr val="E4DEF2"/>
            </a:solidFill>
            <a:prstDash val="solid"/>
          </a:ln>
        </p:spPr>
      </p:sp>
      <p:sp>
        <p:nvSpPr>
          <p:cNvPr id="24" name="Shape 21"/>
          <p:cNvSpPr/>
          <p:nvPr/>
        </p:nvSpPr>
        <p:spPr>
          <a:xfrm>
            <a:off x="9372600" y="2011680"/>
            <a:ext cx="640080" cy="640080"/>
          </a:xfrm>
          <a:prstGeom prst="ellipse">
            <a:avLst/>
          </a:prstGeom>
          <a:solidFill>
            <a:srgbClr val="8B42D4"/>
          </a:solidFill>
          <a:ln/>
        </p:spPr>
      </p:sp>
      <p:sp>
        <p:nvSpPr>
          <p:cNvPr id="25" name="Text 22"/>
          <p:cNvSpPr/>
          <p:nvPr/>
        </p:nvSpPr>
        <p:spPr>
          <a:xfrm>
            <a:off x="937260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a:t>
            </a:r>
            <a:endParaRPr lang="en-US" sz="2000" dirty="0"/>
          </a:p>
        </p:txBody>
      </p:sp>
      <p:sp>
        <p:nvSpPr>
          <p:cNvPr id="26" name="Text 23"/>
          <p:cNvSpPr/>
          <p:nvPr/>
        </p:nvSpPr>
        <p:spPr>
          <a:xfrm>
            <a:off x="10149840" y="2057400"/>
            <a:ext cx="1737360" cy="457200"/>
          </a:xfrm>
          <a:prstGeom prst="rect">
            <a:avLst/>
          </a:prstGeom>
          <a:noFill/>
          <a:ln/>
        </p:spPr>
        <p:txBody>
          <a:bodyPr wrap="square" lIns="0" tIns="0" rIns="0" bIns="0" rtlCol="0" anchor="ctr"/>
          <a:lstStyle/>
          <a:p>
            <a:pPr indent="0" marL="0">
              <a:buNone/>
            </a:pPr>
            <a:r>
              <a:rPr lang="en-US" sz="2000" b="1" dirty="0">
                <a:solidFill>
                  <a:srgbClr val="450C7D"/>
                </a:solidFill>
                <a:latin typeface="Calibri" pitchFamily="34" charset="0"/>
                <a:ea typeface="Calibri" pitchFamily="34" charset="-122"/>
                <a:cs typeface="Calibri" pitchFamily="34" charset="-120"/>
              </a:rPr>
              <a:t>Pago (REP)</a:t>
            </a:r>
            <a:endParaRPr lang="en-US" sz="2000" dirty="0"/>
          </a:p>
        </p:txBody>
      </p:sp>
      <p:sp>
        <p:nvSpPr>
          <p:cNvPr id="27" name="Text 24"/>
          <p:cNvSpPr/>
          <p:nvPr/>
        </p:nvSpPr>
        <p:spPr>
          <a:xfrm>
            <a:off x="9372600" y="2743200"/>
            <a:ext cx="2377440" cy="1737360"/>
          </a:xfrm>
          <a:prstGeom prst="rect">
            <a:avLst/>
          </a:prstGeom>
          <a:noFill/>
          <a:ln/>
        </p:spPr>
        <p:txBody>
          <a:bodyPr wrap="square" lIns="0" tIns="0" rIns="0" bIns="0" rtlCol="0" anchor="t"/>
          <a:lstStyle/>
          <a:p>
            <a:pPr indent="0" marL="0">
              <a:buNone/>
            </a:pPr>
            <a:r>
              <a:rPr lang="en-US" sz="1200" dirty="0">
                <a:solidFill>
                  <a:srgbClr val="1A1033"/>
                </a:solidFill>
                <a:latin typeface="Calibri" pitchFamily="34" charset="0"/>
                <a:ea typeface="Calibri" pitchFamily="34" charset="-122"/>
                <a:cs typeface="Calibri" pitchFamily="34" charset="-120"/>
              </a:rPr>
              <a:t>Complementos de pago. Conciliación con ingresos y flujo real.</a:t>
            </a:r>
            <a:endParaRPr lang="en-US" sz="1200" dirty="0"/>
          </a:p>
        </p:txBody>
      </p:sp>
      <p:sp>
        <p:nvSpPr>
          <p:cNvPr id="28" name="Shape 25"/>
          <p:cNvSpPr/>
          <p:nvPr/>
        </p:nvSpPr>
        <p:spPr>
          <a:xfrm>
            <a:off x="548640" y="4754880"/>
            <a:ext cx="11109960" cy="1508760"/>
          </a:xfrm>
          <a:prstGeom prst="roundRect">
            <a:avLst>
              <a:gd name="adj" fmla="val 8485"/>
            </a:avLst>
          </a:prstGeom>
          <a:solidFill>
            <a:srgbClr val="FFFFFF"/>
          </a:solidFill>
          <a:ln w="9525">
            <a:solidFill>
              <a:srgbClr val="E4DEF2"/>
            </a:solidFill>
            <a:prstDash val="solid"/>
          </a:ln>
        </p:spPr>
      </p:sp>
      <p:sp>
        <p:nvSpPr>
          <p:cNvPr id="29" name="Text 26"/>
          <p:cNvSpPr/>
          <p:nvPr/>
        </p:nvSpPr>
        <p:spPr>
          <a:xfrm>
            <a:off x="777240" y="4800600"/>
            <a:ext cx="10515600" cy="365760"/>
          </a:xfrm>
          <a:prstGeom prst="rect">
            <a:avLst/>
          </a:prstGeom>
          <a:noFill/>
          <a:ln/>
        </p:spPr>
        <p:txBody>
          <a:bodyPr wrap="square" lIns="0" tIns="0" rIns="0" bIns="0" rtlCol="0" anchor="ctr"/>
          <a:lstStyle/>
          <a:p>
            <a:pPr indent="0" marL="0">
              <a:buNone/>
            </a:pPr>
            <a:r>
              <a:rPr lang="en-US" sz="1300" b="1" dirty="0">
                <a:solidFill>
                  <a:srgbClr val="450C7D"/>
                </a:solidFill>
                <a:latin typeface="Calibri" pitchFamily="34" charset="0"/>
                <a:ea typeface="Calibri" pitchFamily="34" charset="-122"/>
                <a:cs typeface="Calibri" pitchFamily="34" charset="-120"/>
              </a:rPr>
              <a:t>Filtros disponibles en la vista</a:t>
            </a:r>
            <a:endParaRPr lang="en-US" sz="1300" dirty="0"/>
          </a:p>
        </p:txBody>
      </p:sp>
      <p:sp>
        <p:nvSpPr>
          <p:cNvPr id="30" name="Text 27"/>
          <p:cNvSpPr/>
          <p:nvPr/>
        </p:nvSpPr>
        <p:spPr>
          <a:xfrm>
            <a:off x="777240" y="5212080"/>
            <a:ext cx="10515600" cy="960120"/>
          </a:xfrm>
          <a:prstGeom prst="rect">
            <a:avLst/>
          </a:prstGeom>
          <a:noFill/>
          <a:ln/>
        </p:spPr>
        <p:txBody>
          <a:bodyPr wrap="square" lIns="0" tIns="0" rIns="0" bIns="0" rtlCol="0" anchor="t"/>
          <a:lstStyle/>
          <a:p>
            <a:pPr indent="0" marL="0">
              <a:buNone/>
            </a:pPr>
            <a:r>
              <a:rPr lang="en-US" sz="1300" dirty="0">
                <a:solidFill>
                  <a:srgbClr val="4B4265"/>
                </a:solidFill>
                <a:latin typeface="Calibri" pitchFamily="34" charset="0"/>
                <a:ea typeface="Calibri" pitchFamily="34" charset="-122"/>
                <a:cs typeface="Calibri" pitchFamily="34" charset="-120"/>
              </a:rPr>
              <a:t>Movimiento (Ingreso/Egreso) · Tipo (I/E/N/P) · Búsqueda de texto libre · Rango de fechas · RFC emisor/receptor · Estado (vigente/cancelado)  →  cada listado se descarga en Excel con un clic</a:t>
            </a:r>
            <a:endParaRPr lang="en-US" sz="1300" dirty="0"/>
          </a:p>
        </p:txBody>
      </p:sp>
      <p:sp>
        <p:nvSpPr>
          <p:cNvPr id="31" name="Text 2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3 · Contador operativo</a:t>
            </a:r>
            <a:endParaRPr lang="en-US" sz="1000" dirty="0"/>
          </a:p>
        </p:txBody>
      </p:sp>
      <p:sp>
        <p:nvSpPr>
          <p:cNvPr id="32" name="Text 29"/>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Estados Financieros</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Balance, resultados y flujo generados automáticamente</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Text 5"/>
          <p:cNvSpPr/>
          <p:nvPr/>
        </p:nvSpPr>
        <p:spPr>
          <a:xfrm>
            <a:off x="548640" y="1828800"/>
            <a:ext cx="5943600" cy="365760"/>
          </a:xfrm>
          <a:prstGeom prst="rect">
            <a:avLst/>
          </a:prstGeom>
          <a:noFill/>
          <a:ln/>
        </p:spPr>
        <p:txBody>
          <a:bodyPr wrap="square" lIns="0" tIns="0" rIns="0" bIns="0" rtlCol="0" anchor="ctr"/>
          <a:lstStyle/>
          <a:p>
            <a:pPr indent="0" marL="0">
              <a:buNone/>
            </a:pPr>
            <a:r>
              <a:rPr lang="en-US" sz="1500" b="1" dirty="0">
                <a:solidFill>
                  <a:srgbClr val="450C7D"/>
                </a:solidFill>
                <a:latin typeface="Calibri" pitchFamily="34" charset="0"/>
                <a:ea typeface="Calibri" pitchFamily="34" charset="-122"/>
                <a:cs typeface="Calibri" pitchFamily="34" charset="-120"/>
              </a:rPr>
              <a:t>Qué calcula automáticamente</a:t>
            </a:r>
            <a:endParaRPr lang="en-US" sz="1500" dirty="0"/>
          </a:p>
        </p:txBody>
      </p:sp>
      <p:sp>
        <p:nvSpPr>
          <p:cNvPr id="9" name="Text 6"/>
          <p:cNvSpPr/>
          <p:nvPr/>
        </p:nvSpPr>
        <p:spPr>
          <a:xfrm>
            <a:off x="548640" y="2286000"/>
            <a:ext cx="5943600" cy="3931920"/>
          </a:xfrm>
          <a:prstGeom prst="rect">
            <a:avLst/>
          </a:prstGeom>
          <a:noFill/>
          <a:ln/>
        </p:spPr>
        <p:txBody>
          <a:bodyPr wrap="square" rtlCol="0" anchor="t"/>
          <a:lstStyle/>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Base IVA por tasa: 16%, 8% fronterizo, 0% y exento.</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Trasladados y retenciones de ISR / IVA / IEPS.</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Cuadro de flujo de efectivo (cobrado y pagado).</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Desglose por concepto para auditoría rápida.</a:t>
            </a:r>
            <a:endParaRPr lang="en-US" sz="1400" dirty="0"/>
          </a:p>
          <a:p>
            <a:pPr marL="342900" indent="-342900">
              <a:spcAft>
                <a:spcPts val="800"/>
              </a:spcAft>
              <a:buSzPct val="100000"/>
              <a:buChar char="•"/>
            </a:pPr>
            <a:r>
              <a:rPr lang="en-US" sz="1400" dirty="0">
                <a:solidFill>
                  <a:srgbClr val="1A1033"/>
                </a:solidFill>
                <a:latin typeface="Calibri" pitchFamily="34" charset="0"/>
                <a:ea typeface="Calibri" pitchFamily="34" charset="-122"/>
                <a:cs typeface="Calibri" pitchFamily="34" charset="-120"/>
              </a:rPr>
              <a:t>Comparativo mensual para detectar anomalías.</a:t>
            </a:r>
            <a:endParaRPr lang="en-US" sz="1400" dirty="0"/>
          </a:p>
        </p:txBody>
      </p:sp>
      <p:sp>
        <p:nvSpPr>
          <p:cNvPr id="10" name="Shape 7"/>
          <p:cNvSpPr/>
          <p:nvPr/>
        </p:nvSpPr>
        <p:spPr>
          <a:xfrm>
            <a:off x="6675120" y="1828800"/>
            <a:ext cx="5029200" cy="4434840"/>
          </a:xfrm>
          <a:prstGeom prst="roundRect">
            <a:avLst>
              <a:gd name="adj" fmla="val 2887"/>
            </a:avLst>
          </a:prstGeom>
          <a:solidFill>
            <a:srgbClr val="F6F3FC"/>
          </a:solidFill>
          <a:ln w="9525">
            <a:solidFill>
              <a:srgbClr val="E4DEF2"/>
            </a:solidFill>
            <a:prstDash val="solid"/>
          </a:ln>
        </p:spPr>
      </p:sp>
      <p:sp>
        <p:nvSpPr>
          <p:cNvPr id="11" name="Shape 8"/>
          <p:cNvSpPr/>
          <p:nvPr/>
        </p:nvSpPr>
        <p:spPr>
          <a:xfrm>
            <a:off x="6858000" y="1965960"/>
            <a:ext cx="502920" cy="502920"/>
          </a:xfrm>
          <a:prstGeom prst="ellipse">
            <a:avLst/>
          </a:prstGeom>
          <a:solidFill>
            <a:srgbClr val="8B42D4"/>
          </a:solidFill>
          <a:ln/>
        </p:spPr>
      </p:sp>
      <p:sp>
        <p:nvSpPr>
          <p:cNvPr id="12" name="Text 9"/>
          <p:cNvSpPr/>
          <p:nvPr/>
        </p:nvSpPr>
        <p:spPr>
          <a:xfrm>
            <a:off x="6858000" y="196596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3" name="Text 10"/>
          <p:cNvSpPr/>
          <p:nvPr/>
        </p:nvSpPr>
        <p:spPr>
          <a:xfrm>
            <a:off x="7452360" y="1965960"/>
            <a:ext cx="4114800" cy="457200"/>
          </a:xfrm>
          <a:prstGeom prst="rect">
            <a:avLst/>
          </a:prstGeom>
          <a:noFill/>
          <a:ln/>
        </p:spPr>
        <p:txBody>
          <a:bodyPr wrap="square" lIns="0" tIns="0" rIns="0" bIns="0" rtlCol="0" anchor="ctr"/>
          <a:lstStyle/>
          <a:p>
            <a:pPr indent="0" marL="0">
              <a:buNone/>
            </a:pPr>
            <a:r>
              <a:rPr lang="en-US" sz="1700" b="1" dirty="0">
                <a:solidFill>
                  <a:srgbClr val="450C7D"/>
                </a:solidFill>
                <a:latin typeface="Calibri" pitchFamily="34" charset="0"/>
                <a:ea typeface="Calibri" pitchFamily="34" charset="-122"/>
                <a:cs typeface="Calibri" pitchFamily="34" charset="-120"/>
              </a:rPr>
              <a:t>Ventajas prácticas</a:t>
            </a:r>
            <a:endParaRPr lang="en-US" sz="1700" dirty="0"/>
          </a:p>
        </p:txBody>
      </p:sp>
      <p:sp>
        <p:nvSpPr>
          <p:cNvPr id="14" name="Text 11"/>
          <p:cNvSpPr/>
          <p:nvPr/>
        </p:nvSpPr>
        <p:spPr>
          <a:xfrm>
            <a:off x="6858000" y="2697480"/>
            <a:ext cx="4709160" cy="3383280"/>
          </a:xfrm>
          <a:prstGeom prst="rect">
            <a:avLst/>
          </a:prstGeom>
          <a:noFill/>
          <a:ln/>
        </p:spPr>
        <p:txBody>
          <a:bodyPr wrap="square" rtlCol="0" anchor="t"/>
          <a:lstStyle/>
          <a:p>
            <a:pPr marL="342900" indent="-342900">
              <a:spcAft>
                <a:spcPts val="600"/>
              </a:spcAft>
              <a:buSzPct val="100000"/>
              <a:buChar char="•"/>
            </a:pPr>
            <a:r>
              <a:rPr lang="en-US" sz="1200" dirty="0">
                <a:solidFill>
                  <a:srgbClr val="1A1033"/>
                </a:solidFill>
                <a:latin typeface="Calibri" pitchFamily="34" charset="0"/>
                <a:ea typeface="Calibri" pitchFamily="34" charset="-122"/>
                <a:cs typeface="Calibri" pitchFamily="34" charset="-120"/>
              </a:rPr>
              <a:t>Cero captura manual: los estados se arman directo desde tus CFDIs.</a:t>
            </a:r>
            <a:endParaRPr lang="en-US" sz="1200" dirty="0"/>
          </a:p>
          <a:p>
            <a:pPr marL="342900" indent="-342900">
              <a:spcAft>
                <a:spcPts val="600"/>
              </a:spcAft>
              <a:buSzPct val="100000"/>
              <a:buChar char="•"/>
            </a:pPr>
            <a:r>
              <a:rPr lang="en-US" sz="1200" dirty="0">
                <a:solidFill>
                  <a:srgbClr val="1A1033"/>
                </a:solidFill>
                <a:latin typeface="Calibri" pitchFamily="34" charset="0"/>
                <a:ea typeface="Calibri" pitchFamily="34" charset="-122"/>
                <a:cs typeface="Calibri" pitchFamily="34" charset="-120"/>
              </a:rPr>
              <a:t>Resultados en segundos, incluso con miles de facturas.</a:t>
            </a:r>
            <a:endParaRPr lang="en-US" sz="1200" dirty="0"/>
          </a:p>
          <a:p>
            <a:pPr marL="342900" indent="-342900">
              <a:spcAft>
                <a:spcPts val="600"/>
              </a:spcAft>
              <a:buSzPct val="100000"/>
              <a:buChar char="•"/>
            </a:pPr>
            <a:r>
              <a:rPr lang="en-US" sz="1200" dirty="0">
                <a:solidFill>
                  <a:srgbClr val="1A1033"/>
                </a:solidFill>
                <a:latin typeface="Calibri" pitchFamily="34" charset="0"/>
                <a:ea typeface="Calibri" pitchFamily="34" charset="-122"/>
                <a:cs typeface="Calibri" pitchFamily="34" charset="-120"/>
              </a:rPr>
              <a:t>Selecciona el mes y compara contra el anterior.</a:t>
            </a:r>
            <a:endParaRPr lang="en-US" sz="1200" dirty="0"/>
          </a:p>
          <a:p>
            <a:pPr marL="342900" indent="-342900">
              <a:spcAft>
                <a:spcPts val="600"/>
              </a:spcAft>
              <a:buSzPct val="100000"/>
              <a:buChar char="•"/>
            </a:pPr>
            <a:r>
              <a:rPr lang="en-US" sz="1200" dirty="0">
                <a:solidFill>
                  <a:srgbClr val="1A1033"/>
                </a:solidFill>
                <a:latin typeface="Calibri" pitchFamily="34" charset="0"/>
                <a:ea typeface="Calibri" pitchFamily="34" charset="-122"/>
                <a:cs typeface="Calibri" pitchFamily="34" charset="-120"/>
              </a:rPr>
              <a:t>Puedes descargar todo a Excel para tu papel de trabajo.</a:t>
            </a:r>
            <a:endParaRPr lang="en-US" sz="1200" dirty="0"/>
          </a:p>
          <a:p>
            <a:pPr marL="342900" indent="-342900">
              <a:spcAft>
                <a:spcPts val="600"/>
              </a:spcAft>
              <a:buSzPct val="100000"/>
              <a:buChar char="•"/>
            </a:pPr>
            <a:r>
              <a:rPr lang="en-US" sz="1200" dirty="0">
                <a:solidFill>
                  <a:srgbClr val="1A1033"/>
                </a:solidFill>
                <a:latin typeface="Calibri" pitchFamily="34" charset="0"/>
                <a:ea typeface="Calibri" pitchFamily="34" charset="-122"/>
                <a:cs typeface="Calibri" pitchFamily="34" charset="-120"/>
              </a:rPr>
              <a:t>Herramientas internas de validación cruzan los totales contra las facturas para detectar diferencias.</a:t>
            </a:r>
            <a:endParaRPr lang="en-US" sz="1200" dirty="0"/>
          </a:p>
        </p:txBody>
      </p:sp>
      <p:sp>
        <p:nvSpPr>
          <p:cNvPr id="15" name="Text 12"/>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3 · Contador operativo</a:t>
            </a:r>
            <a:endParaRPr lang="en-US" sz="1000" dirty="0"/>
          </a:p>
        </p:txBody>
      </p:sp>
      <p:sp>
        <p:nvSpPr>
          <p:cNvPr id="16" name="Text 13"/>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Pagos, flujo real y exportaciones</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Complementos de pago, dinero efectivamente cobrado y descargas</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828800"/>
            <a:ext cx="3520440" cy="4434840"/>
          </a:xfrm>
          <a:prstGeom prst="roundRect">
            <a:avLst>
              <a:gd name="adj" fmla="val 3636"/>
            </a:avLst>
          </a:prstGeom>
          <a:solidFill>
            <a:srgbClr val="FFFFFF"/>
          </a:solidFill>
          <a:ln w="9525">
            <a:solidFill>
              <a:srgbClr val="E4DEF2"/>
            </a:solidFill>
            <a:prstDash val="solid"/>
          </a:ln>
        </p:spPr>
      </p:sp>
      <p:sp>
        <p:nvSpPr>
          <p:cNvPr id="9" name="Shape 6"/>
          <p:cNvSpPr/>
          <p:nvPr/>
        </p:nvSpPr>
        <p:spPr>
          <a:xfrm>
            <a:off x="777240" y="2011680"/>
            <a:ext cx="640080" cy="640080"/>
          </a:xfrm>
          <a:prstGeom prst="ellipse">
            <a:avLst/>
          </a:prstGeom>
          <a:solidFill>
            <a:srgbClr val="4833D6"/>
          </a:solidFill>
          <a:ln/>
        </p:spPr>
      </p:sp>
      <p:sp>
        <p:nvSpPr>
          <p:cNvPr id="10" name="Text 7"/>
          <p:cNvSpPr/>
          <p:nvPr/>
        </p:nvSpPr>
        <p:spPr>
          <a:xfrm>
            <a:off x="77724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P</a:t>
            </a:r>
            <a:endParaRPr lang="en-US" sz="2000" dirty="0"/>
          </a:p>
        </p:txBody>
      </p:sp>
      <p:sp>
        <p:nvSpPr>
          <p:cNvPr id="11" name="Text 8"/>
          <p:cNvSpPr/>
          <p:nvPr/>
        </p:nvSpPr>
        <p:spPr>
          <a:xfrm>
            <a:off x="1554480" y="2057400"/>
            <a:ext cx="2377440" cy="457200"/>
          </a:xfrm>
          <a:prstGeom prst="rect">
            <a:avLst/>
          </a:prstGeom>
          <a:noFill/>
          <a:ln/>
        </p:spPr>
        <p:txBody>
          <a:bodyPr wrap="square" lIns="0" tIns="0" rIns="0" bIns="0" rtlCol="0" anchor="ctr"/>
          <a:lstStyle/>
          <a:p>
            <a:pPr indent="0" marL="0">
              <a:buNone/>
            </a:pPr>
            <a:r>
              <a:rPr lang="en-US" sz="1700" b="1" dirty="0">
                <a:solidFill>
                  <a:srgbClr val="450C7D"/>
                </a:solidFill>
                <a:latin typeface="Calibri" pitchFamily="34" charset="0"/>
                <a:ea typeface="Calibri" pitchFamily="34" charset="-122"/>
                <a:cs typeface="Calibri" pitchFamily="34" charset="-120"/>
              </a:rPr>
              <a:t>Pagos (REP)</a:t>
            </a:r>
            <a:endParaRPr lang="en-US" sz="1700" dirty="0"/>
          </a:p>
        </p:txBody>
      </p:sp>
      <p:sp>
        <p:nvSpPr>
          <p:cNvPr id="12" name="Text 9"/>
          <p:cNvSpPr/>
          <p:nvPr/>
        </p:nvSpPr>
        <p:spPr>
          <a:xfrm>
            <a:off x="822960" y="2788920"/>
            <a:ext cx="3108960" cy="3291840"/>
          </a:xfrm>
          <a:prstGeom prst="rect">
            <a:avLst/>
          </a:prstGeom>
          <a:noFill/>
          <a:ln/>
        </p:spPr>
        <p:txBody>
          <a:bodyPr wrap="square" lIns="0" tIns="0" rIns="0" bIns="0" rtlCol="0" anchor="t"/>
          <a:lstStyle/>
          <a:p>
            <a:pPr indent="0" marL="0">
              <a:buNone/>
            </a:pPr>
            <a:r>
              <a:rPr lang="en-US" sz="1300" dirty="0">
                <a:solidFill>
                  <a:srgbClr val="1A1033"/>
                </a:solidFill>
                <a:latin typeface="Calibri" pitchFamily="34" charset="0"/>
                <a:ea typeface="Calibri" pitchFamily="34" charset="-122"/>
                <a:cs typeface="Calibri" pitchFamily="34" charset="-120"/>
              </a:rPr>
              <a:t>Lista todos tus complementos de pago recibidos. AICuenta los enlaza automáticamente con la factura original para que no tengas que hacerlo a mano.</a:t>
            </a:r>
            <a:endParaRPr lang="en-US" sz="1300" dirty="0"/>
          </a:p>
        </p:txBody>
      </p:sp>
      <p:sp>
        <p:nvSpPr>
          <p:cNvPr id="13" name="Shape 10"/>
          <p:cNvSpPr/>
          <p:nvPr/>
        </p:nvSpPr>
        <p:spPr>
          <a:xfrm>
            <a:off x="4343400" y="1828800"/>
            <a:ext cx="3520440" cy="4434840"/>
          </a:xfrm>
          <a:prstGeom prst="roundRect">
            <a:avLst>
              <a:gd name="adj" fmla="val 3636"/>
            </a:avLst>
          </a:prstGeom>
          <a:solidFill>
            <a:srgbClr val="FFFFFF"/>
          </a:solidFill>
          <a:ln w="9525">
            <a:solidFill>
              <a:srgbClr val="E4DEF2"/>
            </a:solidFill>
            <a:prstDash val="solid"/>
          </a:ln>
        </p:spPr>
      </p:sp>
      <p:sp>
        <p:nvSpPr>
          <p:cNvPr id="14" name="Shape 11"/>
          <p:cNvSpPr/>
          <p:nvPr/>
        </p:nvSpPr>
        <p:spPr>
          <a:xfrm>
            <a:off x="4572000" y="2011680"/>
            <a:ext cx="640080" cy="640080"/>
          </a:xfrm>
          <a:prstGeom prst="ellipse">
            <a:avLst/>
          </a:prstGeom>
          <a:solidFill>
            <a:srgbClr val="6BDA4D"/>
          </a:solidFill>
          <a:ln/>
        </p:spPr>
      </p:sp>
      <p:sp>
        <p:nvSpPr>
          <p:cNvPr id="15" name="Text 12"/>
          <p:cNvSpPr/>
          <p:nvPr/>
        </p:nvSpPr>
        <p:spPr>
          <a:xfrm>
            <a:off x="457200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3"/>
          <p:cNvSpPr/>
          <p:nvPr/>
        </p:nvSpPr>
        <p:spPr>
          <a:xfrm>
            <a:off x="5349240" y="2057400"/>
            <a:ext cx="2377440" cy="457200"/>
          </a:xfrm>
          <a:prstGeom prst="rect">
            <a:avLst/>
          </a:prstGeom>
          <a:noFill/>
          <a:ln/>
        </p:spPr>
        <p:txBody>
          <a:bodyPr wrap="square" lIns="0" tIns="0" rIns="0" bIns="0" rtlCol="0" anchor="ctr"/>
          <a:lstStyle/>
          <a:p>
            <a:pPr indent="0" marL="0">
              <a:buNone/>
            </a:pPr>
            <a:r>
              <a:rPr lang="en-US" sz="1700" b="1" dirty="0">
                <a:solidFill>
                  <a:srgbClr val="450C7D"/>
                </a:solidFill>
                <a:latin typeface="Calibri" pitchFamily="34" charset="0"/>
                <a:ea typeface="Calibri" pitchFamily="34" charset="-122"/>
                <a:cs typeface="Calibri" pitchFamily="34" charset="-120"/>
              </a:rPr>
              <a:t>Efectivamente pagado</a:t>
            </a:r>
            <a:endParaRPr lang="en-US" sz="1700" dirty="0"/>
          </a:p>
        </p:txBody>
      </p:sp>
      <p:sp>
        <p:nvSpPr>
          <p:cNvPr id="17" name="Text 14"/>
          <p:cNvSpPr/>
          <p:nvPr/>
        </p:nvSpPr>
        <p:spPr>
          <a:xfrm>
            <a:off x="4617720" y="2788920"/>
            <a:ext cx="3108960" cy="3291840"/>
          </a:xfrm>
          <a:prstGeom prst="rect">
            <a:avLst/>
          </a:prstGeom>
          <a:noFill/>
          <a:ln/>
        </p:spPr>
        <p:txBody>
          <a:bodyPr wrap="square" lIns="0" tIns="0" rIns="0" bIns="0" rtlCol="0" anchor="t"/>
          <a:lstStyle/>
          <a:p>
            <a:pPr indent="0" marL="0">
              <a:buNone/>
            </a:pPr>
            <a:r>
              <a:rPr lang="en-US" sz="1300" dirty="0">
                <a:solidFill>
                  <a:srgbClr val="1A1033"/>
                </a:solidFill>
                <a:latin typeface="Calibri" pitchFamily="34" charset="0"/>
                <a:ea typeface="Calibri" pitchFamily="34" charset="-122"/>
                <a:cs typeface="Calibri" pitchFamily="34" charset="-120"/>
              </a:rPr>
              <a:t>Muestra el dinero que realmente entró y salió, agrupado por forma y método de pago. Ideal para saber qué se cobró vs qué solo se facturó.</a:t>
            </a:r>
            <a:endParaRPr lang="en-US" sz="1300" dirty="0"/>
          </a:p>
        </p:txBody>
      </p:sp>
      <p:sp>
        <p:nvSpPr>
          <p:cNvPr id="18" name="Shape 15"/>
          <p:cNvSpPr/>
          <p:nvPr/>
        </p:nvSpPr>
        <p:spPr>
          <a:xfrm>
            <a:off x="8138160" y="1828800"/>
            <a:ext cx="3520440" cy="4434840"/>
          </a:xfrm>
          <a:prstGeom prst="roundRect">
            <a:avLst>
              <a:gd name="adj" fmla="val 3636"/>
            </a:avLst>
          </a:prstGeom>
          <a:solidFill>
            <a:srgbClr val="FFFFFF"/>
          </a:solidFill>
          <a:ln w="9525">
            <a:solidFill>
              <a:srgbClr val="E4DEF2"/>
            </a:solidFill>
            <a:prstDash val="solid"/>
          </a:ln>
        </p:spPr>
      </p:sp>
      <p:sp>
        <p:nvSpPr>
          <p:cNvPr id="19" name="Shape 16"/>
          <p:cNvSpPr/>
          <p:nvPr/>
        </p:nvSpPr>
        <p:spPr>
          <a:xfrm>
            <a:off x="8366760" y="2011680"/>
            <a:ext cx="640080" cy="640080"/>
          </a:xfrm>
          <a:prstGeom prst="ellipse">
            <a:avLst/>
          </a:prstGeom>
          <a:solidFill>
            <a:srgbClr val="8B42D4"/>
          </a:solidFill>
          <a:ln/>
        </p:spPr>
      </p:sp>
      <p:sp>
        <p:nvSpPr>
          <p:cNvPr id="20" name="Text 17"/>
          <p:cNvSpPr/>
          <p:nvPr/>
        </p:nvSpPr>
        <p:spPr>
          <a:xfrm>
            <a:off x="8366760" y="20116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X</a:t>
            </a:r>
            <a:endParaRPr lang="en-US" sz="2000" dirty="0"/>
          </a:p>
        </p:txBody>
      </p:sp>
      <p:sp>
        <p:nvSpPr>
          <p:cNvPr id="21" name="Text 18"/>
          <p:cNvSpPr/>
          <p:nvPr/>
        </p:nvSpPr>
        <p:spPr>
          <a:xfrm>
            <a:off x="9144000" y="2057400"/>
            <a:ext cx="2377440" cy="457200"/>
          </a:xfrm>
          <a:prstGeom prst="rect">
            <a:avLst/>
          </a:prstGeom>
          <a:noFill/>
          <a:ln/>
        </p:spPr>
        <p:txBody>
          <a:bodyPr wrap="square" lIns="0" tIns="0" rIns="0" bIns="0" rtlCol="0" anchor="ctr"/>
          <a:lstStyle/>
          <a:p>
            <a:pPr indent="0" marL="0">
              <a:buNone/>
            </a:pPr>
            <a:r>
              <a:rPr lang="en-US" sz="1700" b="1" dirty="0">
                <a:solidFill>
                  <a:srgbClr val="450C7D"/>
                </a:solidFill>
                <a:latin typeface="Calibri" pitchFamily="34" charset="0"/>
                <a:ea typeface="Calibri" pitchFamily="34" charset="-122"/>
                <a:cs typeface="Calibri" pitchFamily="34" charset="-120"/>
              </a:rPr>
              <a:t>Exportaciones</a:t>
            </a:r>
            <a:endParaRPr lang="en-US" sz="1700" dirty="0"/>
          </a:p>
        </p:txBody>
      </p:sp>
      <p:sp>
        <p:nvSpPr>
          <p:cNvPr id="22" name="Text 19"/>
          <p:cNvSpPr/>
          <p:nvPr/>
        </p:nvSpPr>
        <p:spPr>
          <a:xfrm>
            <a:off x="8412480" y="2788920"/>
            <a:ext cx="3108960" cy="3291840"/>
          </a:xfrm>
          <a:prstGeom prst="rect">
            <a:avLst/>
          </a:prstGeom>
          <a:noFill/>
          <a:ln/>
        </p:spPr>
        <p:txBody>
          <a:bodyPr wrap="square" lIns="0" tIns="0" rIns="0" bIns="0" rtlCol="0" anchor="t"/>
          <a:lstStyle/>
          <a:p>
            <a:pPr indent="0" marL="0">
              <a:buNone/>
            </a:pPr>
            <a:r>
              <a:rPr lang="en-US" sz="1300" dirty="0">
                <a:solidFill>
                  <a:srgbClr val="1A1033"/>
                </a:solidFill>
                <a:latin typeface="Calibri" pitchFamily="34" charset="0"/>
                <a:ea typeface="Calibri" pitchFamily="34" charset="-122"/>
                <a:cs typeface="Calibri" pitchFamily="34" charset="-120"/>
              </a:rPr>
              <a:t>Todos los módulos importantes exportan a Excel con un botón: facturas, estados financieros, flujo, notas de crédito, pagos, comprobantes y DIOT.</a:t>
            </a:r>
            <a:endParaRPr lang="en-US" sz="1300" dirty="0"/>
          </a:p>
        </p:txBody>
      </p:sp>
      <p:sp>
        <p:nvSpPr>
          <p:cNvPr id="23" name="Text 20"/>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3 · Contador operativo</a:t>
            </a:r>
            <a:endParaRPr lang="en-US" sz="1000" dirty="0"/>
          </a:p>
        </p:txBody>
      </p:sp>
      <p:sp>
        <p:nvSpPr>
          <p:cNvPr id="24" name="Text 21"/>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450C7D"/>
        </a:solidFill>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4622AA">
              <a:alpha val="60000"/>
            </a:srgbClr>
          </a:solidFill>
          <a:ln/>
        </p:spPr>
      </p:sp>
      <p:sp>
        <p:nvSpPr>
          <p:cNvPr id="3" name="Shape 1"/>
          <p:cNvSpPr/>
          <p:nvPr/>
        </p:nvSpPr>
        <p:spPr>
          <a:xfrm>
            <a:off x="9144000" y="3200400"/>
            <a:ext cx="4114800" cy="4114800"/>
          </a:xfrm>
          <a:prstGeom prst="ellipse">
            <a:avLst/>
          </a:prstGeom>
          <a:solidFill>
            <a:srgbClr val="6BDA4D">
              <a:alpha val="55000"/>
            </a:srgbClr>
          </a:solidFill>
          <a:ln/>
        </p:spPr>
      </p:sp>
      <p:sp>
        <p:nvSpPr>
          <p:cNvPr id="4" name="Text 2"/>
          <p:cNvSpPr/>
          <p:nvPr/>
        </p:nvSpPr>
        <p:spPr>
          <a:xfrm>
            <a:off x="822960" y="2011680"/>
            <a:ext cx="7315200" cy="548640"/>
          </a:xfrm>
          <a:prstGeom prst="rect">
            <a:avLst/>
          </a:prstGeom>
          <a:noFill/>
          <a:ln/>
        </p:spPr>
        <p:txBody>
          <a:bodyPr wrap="square" lIns="0" tIns="0" rIns="0" bIns="0" rtlCol="0" anchor="ctr"/>
          <a:lstStyle/>
          <a:p>
            <a:pPr algn="l" indent="0" marL="0">
              <a:buNone/>
            </a:pPr>
            <a:r>
              <a:rPr lang="en-US" sz="2200" b="1" dirty="0">
                <a:solidFill>
                  <a:srgbClr val="AEDB4A"/>
                </a:solidFill>
                <a:latin typeface="Calibri" pitchFamily="34" charset="0"/>
                <a:ea typeface="Calibri" pitchFamily="34" charset="-122"/>
                <a:cs typeface="Calibri" pitchFamily="34" charset="-120"/>
              </a:rPr>
              <a:t>Módulo 4</a:t>
            </a:r>
            <a:endParaRPr lang="en-US" sz="2200" dirty="0"/>
          </a:p>
        </p:txBody>
      </p:sp>
      <p:sp>
        <p:nvSpPr>
          <p:cNvPr id="5" name="Text 3"/>
          <p:cNvSpPr/>
          <p:nvPr/>
        </p:nvSpPr>
        <p:spPr>
          <a:xfrm>
            <a:off x="822960" y="2606040"/>
            <a:ext cx="9144000" cy="1554480"/>
          </a:xfrm>
          <a:prstGeom prst="rect">
            <a:avLst/>
          </a:prstGeom>
          <a:noFill/>
          <a:ln/>
        </p:spPr>
        <p:txBody>
          <a:bodyPr wrap="square" lIns="0" tIns="0" rIns="0" bIns="0" rtlCol="0" anchor="t"/>
          <a:lstStyle/>
          <a:p>
            <a:pPr algn="l" indent="0" marL="0">
              <a:buNone/>
            </a:pPr>
            <a:r>
              <a:rPr lang="en-US" sz="5400" b="1" dirty="0">
                <a:solidFill>
                  <a:srgbClr val="FFFFFF"/>
                </a:solidFill>
                <a:latin typeface="Calibri" pitchFamily="34" charset="0"/>
                <a:ea typeface="Calibri" pitchFamily="34" charset="-122"/>
                <a:cs typeface="Calibri" pitchFamily="34" charset="-120"/>
              </a:rPr>
              <a:t>El CEO estratégico</a:t>
            </a:r>
            <a:endParaRPr lang="en-US" sz="5400" dirty="0"/>
          </a:p>
        </p:txBody>
      </p:sp>
      <p:sp>
        <p:nvSpPr>
          <p:cNvPr id="6" name="Text 4"/>
          <p:cNvSpPr/>
          <p:nvPr/>
        </p:nvSpPr>
        <p:spPr>
          <a:xfrm>
            <a:off x="822960" y="4297680"/>
            <a:ext cx="9144000" cy="548640"/>
          </a:xfrm>
          <a:prstGeom prst="rect">
            <a:avLst/>
          </a:prstGeom>
          <a:noFill/>
          <a:ln/>
        </p:spPr>
        <p:txBody>
          <a:bodyPr wrap="square" lIns="0" tIns="0" rIns="0" bIns="0" rtlCol="0" anchor="ctr"/>
          <a:lstStyle/>
          <a:p>
            <a:pPr algn="l" indent="0" marL="0">
              <a:buNone/>
            </a:pPr>
            <a:r>
              <a:rPr lang="en-US" sz="1800" i="1" dirty="0">
                <a:solidFill>
                  <a:srgbClr val="B6F0A0"/>
                </a:solidFill>
                <a:latin typeface="Calibri" pitchFamily="34" charset="0"/>
                <a:ea typeface="Calibri" pitchFamily="34" charset="-122"/>
                <a:cs typeface="Calibri" pitchFamily="34" charset="-120"/>
              </a:rPr>
              <a:t>Dashboard, KPIs, notificaciones y control de la suscripción</a:t>
            </a:r>
            <a:endParaRPr lang="en-US" sz="1800" dirty="0"/>
          </a:p>
        </p:txBody>
      </p:sp>
      <p:pic>
        <p:nvPicPr>
          <p:cNvPr id="7" name="Image 0" descr="/sessions/relaxed-awesome-albattani/mnt/outputs/logo-blanco.png">    </p:cNvPr>
          <p:cNvPicPr>
            <a:picLocks noChangeAspect="1"/>
          </p:cNvPicPr>
          <p:nvPr/>
        </p:nvPicPr>
        <p:blipFill>
          <a:blip r:embed="rId1"/>
          <a:stretch>
            <a:fillRect/>
          </a:stretch>
        </p:blipFill>
        <p:spPr>
          <a:xfrm>
            <a:off x="9601200" y="4937760"/>
            <a:ext cx="1645920" cy="16459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Dashboard fiscal</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Elige RFC y mes: KPIs, gráficas y salud fiscal al instante</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828800"/>
            <a:ext cx="2697480" cy="1691640"/>
          </a:xfrm>
          <a:prstGeom prst="roundRect">
            <a:avLst>
              <a:gd name="adj" fmla="val 7568"/>
            </a:avLst>
          </a:prstGeom>
          <a:solidFill>
            <a:srgbClr val="FFFFFF"/>
          </a:solidFill>
          <a:ln w="9525">
            <a:solidFill>
              <a:srgbClr val="E4DEF2"/>
            </a:solidFill>
            <a:prstDash val="solid"/>
          </a:ln>
        </p:spPr>
      </p:sp>
      <p:sp>
        <p:nvSpPr>
          <p:cNvPr id="9" name="Shape 6"/>
          <p:cNvSpPr/>
          <p:nvPr/>
        </p:nvSpPr>
        <p:spPr>
          <a:xfrm>
            <a:off x="777240" y="2011680"/>
            <a:ext cx="256032" cy="256032"/>
          </a:xfrm>
          <a:prstGeom prst="ellipse">
            <a:avLst/>
          </a:prstGeom>
          <a:solidFill>
            <a:srgbClr val="6BDA4D"/>
          </a:solidFill>
          <a:ln/>
        </p:spPr>
      </p:sp>
      <p:sp>
        <p:nvSpPr>
          <p:cNvPr id="10" name="Text 7"/>
          <p:cNvSpPr/>
          <p:nvPr/>
        </p:nvSpPr>
        <p:spPr>
          <a:xfrm>
            <a:off x="1143000" y="1947672"/>
            <a:ext cx="2011680" cy="365760"/>
          </a:xfrm>
          <a:prstGeom prst="rect">
            <a:avLst/>
          </a:prstGeom>
          <a:noFill/>
          <a:ln/>
        </p:spPr>
        <p:txBody>
          <a:bodyPr wrap="square" lIns="0" tIns="0" rIns="0" bIns="0" rtlCol="0" anchor="ctr"/>
          <a:lstStyle/>
          <a:p>
            <a:pPr indent="0" marL="0">
              <a:buNone/>
            </a:pPr>
            <a:r>
              <a:rPr lang="en-US" sz="1300" dirty="0">
                <a:solidFill>
                  <a:srgbClr val="4B4265"/>
                </a:solidFill>
                <a:latin typeface="Calibri" pitchFamily="34" charset="0"/>
                <a:ea typeface="Calibri" pitchFamily="34" charset="-122"/>
                <a:cs typeface="Calibri" pitchFamily="34" charset="-120"/>
              </a:rPr>
              <a:t>Ingresos</a:t>
            </a:r>
            <a:endParaRPr lang="en-US" sz="1300" dirty="0"/>
          </a:p>
        </p:txBody>
      </p:sp>
      <p:sp>
        <p:nvSpPr>
          <p:cNvPr id="11" name="Text 8"/>
          <p:cNvSpPr/>
          <p:nvPr/>
        </p:nvSpPr>
        <p:spPr>
          <a:xfrm>
            <a:off x="777240" y="2377440"/>
            <a:ext cx="2468880" cy="640080"/>
          </a:xfrm>
          <a:prstGeom prst="rect">
            <a:avLst/>
          </a:prstGeom>
          <a:noFill/>
          <a:ln/>
        </p:spPr>
        <p:txBody>
          <a:bodyPr wrap="square" lIns="0" tIns="0" rIns="0" bIns="0" rtlCol="0" anchor="ctr"/>
          <a:lstStyle/>
          <a:p>
            <a:pPr indent="0" marL="0">
              <a:buNone/>
            </a:pPr>
            <a:r>
              <a:rPr lang="en-US" sz="3000" b="1" dirty="0">
                <a:solidFill>
                  <a:srgbClr val="450C7D"/>
                </a:solidFill>
                <a:latin typeface="Calibri" pitchFamily="34" charset="0"/>
                <a:ea typeface="Calibri" pitchFamily="34" charset="-122"/>
                <a:cs typeface="Calibri" pitchFamily="34" charset="-120"/>
              </a:rPr>
              <a:t>$1.2M</a:t>
            </a:r>
            <a:endParaRPr lang="en-US" sz="3000" dirty="0"/>
          </a:p>
        </p:txBody>
      </p:sp>
      <p:sp>
        <p:nvSpPr>
          <p:cNvPr id="12" name="Text 9"/>
          <p:cNvSpPr/>
          <p:nvPr/>
        </p:nvSpPr>
        <p:spPr>
          <a:xfrm>
            <a:off x="777240" y="3017520"/>
            <a:ext cx="2468880" cy="320040"/>
          </a:xfrm>
          <a:prstGeom prst="rect">
            <a:avLst/>
          </a:prstGeom>
          <a:noFill/>
          <a:ln/>
        </p:spPr>
        <p:txBody>
          <a:bodyPr wrap="square" lIns="0" tIns="0" rIns="0" bIns="0" rtlCol="0" anchor="ctr"/>
          <a:lstStyle/>
          <a:p>
            <a:pPr indent="0" marL="0">
              <a:buNone/>
            </a:pPr>
            <a:r>
              <a:rPr lang="en-US" sz="1000" i="1" dirty="0">
                <a:solidFill>
                  <a:srgbClr val="6E6785"/>
                </a:solidFill>
                <a:latin typeface="Calibri" pitchFamily="34" charset="0"/>
                <a:ea typeface="Calibri" pitchFamily="34" charset="-122"/>
                <a:cs typeface="Calibri" pitchFamily="34" charset="-120"/>
              </a:rPr>
              <a:t>vs mes anterior</a:t>
            </a:r>
            <a:endParaRPr lang="en-US" sz="1000" dirty="0"/>
          </a:p>
        </p:txBody>
      </p:sp>
      <p:sp>
        <p:nvSpPr>
          <p:cNvPr id="13" name="Shape 10"/>
          <p:cNvSpPr/>
          <p:nvPr/>
        </p:nvSpPr>
        <p:spPr>
          <a:xfrm>
            <a:off x="3429000" y="1828800"/>
            <a:ext cx="2697480" cy="1691640"/>
          </a:xfrm>
          <a:prstGeom prst="roundRect">
            <a:avLst>
              <a:gd name="adj" fmla="val 7568"/>
            </a:avLst>
          </a:prstGeom>
          <a:solidFill>
            <a:srgbClr val="FFFFFF"/>
          </a:solidFill>
          <a:ln w="9525">
            <a:solidFill>
              <a:srgbClr val="E4DEF2"/>
            </a:solidFill>
            <a:prstDash val="solid"/>
          </a:ln>
        </p:spPr>
      </p:sp>
      <p:sp>
        <p:nvSpPr>
          <p:cNvPr id="14" name="Shape 11"/>
          <p:cNvSpPr/>
          <p:nvPr/>
        </p:nvSpPr>
        <p:spPr>
          <a:xfrm>
            <a:off x="3657600" y="2011680"/>
            <a:ext cx="256032" cy="256032"/>
          </a:xfrm>
          <a:prstGeom prst="ellipse">
            <a:avLst/>
          </a:prstGeom>
          <a:solidFill>
            <a:srgbClr val="4833D6"/>
          </a:solidFill>
          <a:ln/>
        </p:spPr>
      </p:sp>
      <p:sp>
        <p:nvSpPr>
          <p:cNvPr id="15" name="Text 12"/>
          <p:cNvSpPr/>
          <p:nvPr/>
        </p:nvSpPr>
        <p:spPr>
          <a:xfrm>
            <a:off x="4023360" y="1947672"/>
            <a:ext cx="2011680" cy="365760"/>
          </a:xfrm>
          <a:prstGeom prst="rect">
            <a:avLst/>
          </a:prstGeom>
          <a:noFill/>
          <a:ln/>
        </p:spPr>
        <p:txBody>
          <a:bodyPr wrap="square" lIns="0" tIns="0" rIns="0" bIns="0" rtlCol="0" anchor="ctr"/>
          <a:lstStyle/>
          <a:p>
            <a:pPr indent="0" marL="0">
              <a:buNone/>
            </a:pPr>
            <a:r>
              <a:rPr lang="en-US" sz="1300" dirty="0">
                <a:solidFill>
                  <a:srgbClr val="4B4265"/>
                </a:solidFill>
                <a:latin typeface="Calibri" pitchFamily="34" charset="0"/>
                <a:ea typeface="Calibri" pitchFamily="34" charset="-122"/>
                <a:cs typeface="Calibri" pitchFamily="34" charset="-120"/>
              </a:rPr>
              <a:t>Egresos</a:t>
            </a:r>
            <a:endParaRPr lang="en-US" sz="1300" dirty="0"/>
          </a:p>
        </p:txBody>
      </p:sp>
      <p:sp>
        <p:nvSpPr>
          <p:cNvPr id="16" name="Text 13"/>
          <p:cNvSpPr/>
          <p:nvPr/>
        </p:nvSpPr>
        <p:spPr>
          <a:xfrm>
            <a:off x="3657600" y="2377440"/>
            <a:ext cx="2468880" cy="640080"/>
          </a:xfrm>
          <a:prstGeom prst="rect">
            <a:avLst/>
          </a:prstGeom>
          <a:noFill/>
          <a:ln/>
        </p:spPr>
        <p:txBody>
          <a:bodyPr wrap="square" lIns="0" tIns="0" rIns="0" bIns="0" rtlCol="0" anchor="ctr"/>
          <a:lstStyle/>
          <a:p>
            <a:pPr indent="0" marL="0">
              <a:buNone/>
            </a:pPr>
            <a:r>
              <a:rPr lang="en-US" sz="3000" b="1" dirty="0">
                <a:solidFill>
                  <a:srgbClr val="450C7D"/>
                </a:solidFill>
                <a:latin typeface="Calibri" pitchFamily="34" charset="0"/>
                <a:ea typeface="Calibri" pitchFamily="34" charset="-122"/>
                <a:cs typeface="Calibri" pitchFamily="34" charset="-120"/>
              </a:rPr>
              <a:t>$780K</a:t>
            </a:r>
            <a:endParaRPr lang="en-US" sz="3000" dirty="0"/>
          </a:p>
        </p:txBody>
      </p:sp>
      <p:sp>
        <p:nvSpPr>
          <p:cNvPr id="17" name="Text 14"/>
          <p:cNvSpPr/>
          <p:nvPr/>
        </p:nvSpPr>
        <p:spPr>
          <a:xfrm>
            <a:off x="3657600" y="3017520"/>
            <a:ext cx="2468880" cy="320040"/>
          </a:xfrm>
          <a:prstGeom prst="rect">
            <a:avLst/>
          </a:prstGeom>
          <a:noFill/>
          <a:ln/>
        </p:spPr>
        <p:txBody>
          <a:bodyPr wrap="square" lIns="0" tIns="0" rIns="0" bIns="0" rtlCol="0" anchor="ctr"/>
          <a:lstStyle/>
          <a:p>
            <a:pPr indent="0" marL="0">
              <a:buNone/>
            </a:pPr>
            <a:r>
              <a:rPr lang="en-US" sz="1000" i="1" dirty="0">
                <a:solidFill>
                  <a:srgbClr val="6E6785"/>
                </a:solidFill>
                <a:latin typeface="Calibri" pitchFamily="34" charset="0"/>
                <a:ea typeface="Calibri" pitchFamily="34" charset="-122"/>
                <a:cs typeface="Calibri" pitchFamily="34" charset="-120"/>
              </a:rPr>
              <a:t>gastos deducibles</a:t>
            </a:r>
            <a:endParaRPr lang="en-US" sz="1000" dirty="0"/>
          </a:p>
        </p:txBody>
      </p:sp>
      <p:sp>
        <p:nvSpPr>
          <p:cNvPr id="18" name="Shape 15"/>
          <p:cNvSpPr/>
          <p:nvPr/>
        </p:nvSpPr>
        <p:spPr>
          <a:xfrm>
            <a:off x="6309360" y="1828800"/>
            <a:ext cx="2697480" cy="1691640"/>
          </a:xfrm>
          <a:prstGeom prst="roundRect">
            <a:avLst>
              <a:gd name="adj" fmla="val 7568"/>
            </a:avLst>
          </a:prstGeom>
          <a:solidFill>
            <a:srgbClr val="FFFFFF"/>
          </a:solidFill>
          <a:ln w="9525">
            <a:solidFill>
              <a:srgbClr val="E4DEF2"/>
            </a:solidFill>
            <a:prstDash val="solid"/>
          </a:ln>
        </p:spPr>
      </p:sp>
      <p:sp>
        <p:nvSpPr>
          <p:cNvPr id="19" name="Shape 16"/>
          <p:cNvSpPr/>
          <p:nvPr/>
        </p:nvSpPr>
        <p:spPr>
          <a:xfrm>
            <a:off x="6537960" y="2011680"/>
            <a:ext cx="256032" cy="256032"/>
          </a:xfrm>
          <a:prstGeom prst="ellipse">
            <a:avLst/>
          </a:prstGeom>
          <a:solidFill>
            <a:srgbClr val="8B42D4"/>
          </a:solidFill>
          <a:ln/>
        </p:spPr>
      </p:sp>
      <p:sp>
        <p:nvSpPr>
          <p:cNvPr id="20" name="Text 17"/>
          <p:cNvSpPr/>
          <p:nvPr/>
        </p:nvSpPr>
        <p:spPr>
          <a:xfrm>
            <a:off x="6903720" y="1947672"/>
            <a:ext cx="2011680" cy="365760"/>
          </a:xfrm>
          <a:prstGeom prst="rect">
            <a:avLst/>
          </a:prstGeom>
          <a:noFill/>
          <a:ln/>
        </p:spPr>
        <p:txBody>
          <a:bodyPr wrap="square" lIns="0" tIns="0" rIns="0" bIns="0" rtlCol="0" anchor="ctr"/>
          <a:lstStyle/>
          <a:p>
            <a:pPr indent="0" marL="0">
              <a:buNone/>
            </a:pPr>
            <a:r>
              <a:rPr lang="en-US" sz="1300" dirty="0">
                <a:solidFill>
                  <a:srgbClr val="4B4265"/>
                </a:solidFill>
                <a:latin typeface="Calibri" pitchFamily="34" charset="0"/>
                <a:ea typeface="Calibri" pitchFamily="34" charset="-122"/>
                <a:cs typeface="Calibri" pitchFamily="34" charset="-120"/>
              </a:rPr>
              <a:t>IVA</a:t>
            </a:r>
            <a:endParaRPr lang="en-US" sz="1300" dirty="0"/>
          </a:p>
        </p:txBody>
      </p:sp>
      <p:sp>
        <p:nvSpPr>
          <p:cNvPr id="21" name="Text 18"/>
          <p:cNvSpPr/>
          <p:nvPr/>
        </p:nvSpPr>
        <p:spPr>
          <a:xfrm>
            <a:off x="6537960" y="2377440"/>
            <a:ext cx="2468880" cy="640080"/>
          </a:xfrm>
          <a:prstGeom prst="rect">
            <a:avLst/>
          </a:prstGeom>
          <a:noFill/>
          <a:ln/>
        </p:spPr>
        <p:txBody>
          <a:bodyPr wrap="square" lIns="0" tIns="0" rIns="0" bIns="0" rtlCol="0" anchor="ctr"/>
          <a:lstStyle/>
          <a:p>
            <a:pPr indent="0" marL="0">
              <a:buNone/>
            </a:pPr>
            <a:r>
              <a:rPr lang="en-US" sz="3000" b="1" dirty="0">
                <a:solidFill>
                  <a:srgbClr val="450C7D"/>
                </a:solidFill>
                <a:latin typeface="Calibri" pitchFamily="34" charset="0"/>
                <a:ea typeface="Calibri" pitchFamily="34" charset="-122"/>
                <a:cs typeface="Calibri" pitchFamily="34" charset="-120"/>
              </a:rPr>
              <a:t>$67K</a:t>
            </a:r>
            <a:endParaRPr lang="en-US" sz="3000" dirty="0"/>
          </a:p>
        </p:txBody>
      </p:sp>
      <p:sp>
        <p:nvSpPr>
          <p:cNvPr id="22" name="Text 19"/>
          <p:cNvSpPr/>
          <p:nvPr/>
        </p:nvSpPr>
        <p:spPr>
          <a:xfrm>
            <a:off x="6537960" y="3017520"/>
            <a:ext cx="2468880" cy="320040"/>
          </a:xfrm>
          <a:prstGeom prst="rect">
            <a:avLst/>
          </a:prstGeom>
          <a:noFill/>
          <a:ln/>
        </p:spPr>
        <p:txBody>
          <a:bodyPr wrap="square" lIns="0" tIns="0" rIns="0" bIns="0" rtlCol="0" anchor="ctr"/>
          <a:lstStyle/>
          <a:p>
            <a:pPr indent="0" marL="0">
              <a:buNone/>
            </a:pPr>
            <a:r>
              <a:rPr lang="en-US" sz="1000" i="1" dirty="0">
                <a:solidFill>
                  <a:srgbClr val="6E6785"/>
                </a:solidFill>
                <a:latin typeface="Calibri" pitchFamily="34" charset="0"/>
                <a:ea typeface="Calibri" pitchFamily="34" charset="-122"/>
                <a:cs typeface="Calibri" pitchFamily="34" charset="-120"/>
              </a:rPr>
              <a:t>trasladado neto</a:t>
            </a:r>
            <a:endParaRPr lang="en-US" sz="1000" dirty="0"/>
          </a:p>
        </p:txBody>
      </p:sp>
      <p:sp>
        <p:nvSpPr>
          <p:cNvPr id="23" name="Shape 20"/>
          <p:cNvSpPr/>
          <p:nvPr/>
        </p:nvSpPr>
        <p:spPr>
          <a:xfrm>
            <a:off x="9189720" y="1828800"/>
            <a:ext cx="2697480" cy="1691640"/>
          </a:xfrm>
          <a:prstGeom prst="roundRect">
            <a:avLst>
              <a:gd name="adj" fmla="val 7568"/>
            </a:avLst>
          </a:prstGeom>
          <a:solidFill>
            <a:srgbClr val="FFFFFF"/>
          </a:solidFill>
          <a:ln w="9525">
            <a:solidFill>
              <a:srgbClr val="E4DEF2"/>
            </a:solidFill>
            <a:prstDash val="solid"/>
          </a:ln>
        </p:spPr>
      </p:sp>
      <p:sp>
        <p:nvSpPr>
          <p:cNvPr id="24" name="Shape 21"/>
          <p:cNvSpPr/>
          <p:nvPr/>
        </p:nvSpPr>
        <p:spPr>
          <a:xfrm>
            <a:off x="9418320" y="2011680"/>
            <a:ext cx="256032" cy="256032"/>
          </a:xfrm>
          <a:prstGeom prst="ellipse">
            <a:avLst/>
          </a:prstGeom>
          <a:solidFill>
            <a:srgbClr val="4622AA"/>
          </a:solidFill>
          <a:ln/>
        </p:spPr>
      </p:sp>
      <p:sp>
        <p:nvSpPr>
          <p:cNvPr id="25" name="Text 22"/>
          <p:cNvSpPr/>
          <p:nvPr/>
        </p:nvSpPr>
        <p:spPr>
          <a:xfrm>
            <a:off x="9784080" y="1947672"/>
            <a:ext cx="2011680" cy="365760"/>
          </a:xfrm>
          <a:prstGeom prst="rect">
            <a:avLst/>
          </a:prstGeom>
          <a:noFill/>
          <a:ln/>
        </p:spPr>
        <p:txBody>
          <a:bodyPr wrap="square" lIns="0" tIns="0" rIns="0" bIns="0" rtlCol="0" anchor="ctr"/>
          <a:lstStyle/>
          <a:p>
            <a:pPr indent="0" marL="0">
              <a:buNone/>
            </a:pPr>
            <a:r>
              <a:rPr lang="en-US" sz="1300" dirty="0">
                <a:solidFill>
                  <a:srgbClr val="4B4265"/>
                </a:solidFill>
                <a:latin typeface="Calibri" pitchFamily="34" charset="0"/>
                <a:ea typeface="Calibri" pitchFamily="34" charset="-122"/>
                <a:cs typeface="Calibri" pitchFamily="34" charset="-120"/>
              </a:rPr>
              <a:t>ISR</a:t>
            </a:r>
            <a:endParaRPr lang="en-US" sz="1300" dirty="0"/>
          </a:p>
        </p:txBody>
      </p:sp>
      <p:sp>
        <p:nvSpPr>
          <p:cNvPr id="26" name="Text 23"/>
          <p:cNvSpPr/>
          <p:nvPr/>
        </p:nvSpPr>
        <p:spPr>
          <a:xfrm>
            <a:off x="9418320" y="2377440"/>
            <a:ext cx="2468880" cy="640080"/>
          </a:xfrm>
          <a:prstGeom prst="rect">
            <a:avLst/>
          </a:prstGeom>
          <a:noFill/>
          <a:ln/>
        </p:spPr>
        <p:txBody>
          <a:bodyPr wrap="square" lIns="0" tIns="0" rIns="0" bIns="0" rtlCol="0" anchor="ctr"/>
          <a:lstStyle/>
          <a:p>
            <a:pPr indent="0" marL="0">
              <a:buNone/>
            </a:pPr>
            <a:r>
              <a:rPr lang="en-US" sz="3000" b="1" dirty="0">
                <a:solidFill>
                  <a:srgbClr val="450C7D"/>
                </a:solidFill>
                <a:latin typeface="Calibri" pitchFamily="34" charset="0"/>
                <a:ea typeface="Calibri" pitchFamily="34" charset="-122"/>
                <a:cs typeface="Calibri" pitchFamily="34" charset="-120"/>
              </a:rPr>
              <a:t>$92K</a:t>
            </a:r>
            <a:endParaRPr lang="en-US" sz="3000" dirty="0"/>
          </a:p>
        </p:txBody>
      </p:sp>
      <p:sp>
        <p:nvSpPr>
          <p:cNvPr id="27" name="Text 24"/>
          <p:cNvSpPr/>
          <p:nvPr/>
        </p:nvSpPr>
        <p:spPr>
          <a:xfrm>
            <a:off x="9418320" y="3017520"/>
            <a:ext cx="2468880" cy="320040"/>
          </a:xfrm>
          <a:prstGeom prst="rect">
            <a:avLst/>
          </a:prstGeom>
          <a:noFill/>
          <a:ln/>
        </p:spPr>
        <p:txBody>
          <a:bodyPr wrap="square" lIns="0" tIns="0" rIns="0" bIns="0" rtlCol="0" anchor="ctr"/>
          <a:lstStyle/>
          <a:p>
            <a:pPr indent="0" marL="0">
              <a:buNone/>
            </a:pPr>
            <a:r>
              <a:rPr lang="en-US" sz="1000" i="1" dirty="0">
                <a:solidFill>
                  <a:srgbClr val="6E6785"/>
                </a:solidFill>
                <a:latin typeface="Calibri" pitchFamily="34" charset="0"/>
                <a:ea typeface="Calibri" pitchFamily="34" charset="-122"/>
                <a:cs typeface="Calibri" pitchFamily="34" charset="-120"/>
              </a:rPr>
              <a:t>provisión mensual</a:t>
            </a:r>
            <a:endParaRPr lang="en-US" sz="1000" dirty="0"/>
          </a:p>
        </p:txBody>
      </p:sp>
      <p:graphicFrame>
        <p:nvGraphicFramePr>
          <p:cNvPr id="28" name="Chart 0" descr=""/>
          <p:cNvGraphicFramePr/>
          <p:nvPr/>
        </p:nvGraphicFramePr>
        <p:xfrm>
          <a:off x="548640" y="3703320"/>
          <a:ext cx="7498080" cy="2606040"/>
        </p:xfrm>
        <a:graphic xmlns:a="http://schemas.openxmlformats.org/drawingml/2006/main">
          <a:graphicData uri="http://schemas.openxmlformats.org/drawingml/2006/chart">
            <c:chart xmlns:c="http://schemas.openxmlformats.org/drawingml/2006/chart" r:id="rId2"/>
          </a:graphicData>
        </a:graphic>
      </p:graphicFrame>
      <p:sp>
        <p:nvSpPr>
          <p:cNvPr id="29" name="Shape 25"/>
          <p:cNvSpPr/>
          <p:nvPr/>
        </p:nvSpPr>
        <p:spPr>
          <a:xfrm>
            <a:off x="8275320" y="3703320"/>
            <a:ext cx="3429000" cy="2606040"/>
          </a:xfrm>
          <a:prstGeom prst="roundRect">
            <a:avLst>
              <a:gd name="adj" fmla="val 4912"/>
            </a:avLst>
          </a:prstGeom>
          <a:solidFill>
            <a:srgbClr val="EEFBE4"/>
          </a:solidFill>
          <a:ln w="9525">
            <a:solidFill>
              <a:srgbClr val="E4DEF2"/>
            </a:solidFill>
            <a:prstDash val="solid"/>
          </a:ln>
        </p:spPr>
      </p:sp>
      <p:sp>
        <p:nvSpPr>
          <p:cNvPr id="30" name="Text 26"/>
          <p:cNvSpPr/>
          <p:nvPr/>
        </p:nvSpPr>
        <p:spPr>
          <a:xfrm>
            <a:off x="8458200" y="3794760"/>
            <a:ext cx="3108960" cy="365760"/>
          </a:xfrm>
          <a:prstGeom prst="rect">
            <a:avLst/>
          </a:prstGeom>
          <a:noFill/>
          <a:ln/>
        </p:spPr>
        <p:txBody>
          <a:bodyPr wrap="square" lIns="0" tIns="0" rIns="0" bIns="0" rtlCol="0" anchor="ctr"/>
          <a:lstStyle/>
          <a:p>
            <a:pPr indent="0" marL="0">
              <a:buNone/>
            </a:pPr>
            <a:r>
              <a:rPr lang="en-US" sz="1300" b="1" dirty="0">
                <a:solidFill>
                  <a:srgbClr val="450C7D"/>
                </a:solidFill>
                <a:latin typeface="Calibri" pitchFamily="34" charset="0"/>
                <a:ea typeface="Calibri" pitchFamily="34" charset="-122"/>
                <a:cs typeface="Calibri" pitchFamily="34" charset="-120"/>
              </a:rPr>
              <a:t>Lo que ve el CEO</a:t>
            </a:r>
            <a:endParaRPr lang="en-US" sz="1300" dirty="0"/>
          </a:p>
        </p:txBody>
      </p:sp>
      <p:sp>
        <p:nvSpPr>
          <p:cNvPr id="31" name="Text 27"/>
          <p:cNvSpPr/>
          <p:nvPr/>
        </p:nvSpPr>
        <p:spPr>
          <a:xfrm>
            <a:off x="8458200" y="4206240"/>
            <a:ext cx="3108960" cy="2011680"/>
          </a:xfrm>
          <a:prstGeom prst="rect">
            <a:avLst/>
          </a:prstGeom>
          <a:noFill/>
          <a:ln/>
        </p:spPr>
        <p:txBody>
          <a:bodyPr wrap="square" rtlCol="0" anchor="t"/>
          <a:lstStyle/>
          <a:p>
            <a:pPr marL="342900" indent="-342900">
              <a:spcAft>
                <a:spcPts val="500"/>
              </a:spcAft>
              <a:buSzPct val="100000"/>
              <a:buChar char="•"/>
            </a:pPr>
            <a:r>
              <a:rPr lang="en-US" sz="1200" dirty="0">
                <a:solidFill>
                  <a:srgbClr val="1A1033"/>
                </a:solidFill>
                <a:latin typeface="Calibri" pitchFamily="34" charset="0"/>
                <a:ea typeface="Calibri" pitchFamily="34" charset="-122"/>
                <a:cs typeface="Calibri" pitchFamily="34" charset="-120"/>
              </a:rPr>
              <a:t>Salud fiscal del mes de un vistazo.</a:t>
            </a:r>
            <a:endParaRPr lang="en-US" sz="1200" dirty="0"/>
          </a:p>
          <a:p>
            <a:pPr marL="342900" indent="-342900">
              <a:spcAft>
                <a:spcPts val="500"/>
              </a:spcAft>
              <a:buSzPct val="100000"/>
              <a:buChar char="•"/>
            </a:pPr>
            <a:r>
              <a:rPr lang="en-US" sz="1200" dirty="0">
                <a:solidFill>
                  <a:srgbClr val="1A1033"/>
                </a:solidFill>
                <a:latin typeface="Calibri" pitchFamily="34" charset="0"/>
                <a:ea typeface="Calibri" pitchFamily="34" charset="-122"/>
                <a:cs typeface="Calibri" pitchFamily="34" charset="-120"/>
              </a:rPr>
              <a:t>Top de conceptos por gasto.</a:t>
            </a:r>
            <a:endParaRPr lang="en-US" sz="1200" dirty="0"/>
          </a:p>
          <a:p>
            <a:pPr marL="342900" indent="-342900">
              <a:spcAft>
                <a:spcPts val="500"/>
              </a:spcAft>
              <a:buSzPct val="100000"/>
              <a:buChar char="•"/>
            </a:pPr>
            <a:r>
              <a:rPr lang="en-US" sz="1200" dirty="0">
                <a:solidFill>
                  <a:srgbClr val="1A1033"/>
                </a:solidFill>
                <a:latin typeface="Calibri" pitchFamily="34" charset="0"/>
                <a:ea typeface="Calibri" pitchFamily="34" charset="-122"/>
                <a:cs typeface="Calibri" pitchFamily="34" charset="-120"/>
              </a:rPr>
              <a:t>Comparativo interanual.</a:t>
            </a:r>
            <a:endParaRPr lang="en-US" sz="1200" dirty="0"/>
          </a:p>
          <a:p>
            <a:pPr marL="342900" indent="-342900">
              <a:spcAft>
                <a:spcPts val="500"/>
              </a:spcAft>
              <a:buSzPct val="100000"/>
              <a:buChar char="•"/>
            </a:pPr>
            <a:r>
              <a:rPr lang="en-US" sz="1200" dirty="0">
                <a:solidFill>
                  <a:srgbClr val="1A1033"/>
                </a:solidFill>
                <a:latin typeface="Calibri" pitchFamily="34" charset="0"/>
                <a:ea typeface="Calibri" pitchFamily="34" charset="-122"/>
                <a:cs typeface="Calibri" pitchFamily="34" charset="-120"/>
              </a:rPr>
              <a:t>Sin abrir Excel ni molestar al contador.</a:t>
            </a:r>
            <a:endParaRPr lang="en-US" sz="1200" dirty="0"/>
          </a:p>
        </p:txBody>
      </p:sp>
      <p:sp>
        <p:nvSpPr>
          <p:cNvPr id="32" name="Text 2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4 · CEO estratégico</a:t>
            </a:r>
            <a:endParaRPr lang="en-US" sz="1000" dirty="0"/>
          </a:p>
        </p:txBody>
      </p:sp>
      <p:sp>
        <p:nvSpPr>
          <p:cNvPr id="33" name="Text 29"/>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Datos siempre al día</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Sincronización automática con el SAT — CFDIs de ayer al 100%</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965960"/>
            <a:ext cx="685800" cy="685800"/>
          </a:xfrm>
          <a:prstGeom prst="ellipse">
            <a:avLst/>
          </a:prstGeom>
          <a:solidFill>
            <a:srgbClr val="4622AA"/>
          </a:solidFill>
          <a:ln/>
        </p:spPr>
      </p:sp>
      <p:sp>
        <p:nvSpPr>
          <p:cNvPr id="9" name="Text 6"/>
          <p:cNvSpPr/>
          <p:nvPr/>
        </p:nvSpPr>
        <p:spPr>
          <a:xfrm>
            <a:off x="548640" y="196596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7"/>
          <p:cNvSpPr/>
          <p:nvPr/>
        </p:nvSpPr>
        <p:spPr>
          <a:xfrm>
            <a:off x="1463040" y="1828800"/>
            <a:ext cx="6217920" cy="45720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Sincronización con tu e.firma</a:t>
            </a:r>
            <a:endParaRPr lang="en-US" sz="1800" dirty="0"/>
          </a:p>
        </p:txBody>
      </p:sp>
      <p:sp>
        <p:nvSpPr>
          <p:cNvPr id="11" name="Text 8"/>
          <p:cNvSpPr/>
          <p:nvPr/>
        </p:nvSpPr>
        <p:spPr>
          <a:xfrm>
            <a:off x="1463040" y="2286000"/>
            <a:ext cx="6217920" cy="914400"/>
          </a:xfrm>
          <a:prstGeom prst="rect">
            <a:avLst/>
          </a:prstGeom>
          <a:noFill/>
          <a:ln/>
        </p:spPr>
        <p:txBody>
          <a:bodyPr wrap="square" lIns="0" tIns="0" rIns="0" bIns="0" rtlCol="0" anchor="t"/>
          <a:lstStyle/>
          <a:p>
            <a:pPr indent="0" marL="0">
              <a:buNone/>
            </a:pPr>
            <a:r>
              <a:rPr lang="en-US" sz="1300" dirty="0">
                <a:solidFill>
                  <a:srgbClr val="4B4265"/>
                </a:solidFill>
                <a:latin typeface="Calibri" pitchFamily="34" charset="0"/>
                <a:ea typeface="Calibri" pitchFamily="34" charset="-122"/>
                <a:cs typeface="Calibri" pitchFamily="34" charset="-120"/>
              </a:rPr>
              <a:t>AICuenta se conecta directo al SAT con la firma electrónica que cargaste. No hay captura manual, no hay archivos que enviar por correo.</a:t>
            </a:r>
            <a:endParaRPr lang="en-US" sz="1300" dirty="0"/>
          </a:p>
        </p:txBody>
      </p:sp>
      <p:sp>
        <p:nvSpPr>
          <p:cNvPr id="12" name="Shape 9"/>
          <p:cNvSpPr/>
          <p:nvPr/>
        </p:nvSpPr>
        <p:spPr>
          <a:xfrm>
            <a:off x="548640" y="3383280"/>
            <a:ext cx="685800" cy="685800"/>
          </a:xfrm>
          <a:prstGeom prst="ellipse">
            <a:avLst/>
          </a:prstGeom>
          <a:solidFill>
            <a:srgbClr val="4833D6"/>
          </a:solidFill>
          <a:ln/>
        </p:spPr>
      </p:sp>
      <p:sp>
        <p:nvSpPr>
          <p:cNvPr id="13" name="Text 10"/>
          <p:cNvSpPr/>
          <p:nvPr/>
        </p:nvSpPr>
        <p:spPr>
          <a:xfrm>
            <a:off x="548640" y="33832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1"/>
          <p:cNvSpPr/>
          <p:nvPr/>
        </p:nvSpPr>
        <p:spPr>
          <a:xfrm>
            <a:off x="1463040" y="3246120"/>
            <a:ext cx="6217920" cy="45720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CFDIs de ayer, al 100%</a:t>
            </a:r>
            <a:endParaRPr lang="en-US" sz="1800" dirty="0"/>
          </a:p>
        </p:txBody>
      </p:sp>
      <p:sp>
        <p:nvSpPr>
          <p:cNvPr id="15" name="Text 12"/>
          <p:cNvSpPr/>
          <p:nvPr/>
        </p:nvSpPr>
        <p:spPr>
          <a:xfrm>
            <a:off x="1463040" y="3703320"/>
            <a:ext cx="6217920" cy="914400"/>
          </a:xfrm>
          <a:prstGeom prst="rect">
            <a:avLst/>
          </a:prstGeom>
          <a:noFill/>
          <a:ln/>
        </p:spPr>
        <p:txBody>
          <a:bodyPr wrap="square" lIns="0" tIns="0" rIns="0" bIns="0" rtlCol="0" anchor="t"/>
          <a:lstStyle/>
          <a:p>
            <a:pPr indent="0" marL="0">
              <a:buNone/>
            </a:pPr>
            <a:r>
              <a:rPr lang="en-US" sz="1300" dirty="0">
                <a:solidFill>
                  <a:srgbClr val="4B4265"/>
                </a:solidFill>
                <a:latin typeface="Calibri" pitchFamily="34" charset="0"/>
                <a:ea typeface="Calibri" pitchFamily="34" charset="-122"/>
                <a:cs typeface="Calibri" pitchFamily="34" charset="-120"/>
              </a:rPr>
              <a:t>El SAT publica cada día los comprobantes timbrados el día anterior. AICuenta los baja automáticamente, así que cuando abres tu dashboard en la mañana, ya tienes todo el cierre del día previo.</a:t>
            </a:r>
            <a:endParaRPr lang="en-US" sz="1300" dirty="0"/>
          </a:p>
        </p:txBody>
      </p:sp>
      <p:sp>
        <p:nvSpPr>
          <p:cNvPr id="16" name="Shape 13"/>
          <p:cNvSpPr/>
          <p:nvPr/>
        </p:nvSpPr>
        <p:spPr>
          <a:xfrm>
            <a:off x="548640" y="4800600"/>
            <a:ext cx="685800" cy="685800"/>
          </a:xfrm>
          <a:prstGeom prst="ellipse">
            <a:avLst/>
          </a:prstGeom>
          <a:solidFill>
            <a:srgbClr val="6BDA4D"/>
          </a:solidFill>
          <a:ln/>
        </p:spPr>
      </p:sp>
      <p:sp>
        <p:nvSpPr>
          <p:cNvPr id="17" name="Text 14"/>
          <p:cNvSpPr/>
          <p:nvPr/>
        </p:nvSpPr>
        <p:spPr>
          <a:xfrm>
            <a:off x="548640" y="48006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8" name="Text 15"/>
          <p:cNvSpPr/>
          <p:nvPr/>
        </p:nvSpPr>
        <p:spPr>
          <a:xfrm>
            <a:off x="1463040" y="4663440"/>
            <a:ext cx="6217920" cy="45720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Vigilancia 24/7 cada hora</a:t>
            </a:r>
            <a:endParaRPr lang="en-US" sz="1800" dirty="0"/>
          </a:p>
        </p:txBody>
      </p:sp>
      <p:sp>
        <p:nvSpPr>
          <p:cNvPr id="19" name="Text 16"/>
          <p:cNvSpPr/>
          <p:nvPr/>
        </p:nvSpPr>
        <p:spPr>
          <a:xfrm>
            <a:off x="1463040" y="5120640"/>
            <a:ext cx="6217920" cy="914400"/>
          </a:xfrm>
          <a:prstGeom prst="rect">
            <a:avLst/>
          </a:prstGeom>
          <a:noFill/>
          <a:ln/>
        </p:spPr>
        <p:txBody>
          <a:bodyPr wrap="square" lIns="0" tIns="0" rIns="0" bIns="0" rtlCol="0" anchor="t"/>
          <a:lstStyle/>
          <a:p>
            <a:pPr indent="0" marL="0">
              <a:buNone/>
            </a:pPr>
            <a:r>
              <a:rPr lang="en-US" sz="1300" dirty="0">
                <a:solidFill>
                  <a:srgbClr val="4B4265"/>
                </a:solidFill>
                <a:latin typeface="Calibri" pitchFamily="34" charset="0"/>
                <a:ea typeface="Calibri" pitchFamily="34" charset="-122"/>
                <a:cs typeface="Calibri" pitchFamily="34" charset="-120"/>
              </a:rPr>
              <a:t>Un proceso automático revisa cada hora la lista negra 69-B del SAT y te avisa si algún emisor o receptor tuyo aparece publicado.</a:t>
            </a:r>
            <a:endParaRPr lang="en-US" sz="1300" dirty="0"/>
          </a:p>
        </p:txBody>
      </p:sp>
      <p:sp>
        <p:nvSpPr>
          <p:cNvPr id="20" name="Shape 17"/>
          <p:cNvSpPr/>
          <p:nvPr/>
        </p:nvSpPr>
        <p:spPr>
          <a:xfrm>
            <a:off x="8046720" y="1828800"/>
            <a:ext cx="3703320" cy="4434840"/>
          </a:xfrm>
          <a:prstGeom prst="roundRect">
            <a:avLst>
              <a:gd name="adj" fmla="val 3457"/>
            </a:avLst>
          </a:prstGeom>
          <a:solidFill>
            <a:srgbClr val="F6F3FC"/>
          </a:solidFill>
          <a:ln w="9525">
            <a:solidFill>
              <a:srgbClr val="E4DEF2"/>
            </a:solidFill>
            <a:prstDash val="solid"/>
          </a:ln>
        </p:spPr>
      </p:sp>
      <p:sp>
        <p:nvSpPr>
          <p:cNvPr id="21" name="Text 18"/>
          <p:cNvSpPr/>
          <p:nvPr/>
        </p:nvSpPr>
        <p:spPr>
          <a:xfrm>
            <a:off x="8275320" y="1920240"/>
            <a:ext cx="3383280" cy="365760"/>
          </a:xfrm>
          <a:prstGeom prst="rect">
            <a:avLst/>
          </a:prstGeom>
          <a:noFill/>
          <a:ln/>
        </p:spPr>
        <p:txBody>
          <a:bodyPr wrap="square" lIns="0" tIns="0" rIns="0" bIns="0" rtlCol="0" anchor="ctr"/>
          <a:lstStyle/>
          <a:p>
            <a:pPr indent="0" marL="0">
              <a:buNone/>
            </a:pPr>
            <a:r>
              <a:rPr lang="en-US" sz="1400" b="1" dirty="0">
                <a:solidFill>
                  <a:srgbClr val="450C7D"/>
                </a:solidFill>
                <a:latin typeface="Calibri" pitchFamily="34" charset="0"/>
                <a:ea typeface="Calibri" pitchFamily="34" charset="-122"/>
                <a:cs typeface="Calibri" pitchFamily="34" charset="-120"/>
              </a:rPr>
              <a:t>Línea de tiempo típica</a:t>
            </a:r>
            <a:endParaRPr lang="en-US" sz="1400" dirty="0"/>
          </a:p>
        </p:txBody>
      </p:sp>
      <p:sp>
        <p:nvSpPr>
          <p:cNvPr id="22" name="Shape 19"/>
          <p:cNvSpPr/>
          <p:nvPr/>
        </p:nvSpPr>
        <p:spPr>
          <a:xfrm>
            <a:off x="8275320" y="2514600"/>
            <a:ext cx="201168" cy="201168"/>
          </a:xfrm>
          <a:prstGeom prst="ellipse">
            <a:avLst/>
          </a:prstGeom>
          <a:solidFill>
            <a:srgbClr val="4622AA"/>
          </a:solidFill>
          <a:ln/>
        </p:spPr>
      </p:sp>
      <p:sp>
        <p:nvSpPr>
          <p:cNvPr id="23" name="Text 20"/>
          <p:cNvSpPr/>
          <p:nvPr/>
        </p:nvSpPr>
        <p:spPr>
          <a:xfrm>
            <a:off x="8595360" y="2423160"/>
            <a:ext cx="3017520" cy="292608"/>
          </a:xfrm>
          <a:prstGeom prst="rect">
            <a:avLst/>
          </a:prstGeom>
          <a:noFill/>
          <a:ln/>
        </p:spPr>
        <p:txBody>
          <a:bodyPr wrap="square" lIns="0" tIns="0" rIns="0" bIns="0" rtlCol="0" anchor="ctr"/>
          <a:lstStyle/>
          <a:p>
            <a:pPr indent="0" marL="0">
              <a:buNone/>
            </a:pPr>
            <a:r>
              <a:rPr lang="en-US" sz="1200" b="1" dirty="0">
                <a:solidFill>
                  <a:srgbClr val="4622AA"/>
                </a:solidFill>
                <a:latin typeface="Calibri" pitchFamily="34" charset="0"/>
                <a:ea typeface="Calibri" pitchFamily="34" charset="-122"/>
                <a:cs typeface="Calibri" pitchFamily="34" charset="-120"/>
              </a:rPr>
              <a:t>Día 1</a:t>
            </a:r>
            <a:endParaRPr lang="en-US" sz="1200" dirty="0"/>
          </a:p>
        </p:txBody>
      </p:sp>
      <p:sp>
        <p:nvSpPr>
          <p:cNvPr id="24" name="Text 21"/>
          <p:cNvSpPr/>
          <p:nvPr/>
        </p:nvSpPr>
        <p:spPr>
          <a:xfrm>
            <a:off x="8595360" y="2715768"/>
            <a:ext cx="3017520" cy="594360"/>
          </a:xfrm>
          <a:prstGeom prst="rect">
            <a:avLst/>
          </a:prstGeom>
          <a:noFill/>
          <a:ln/>
        </p:spPr>
        <p:txBody>
          <a:bodyPr wrap="square" lIns="0" tIns="0" rIns="0" bIns="0" rtlCol="0" anchor="t"/>
          <a:lstStyle/>
          <a:p>
            <a:pPr indent="0" marL="0">
              <a:buNone/>
            </a:pPr>
            <a:r>
              <a:rPr lang="en-US" sz="1100" dirty="0">
                <a:solidFill>
                  <a:srgbClr val="1A1033"/>
                </a:solidFill>
                <a:latin typeface="Calibri" pitchFamily="34" charset="0"/>
                <a:ea typeface="Calibri" pitchFamily="34" charset="-122"/>
                <a:cs typeface="Calibri" pitchFamily="34" charset="-120"/>
              </a:rPr>
              <a:t>Emites o recibes un CFDI. El SAT lo timbra.</a:t>
            </a:r>
            <a:endParaRPr lang="en-US" sz="1100" dirty="0"/>
          </a:p>
        </p:txBody>
      </p:sp>
      <p:sp>
        <p:nvSpPr>
          <p:cNvPr id="25" name="Shape 22"/>
          <p:cNvSpPr/>
          <p:nvPr/>
        </p:nvSpPr>
        <p:spPr>
          <a:xfrm>
            <a:off x="8275320" y="3447288"/>
            <a:ext cx="201168" cy="201168"/>
          </a:xfrm>
          <a:prstGeom prst="ellipse">
            <a:avLst/>
          </a:prstGeom>
          <a:solidFill>
            <a:srgbClr val="4833D6"/>
          </a:solidFill>
          <a:ln/>
        </p:spPr>
      </p:sp>
      <p:sp>
        <p:nvSpPr>
          <p:cNvPr id="26" name="Text 23"/>
          <p:cNvSpPr/>
          <p:nvPr/>
        </p:nvSpPr>
        <p:spPr>
          <a:xfrm>
            <a:off x="8595360" y="3355848"/>
            <a:ext cx="3017520" cy="292608"/>
          </a:xfrm>
          <a:prstGeom prst="rect">
            <a:avLst/>
          </a:prstGeom>
          <a:noFill/>
          <a:ln/>
        </p:spPr>
        <p:txBody>
          <a:bodyPr wrap="square" lIns="0" tIns="0" rIns="0" bIns="0" rtlCol="0" anchor="ctr"/>
          <a:lstStyle/>
          <a:p>
            <a:pPr indent="0" marL="0">
              <a:buNone/>
            </a:pPr>
            <a:r>
              <a:rPr lang="en-US" sz="1200" b="1" dirty="0">
                <a:solidFill>
                  <a:srgbClr val="4833D6"/>
                </a:solidFill>
                <a:latin typeface="Calibri" pitchFamily="34" charset="0"/>
                <a:ea typeface="Calibri" pitchFamily="34" charset="-122"/>
                <a:cs typeface="Calibri" pitchFamily="34" charset="-120"/>
              </a:rPr>
              <a:t>Día 1 noche</a:t>
            </a:r>
            <a:endParaRPr lang="en-US" sz="1200" dirty="0"/>
          </a:p>
        </p:txBody>
      </p:sp>
      <p:sp>
        <p:nvSpPr>
          <p:cNvPr id="27" name="Text 24"/>
          <p:cNvSpPr/>
          <p:nvPr/>
        </p:nvSpPr>
        <p:spPr>
          <a:xfrm>
            <a:off x="8595360" y="3648456"/>
            <a:ext cx="3017520" cy="594360"/>
          </a:xfrm>
          <a:prstGeom prst="rect">
            <a:avLst/>
          </a:prstGeom>
          <a:noFill/>
          <a:ln/>
        </p:spPr>
        <p:txBody>
          <a:bodyPr wrap="square" lIns="0" tIns="0" rIns="0" bIns="0" rtlCol="0" anchor="t"/>
          <a:lstStyle/>
          <a:p>
            <a:pPr indent="0" marL="0">
              <a:buNone/>
            </a:pPr>
            <a:r>
              <a:rPr lang="en-US" sz="1100" dirty="0">
                <a:solidFill>
                  <a:srgbClr val="1A1033"/>
                </a:solidFill>
                <a:latin typeface="Calibri" pitchFamily="34" charset="0"/>
                <a:ea typeface="Calibri" pitchFamily="34" charset="-122"/>
                <a:cs typeface="Calibri" pitchFamily="34" charset="-120"/>
              </a:rPr>
              <a:t>El SAT publica los comprobantes del día.</a:t>
            </a:r>
            <a:endParaRPr lang="en-US" sz="1100" dirty="0"/>
          </a:p>
        </p:txBody>
      </p:sp>
      <p:sp>
        <p:nvSpPr>
          <p:cNvPr id="28" name="Shape 25"/>
          <p:cNvSpPr/>
          <p:nvPr/>
        </p:nvSpPr>
        <p:spPr>
          <a:xfrm>
            <a:off x="8275320" y="4379976"/>
            <a:ext cx="201168" cy="201168"/>
          </a:xfrm>
          <a:prstGeom prst="ellipse">
            <a:avLst/>
          </a:prstGeom>
          <a:solidFill>
            <a:srgbClr val="6BDA4D"/>
          </a:solidFill>
          <a:ln/>
        </p:spPr>
      </p:sp>
      <p:sp>
        <p:nvSpPr>
          <p:cNvPr id="29" name="Text 26"/>
          <p:cNvSpPr/>
          <p:nvPr/>
        </p:nvSpPr>
        <p:spPr>
          <a:xfrm>
            <a:off x="8595360" y="4288536"/>
            <a:ext cx="3017520" cy="292608"/>
          </a:xfrm>
          <a:prstGeom prst="rect">
            <a:avLst/>
          </a:prstGeom>
          <a:noFill/>
          <a:ln/>
        </p:spPr>
        <p:txBody>
          <a:bodyPr wrap="square" lIns="0" tIns="0" rIns="0" bIns="0" rtlCol="0" anchor="ctr"/>
          <a:lstStyle/>
          <a:p>
            <a:pPr indent="0" marL="0">
              <a:buNone/>
            </a:pPr>
            <a:r>
              <a:rPr lang="en-US" sz="1200" b="1" dirty="0">
                <a:solidFill>
                  <a:srgbClr val="6BDA4D"/>
                </a:solidFill>
                <a:latin typeface="Calibri" pitchFamily="34" charset="0"/>
                <a:ea typeface="Calibri" pitchFamily="34" charset="-122"/>
                <a:cs typeface="Calibri" pitchFamily="34" charset="-120"/>
              </a:rPr>
              <a:t>Día 2 AM</a:t>
            </a:r>
            <a:endParaRPr lang="en-US" sz="1200" dirty="0"/>
          </a:p>
        </p:txBody>
      </p:sp>
      <p:sp>
        <p:nvSpPr>
          <p:cNvPr id="30" name="Text 27"/>
          <p:cNvSpPr/>
          <p:nvPr/>
        </p:nvSpPr>
        <p:spPr>
          <a:xfrm>
            <a:off x="8595360" y="4581144"/>
            <a:ext cx="3017520" cy="594360"/>
          </a:xfrm>
          <a:prstGeom prst="rect">
            <a:avLst/>
          </a:prstGeom>
          <a:noFill/>
          <a:ln/>
        </p:spPr>
        <p:txBody>
          <a:bodyPr wrap="square" lIns="0" tIns="0" rIns="0" bIns="0" rtlCol="0" anchor="t"/>
          <a:lstStyle/>
          <a:p>
            <a:pPr indent="0" marL="0">
              <a:buNone/>
            </a:pPr>
            <a:r>
              <a:rPr lang="en-US" sz="1100" dirty="0">
                <a:solidFill>
                  <a:srgbClr val="1A1033"/>
                </a:solidFill>
                <a:latin typeface="Calibri" pitchFamily="34" charset="0"/>
                <a:ea typeface="Calibri" pitchFamily="34" charset="-122"/>
                <a:cs typeface="Calibri" pitchFamily="34" charset="-120"/>
              </a:rPr>
              <a:t>AICuenta los tiene sincronizados y visibles.</a:t>
            </a:r>
            <a:endParaRPr lang="en-US" sz="1100" dirty="0"/>
          </a:p>
        </p:txBody>
      </p:sp>
      <p:sp>
        <p:nvSpPr>
          <p:cNvPr id="31" name="Shape 28"/>
          <p:cNvSpPr/>
          <p:nvPr/>
        </p:nvSpPr>
        <p:spPr>
          <a:xfrm>
            <a:off x="8275320" y="5312664"/>
            <a:ext cx="201168" cy="201168"/>
          </a:xfrm>
          <a:prstGeom prst="ellipse">
            <a:avLst/>
          </a:prstGeom>
          <a:solidFill>
            <a:srgbClr val="8B42D4"/>
          </a:solidFill>
          <a:ln/>
        </p:spPr>
      </p:sp>
      <p:sp>
        <p:nvSpPr>
          <p:cNvPr id="32" name="Text 29"/>
          <p:cNvSpPr/>
          <p:nvPr/>
        </p:nvSpPr>
        <p:spPr>
          <a:xfrm>
            <a:off x="8595360" y="5221224"/>
            <a:ext cx="3017520" cy="292608"/>
          </a:xfrm>
          <a:prstGeom prst="rect">
            <a:avLst/>
          </a:prstGeom>
          <a:noFill/>
          <a:ln/>
        </p:spPr>
        <p:txBody>
          <a:bodyPr wrap="square" lIns="0" tIns="0" rIns="0" bIns="0" rtlCol="0" anchor="ctr"/>
          <a:lstStyle/>
          <a:p>
            <a:pPr indent="0" marL="0">
              <a:buNone/>
            </a:pPr>
            <a:r>
              <a:rPr lang="en-US" sz="1200" b="1" dirty="0">
                <a:solidFill>
                  <a:srgbClr val="8B42D4"/>
                </a:solidFill>
                <a:latin typeface="Calibri" pitchFamily="34" charset="0"/>
                <a:ea typeface="Calibri" pitchFamily="34" charset="-122"/>
                <a:cs typeface="Calibri" pitchFamily="34" charset="-120"/>
              </a:rPr>
              <a:t>Cada hora</a:t>
            </a:r>
            <a:endParaRPr lang="en-US" sz="1200" dirty="0"/>
          </a:p>
        </p:txBody>
      </p:sp>
      <p:sp>
        <p:nvSpPr>
          <p:cNvPr id="33" name="Text 30"/>
          <p:cNvSpPr/>
          <p:nvPr/>
        </p:nvSpPr>
        <p:spPr>
          <a:xfrm>
            <a:off x="8595360" y="5513832"/>
            <a:ext cx="3017520" cy="594360"/>
          </a:xfrm>
          <a:prstGeom prst="rect">
            <a:avLst/>
          </a:prstGeom>
          <a:noFill/>
          <a:ln/>
        </p:spPr>
        <p:txBody>
          <a:bodyPr wrap="square" lIns="0" tIns="0" rIns="0" bIns="0" rtlCol="0" anchor="t"/>
          <a:lstStyle/>
          <a:p>
            <a:pPr indent="0" marL="0">
              <a:buNone/>
            </a:pPr>
            <a:r>
              <a:rPr lang="en-US" sz="1100" dirty="0">
                <a:solidFill>
                  <a:srgbClr val="1A1033"/>
                </a:solidFill>
                <a:latin typeface="Calibri" pitchFamily="34" charset="0"/>
                <a:ea typeface="Calibri" pitchFamily="34" charset="-122"/>
                <a:cs typeface="Calibri" pitchFamily="34" charset="-120"/>
              </a:rPr>
              <a:t>Se revisa la 69-B y notifica cambios relevantes.</a:t>
            </a:r>
            <a:endParaRPr lang="en-US" sz="1100" dirty="0"/>
          </a:p>
        </p:txBody>
      </p:sp>
      <p:sp>
        <p:nvSpPr>
          <p:cNvPr id="34" name="Text 3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4 · CEO estratégico</a:t>
            </a:r>
            <a:endParaRPr lang="en-US" sz="1000" dirty="0"/>
          </a:p>
        </p:txBody>
      </p:sp>
      <p:sp>
        <p:nvSpPr>
          <p:cNvPr id="35" name="Text 32"/>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Notificaciones y suscripción</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Alertas importantes y control del plan contratado</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828800"/>
            <a:ext cx="5394960" cy="4434840"/>
          </a:xfrm>
          <a:prstGeom prst="roundRect">
            <a:avLst>
              <a:gd name="adj" fmla="val 2887"/>
            </a:avLst>
          </a:prstGeom>
          <a:solidFill>
            <a:srgbClr val="FFFFFF"/>
          </a:solidFill>
          <a:ln w="9525">
            <a:solidFill>
              <a:srgbClr val="E4DEF2"/>
            </a:solidFill>
            <a:prstDash val="solid"/>
          </a:ln>
        </p:spPr>
      </p:sp>
      <p:sp>
        <p:nvSpPr>
          <p:cNvPr id="9" name="Shape 6"/>
          <p:cNvSpPr/>
          <p:nvPr/>
        </p:nvSpPr>
        <p:spPr>
          <a:xfrm>
            <a:off x="777240" y="2011680"/>
            <a:ext cx="502920" cy="502920"/>
          </a:xfrm>
          <a:prstGeom prst="ellipse">
            <a:avLst/>
          </a:prstGeom>
          <a:solidFill>
            <a:srgbClr val="4622AA"/>
          </a:solidFill>
          <a:ln/>
        </p:spPr>
      </p:sp>
      <p:sp>
        <p:nvSpPr>
          <p:cNvPr id="10" name="Text 7"/>
          <p:cNvSpPr/>
          <p:nvPr/>
        </p:nvSpPr>
        <p:spPr>
          <a:xfrm>
            <a:off x="777240" y="20116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N</a:t>
            </a:r>
            <a:endParaRPr lang="en-US" sz="2000" dirty="0"/>
          </a:p>
        </p:txBody>
      </p:sp>
      <p:sp>
        <p:nvSpPr>
          <p:cNvPr id="11" name="Text 8"/>
          <p:cNvSpPr/>
          <p:nvPr/>
        </p:nvSpPr>
        <p:spPr>
          <a:xfrm>
            <a:off x="1371600" y="2011680"/>
            <a:ext cx="3657600" cy="45720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Notificaciones</a:t>
            </a:r>
            <a:endParaRPr lang="en-US" sz="1800" dirty="0"/>
          </a:p>
        </p:txBody>
      </p:sp>
      <p:sp>
        <p:nvSpPr>
          <p:cNvPr id="12" name="Text 9"/>
          <p:cNvSpPr/>
          <p:nvPr/>
        </p:nvSpPr>
        <p:spPr>
          <a:xfrm>
            <a:off x="777240" y="2651760"/>
            <a:ext cx="4937760" cy="3474720"/>
          </a:xfrm>
          <a:prstGeom prst="rect">
            <a:avLst/>
          </a:prstGeom>
          <a:noFill/>
          <a:ln/>
        </p:spPr>
        <p:txBody>
          <a:bodyPr wrap="square" rtlCol="0" anchor="t"/>
          <a:lstStyle/>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Ícono de campana en la barra superior siempre visible.</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Avisos de vencimientos fiscales, cambios en tu plan e invitaciones al equipo.</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Marca como leídas con un clic.</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Módulo de Soporte para levantar tickets directamente al equipo de AICuenta.</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Historial de acciones auditables para tu tranquilidad.</a:t>
            </a:r>
            <a:endParaRPr lang="en-US" sz="1300" dirty="0"/>
          </a:p>
        </p:txBody>
      </p:sp>
      <p:sp>
        <p:nvSpPr>
          <p:cNvPr id="13" name="Shape 10"/>
          <p:cNvSpPr/>
          <p:nvPr/>
        </p:nvSpPr>
        <p:spPr>
          <a:xfrm>
            <a:off x="6263640" y="1828800"/>
            <a:ext cx="5440680" cy="4434840"/>
          </a:xfrm>
          <a:prstGeom prst="roundRect">
            <a:avLst>
              <a:gd name="adj" fmla="val 2887"/>
            </a:avLst>
          </a:prstGeom>
          <a:solidFill>
            <a:srgbClr val="F6F3FC"/>
          </a:solidFill>
          <a:ln w="9525">
            <a:solidFill>
              <a:srgbClr val="E4DEF2"/>
            </a:solidFill>
            <a:prstDash val="solid"/>
          </a:ln>
        </p:spPr>
      </p:sp>
      <p:sp>
        <p:nvSpPr>
          <p:cNvPr id="14" name="Shape 11"/>
          <p:cNvSpPr/>
          <p:nvPr/>
        </p:nvSpPr>
        <p:spPr>
          <a:xfrm>
            <a:off x="6492240" y="2011680"/>
            <a:ext cx="502920" cy="502920"/>
          </a:xfrm>
          <a:prstGeom prst="ellipse">
            <a:avLst/>
          </a:prstGeom>
          <a:solidFill>
            <a:srgbClr val="6BDA4D"/>
          </a:solidFill>
          <a:ln/>
        </p:spPr>
      </p:sp>
      <p:sp>
        <p:nvSpPr>
          <p:cNvPr id="15" name="Text 12"/>
          <p:cNvSpPr/>
          <p:nvPr/>
        </p:nvSpPr>
        <p:spPr>
          <a:xfrm>
            <a:off x="6492240" y="20116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3"/>
          <p:cNvSpPr/>
          <p:nvPr/>
        </p:nvSpPr>
        <p:spPr>
          <a:xfrm>
            <a:off x="7086600" y="2011680"/>
            <a:ext cx="4114800" cy="45720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Suscripción</a:t>
            </a:r>
            <a:endParaRPr lang="en-US" sz="1800" dirty="0"/>
          </a:p>
        </p:txBody>
      </p:sp>
      <p:sp>
        <p:nvSpPr>
          <p:cNvPr id="17" name="Text 14"/>
          <p:cNvSpPr/>
          <p:nvPr/>
        </p:nvSpPr>
        <p:spPr>
          <a:xfrm>
            <a:off x="6492240" y="2651760"/>
            <a:ext cx="4937760" cy="3474720"/>
          </a:xfrm>
          <a:prstGeom prst="rect">
            <a:avLst/>
          </a:prstGeom>
          <a:noFill/>
          <a:ln/>
        </p:spPr>
        <p:txBody>
          <a:bodyPr wrap="square" rtlCol="0" anchor="t"/>
          <a:lstStyle/>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Contrata cualquiera de los 5 planes con 30 días gratis.</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Cobro seguro con Stripe: tarjeta guardada en modo cifrado.</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Cancela cuando quieras, sin llamadas ni penalizaciones.</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Cambia de plan en el momento; solo pagas la diferencia proporcional.</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Descarga tus facturas y recibos desde el portal del suscriptor.</a:t>
            </a:r>
            <a:endParaRPr lang="en-US" sz="1300" dirty="0"/>
          </a:p>
        </p:txBody>
      </p:sp>
      <p:sp>
        <p:nvSpPr>
          <p:cNvPr id="18" name="Text 1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4 · CEO estratégico</a:t>
            </a:r>
            <a:endParaRPr lang="en-US" sz="1000" dirty="0"/>
          </a:p>
        </p:txBody>
      </p:sp>
      <p:sp>
        <p:nvSpPr>
          <p:cNvPr id="19" name="Text 16"/>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450C7D"/>
        </a:solidFill>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4622AA">
              <a:alpha val="60000"/>
            </a:srgbClr>
          </a:solidFill>
          <a:ln/>
        </p:spPr>
      </p:sp>
      <p:sp>
        <p:nvSpPr>
          <p:cNvPr id="3" name="Shape 1"/>
          <p:cNvSpPr/>
          <p:nvPr/>
        </p:nvSpPr>
        <p:spPr>
          <a:xfrm>
            <a:off x="9144000" y="3200400"/>
            <a:ext cx="4114800" cy="4114800"/>
          </a:xfrm>
          <a:prstGeom prst="ellipse">
            <a:avLst/>
          </a:prstGeom>
          <a:solidFill>
            <a:srgbClr val="6BDA4D">
              <a:alpha val="55000"/>
            </a:srgbClr>
          </a:solidFill>
          <a:ln/>
        </p:spPr>
      </p:sp>
      <p:sp>
        <p:nvSpPr>
          <p:cNvPr id="4" name="Text 2"/>
          <p:cNvSpPr/>
          <p:nvPr/>
        </p:nvSpPr>
        <p:spPr>
          <a:xfrm>
            <a:off x="822960" y="2011680"/>
            <a:ext cx="7315200" cy="548640"/>
          </a:xfrm>
          <a:prstGeom prst="rect">
            <a:avLst/>
          </a:prstGeom>
          <a:noFill/>
          <a:ln/>
        </p:spPr>
        <p:txBody>
          <a:bodyPr wrap="square" lIns="0" tIns="0" rIns="0" bIns="0" rtlCol="0" anchor="ctr"/>
          <a:lstStyle/>
          <a:p>
            <a:pPr algn="l" indent="0" marL="0">
              <a:buNone/>
            </a:pPr>
            <a:r>
              <a:rPr lang="en-US" sz="2200" b="1" dirty="0">
                <a:solidFill>
                  <a:srgbClr val="AEDB4A"/>
                </a:solidFill>
                <a:latin typeface="Calibri" pitchFamily="34" charset="0"/>
                <a:ea typeface="Calibri" pitchFamily="34" charset="-122"/>
                <a:cs typeface="Calibri" pitchFamily="34" charset="-120"/>
              </a:rPr>
              <a:t>Módulo 5</a:t>
            </a:r>
            <a:endParaRPr lang="en-US" sz="2200" dirty="0"/>
          </a:p>
        </p:txBody>
      </p:sp>
      <p:sp>
        <p:nvSpPr>
          <p:cNvPr id="5" name="Text 3"/>
          <p:cNvSpPr/>
          <p:nvPr/>
        </p:nvSpPr>
        <p:spPr>
          <a:xfrm>
            <a:off x="822960" y="2606040"/>
            <a:ext cx="9144000" cy="1554480"/>
          </a:xfrm>
          <a:prstGeom prst="rect">
            <a:avLst/>
          </a:prstGeom>
          <a:noFill/>
          <a:ln/>
        </p:spPr>
        <p:txBody>
          <a:bodyPr wrap="square" lIns="0" tIns="0" rIns="0" bIns="0" rtlCol="0" anchor="t"/>
          <a:lstStyle/>
          <a:p>
            <a:pPr algn="l" indent="0" marL="0">
              <a:buNone/>
            </a:pPr>
            <a:r>
              <a:rPr lang="en-US" sz="5400" b="1" dirty="0">
                <a:solidFill>
                  <a:srgbClr val="FFFFFF"/>
                </a:solidFill>
                <a:latin typeface="Calibri" pitchFamily="34" charset="0"/>
                <a:ea typeface="Calibri" pitchFamily="34" charset="-122"/>
                <a:cs typeface="Calibri" pitchFamily="34" charset="-120"/>
              </a:rPr>
              <a:t>IA y automatización</a:t>
            </a:r>
            <a:endParaRPr lang="en-US" sz="5400" dirty="0"/>
          </a:p>
        </p:txBody>
      </p:sp>
      <p:sp>
        <p:nvSpPr>
          <p:cNvPr id="6" name="Text 4"/>
          <p:cNvSpPr/>
          <p:nvPr/>
        </p:nvSpPr>
        <p:spPr>
          <a:xfrm>
            <a:off x="822960" y="4297680"/>
            <a:ext cx="9144000" cy="548640"/>
          </a:xfrm>
          <a:prstGeom prst="rect">
            <a:avLst/>
          </a:prstGeom>
          <a:noFill/>
          <a:ln/>
        </p:spPr>
        <p:txBody>
          <a:bodyPr wrap="square" lIns="0" tIns="0" rIns="0" bIns="0" rtlCol="0" anchor="ctr"/>
          <a:lstStyle/>
          <a:p>
            <a:pPr algn="l" indent="0" marL="0">
              <a:buNone/>
            </a:pPr>
            <a:r>
              <a:rPr lang="en-US" sz="1800" i="1" dirty="0">
                <a:solidFill>
                  <a:srgbClr val="B6F0A0"/>
                </a:solidFill>
                <a:latin typeface="Calibri" pitchFamily="34" charset="0"/>
                <a:ea typeface="Calibri" pitchFamily="34" charset="-122"/>
                <a:cs typeface="Calibri" pitchFamily="34" charset="-120"/>
              </a:rPr>
              <a:t>Chat fiscal, chat documental y bot de WhatsApp con OCR</a:t>
            </a:r>
            <a:endParaRPr lang="en-US" sz="1800" dirty="0"/>
          </a:p>
        </p:txBody>
      </p:sp>
      <p:pic>
        <p:nvPicPr>
          <p:cNvPr id="7" name="Image 0" descr="/sessions/relaxed-awesome-albattani/mnt/outputs/logo-blanco.png">    </p:cNvPr>
          <p:cNvPicPr>
            <a:picLocks noChangeAspect="1"/>
          </p:cNvPicPr>
          <p:nvPr/>
        </p:nvPicPr>
        <p:blipFill>
          <a:blip r:embed="rId1"/>
          <a:stretch>
            <a:fillRect/>
          </a:stretch>
        </p:blipFill>
        <p:spPr>
          <a:xfrm>
            <a:off x="9601200" y="4937760"/>
            <a:ext cx="1645920" cy="164592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Chatbot Fiscal</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/dashboard/chat · GPT-4o-mini con herramientas SQL sobre tus CFDIs</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Text 5"/>
          <p:cNvSpPr/>
          <p:nvPr/>
        </p:nvSpPr>
        <p:spPr>
          <a:xfrm>
            <a:off x="548640" y="1828800"/>
            <a:ext cx="5943600" cy="365760"/>
          </a:xfrm>
          <a:prstGeom prst="rect">
            <a:avLst/>
          </a:prstGeom>
          <a:noFill/>
          <a:ln/>
        </p:spPr>
        <p:txBody>
          <a:bodyPr wrap="square" lIns="0" tIns="0" rIns="0" bIns="0" rtlCol="0" anchor="ctr"/>
          <a:lstStyle/>
          <a:p>
            <a:pPr indent="0" marL="0">
              <a:buNone/>
            </a:pPr>
            <a:r>
              <a:rPr lang="en-US" sz="1500" b="1" dirty="0">
                <a:solidFill>
                  <a:srgbClr val="450C7D"/>
                </a:solidFill>
                <a:latin typeface="Calibri" pitchFamily="34" charset="0"/>
                <a:ea typeface="Calibri" pitchFamily="34" charset="-122"/>
                <a:cs typeface="Calibri" pitchFamily="34" charset="-120"/>
              </a:rPr>
              <a:t>Cómo funciona</a:t>
            </a:r>
            <a:endParaRPr lang="en-US" sz="1500" dirty="0"/>
          </a:p>
        </p:txBody>
      </p:sp>
      <p:sp>
        <p:nvSpPr>
          <p:cNvPr id="9" name="Text 6"/>
          <p:cNvSpPr/>
          <p:nvPr/>
        </p:nvSpPr>
        <p:spPr>
          <a:xfrm>
            <a:off x="548640" y="2286000"/>
            <a:ext cx="5943600" cy="4023360"/>
          </a:xfrm>
          <a:prstGeom prst="rect">
            <a:avLst/>
          </a:prstGeom>
          <a:noFill/>
          <a:ln/>
        </p:spPr>
        <p:txBody>
          <a:bodyPr wrap="square" rtlCol="0" anchor="t"/>
          <a:lstStyle/>
          <a:p>
            <a:pPr indent="0" marL="0">
              <a:spcAft>
                <a:spcPts val="400"/>
              </a:spcAft>
              <a:buNone/>
            </a:pPr>
            <a:r>
              <a:rPr lang="en-US" sz="1300" dirty="0">
                <a:solidFill>
                  <a:srgbClr val="1A1033"/>
                </a:solidFill>
                <a:latin typeface="Calibri" pitchFamily="34" charset="0"/>
                <a:ea typeface="Calibri" pitchFamily="34" charset="-122"/>
                <a:cs typeface="Calibri" pitchFamily="34" charset="-120"/>
              </a:rPr>
              <a:t>El modelo recibe la pregunta y elige entre 12+ tools:</a:t>
            </a:r>
            <a:endParaRPr lang="en-US" sz="1300" dirty="0"/>
          </a:p>
          <a:p>
            <a:pPr indent="0" marL="0">
              <a:spcAft>
                <a:spcPts val="400"/>
              </a:spcAft>
              <a:buNone/>
            </a:pPr>
            <a:endParaRPr lang="en-US" sz="1300" dirty="0"/>
          </a:p>
          <a:p>
            <a:pPr marL="342900" indent="-342900">
              <a:spcAft>
                <a:spcPts val="400"/>
              </a:spcAft>
              <a:buSzPct val="100000"/>
              <a:buChar char="•"/>
            </a:pPr>
            <a:r>
              <a:rPr lang="en-US" sz="1100" dirty="0">
                <a:solidFill>
                  <a:srgbClr val="4622AA"/>
                </a:solidFill>
                <a:latin typeface="Courier New" pitchFamily="34" charset="0"/>
                <a:ea typeface="Courier New" pitchFamily="34" charset="-122"/>
                <a:cs typeface="Courier New" pitchFamily="34" charset="-120"/>
              </a:rPr>
              <a:t>chat_search_cfdis · chat_aggregate_cfdis</a:t>
            </a:r>
            <a:endParaRPr lang="en-US" sz="1300" dirty="0"/>
          </a:p>
          <a:p>
            <a:pPr marL="342900" indent="-342900">
              <a:spcAft>
                <a:spcPts val="400"/>
              </a:spcAft>
              <a:buSzPct val="100000"/>
              <a:buChar char="•"/>
            </a:pPr>
            <a:r>
              <a:rPr lang="en-US" sz="1100" dirty="0">
                <a:solidFill>
                  <a:srgbClr val="4622AA"/>
                </a:solidFill>
                <a:latin typeface="Courier New" pitchFamily="34" charset="0"/>
                <a:ea typeface="Courier New" pitchFamily="34" charset="-122"/>
                <a:cs typeface="Courier New" pitchFamily="34" charset="-120"/>
              </a:rPr>
              <a:t>chat_get_top_facturas · chat_get_conceptos_analysis</a:t>
            </a:r>
            <a:endParaRPr lang="en-US" sz="1300" dirty="0"/>
          </a:p>
          <a:p>
            <a:pPr marL="342900" indent="-342900">
              <a:spcAft>
                <a:spcPts val="400"/>
              </a:spcAft>
              <a:buSzPct val="100000"/>
              <a:buChar char="•"/>
            </a:pPr>
            <a:r>
              <a:rPr lang="en-US" sz="1100" dirty="0">
                <a:solidFill>
                  <a:srgbClr val="4622AA"/>
                </a:solidFill>
                <a:latin typeface="Courier New" pitchFamily="34" charset="0"/>
                <a:ea typeface="Courier New" pitchFamily="34" charset="-122"/>
                <a:cs typeface="Courier New" pitchFamily="34" charset="-120"/>
              </a:rPr>
              <a:t>chat_get_resumen_fiscal · chat_get_iva_desglose</a:t>
            </a:r>
            <a:endParaRPr lang="en-US" sz="1300" dirty="0"/>
          </a:p>
          <a:p>
            <a:pPr marL="342900" indent="-342900">
              <a:spcAft>
                <a:spcPts val="400"/>
              </a:spcAft>
              <a:buSzPct val="100000"/>
              <a:buChar char="•"/>
            </a:pPr>
            <a:r>
              <a:rPr lang="en-US" sz="1100" dirty="0">
                <a:solidFill>
                  <a:srgbClr val="4622AA"/>
                </a:solidFill>
                <a:latin typeface="Courier New" pitchFamily="34" charset="0"/>
                <a:ea typeface="Courier New" pitchFamily="34" charset="-122"/>
                <a:cs typeface="Courier New" pitchFamily="34" charset="-120"/>
              </a:rPr>
              <a:t>chat_get_flujo_efectivo · chat_conciliar_pagos</a:t>
            </a:r>
            <a:endParaRPr lang="en-US" sz="1300" dirty="0"/>
          </a:p>
          <a:p>
            <a:pPr marL="342900" indent="-342900">
              <a:spcAft>
                <a:spcPts val="400"/>
              </a:spcAft>
              <a:buSzPct val="100000"/>
              <a:buChar char="•"/>
            </a:pPr>
            <a:r>
              <a:rPr lang="en-US" sz="1100" dirty="0">
                <a:solidFill>
                  <a:srgbClr val="6BDA4D"/>
                </a:solidFill>
                <a:latin typeface="Courier New" pitchFamily="34" charset="0"/>
                <a:ea typeface="Courier New" pitchFamily="34" charset="-122"/>
                <a:cs typeface="Courier New" pitchFamily="34" charset="-120"/>
              </a:rPr>
              <a:t>create_excel — devuelve URL one-shot para descargar</a:t>
            </a:r>
            <a:endParaRPr lang="en-US" sz="1300" dirty="0"/>
          </a:p>
          <a:p>
            <a:pPr indent="0" marL="0">
              <a:spcAft>
                <a:spcPts val="400"/>
              </a:spcAft>
              <a:buNone/>
            </a:pPr>
            <a:endParaRPr lang="en-US" sz="1300" dirty="0"/>
          </a:p>
          <a:p>
            <a:pPr indent="0" marL="0">
              <a:spcAft>
                <a:spcPts val="400"/>
              </a:spcAft>
              <a:buNone/>
            </a:pPr>
            <a:r>
              <a:rPr lang="en-US" sz="1300" b="1" dirty="0">
                <a:solidFill>
                  <a:srgbClr val="1A1033"/>
                </a:solidFill>
                <a:latin typeface="Calibri" pitchFamily="34" charset="0"/>
                <a:ea typeface="Calibri" pitchFamily="34" charset="-122"/>
                <a:cs typeface="Calibri" pitchFamily="34" charset="-120"/>
              </a:rPr>
              <a:t>Regla del sistema: </a:t>
            </a:r>
            <a:pPr indent="0" marL="0">
              <a:spcAft>
                <a:spcPts val="400"/>
              </a:spcAft>
              <a:buNone/>
            </a:pPr>
            <a:r>
              <a:rPr lang="en-US" sz="1300" i="1" dirty="0">
                <a:solidFill>
                  <a:srgbClr val="8B42D4"/>
                </a:solidFill>
                <a:latin typeface="Calibri" pitchFamily="34" charset="0"/>
                <a:ea typeface="Calibri" pitchFamily="34" charset="-122"/>
                <a:cs typeface="Calibri" pitchFamily="34" charset="-120"/>
              </a:rPr>
              <a:t>"nunca inventes valores"</a:t>
            </a:r>
            <a:pPr indent="0" marL="0">
              <a:spcAft>
                <a:spcPts val="400"/>
              </a:spcAft>
              <a:buNone/>
            </a:pPr>
            <a:r>
              <a:rPr lang="en-US" sz="1300" dirty="0">
                <a:solidFill>
                  <a:srgbClr val="1A1033"/>
                </a:solidFill>
                <a:latin typeface="Calibri" pitchFamily="34" charset="0"/>
                <a:ea typeface="Calibri" pitchFamily="34" charset="-122"/>
                <a:cs typeface="Calibri" pitchFamily="34" charset="-120"/>
              </a:rPr>
              <a:t>. Solo responde con datos reales.</a:t>
            </a:r>
            <a:endParaRPr lang="en-US" sz="1300" dirty="0"/>
          </a:p>
        </p:txBody>
      </p:sp>
      <p:sp>
        <p:nvSpPr>
          <p:cNvPr id="10" name="Shape 7"/>
          <p:cNvSpPr/>
          <p:nvPr/>
        </p:nvSpPr>
        <p:spPr>
          <a:xfrm>
            <a:off x="6675120" y="1828800"/>
            <a:ext cx="5029200" cy="4434840"/>
          </a:xfrm>
          <a:prstGeom prst="roundRect">
            <a:avLst>
              <a:gd name="adj" fmla="val 2887"/>
            </a:avLst>
          </a:prstGeom>
          <a:solidFill>
            <a:srgbClr val="F6F3FC"/>
          </a:solidFill>
          <a:ln w="9525">
            <a:solidFill>
              <a:srgbClr val="E4DEF2"/>
            </a:solidFill>
            <a:prstDash val="solid"/>
          </a:ln>
        </p:spPr>
      </p:sp>
      <p:sp>
        <p:nvSpPr>
          <p:cNvPr id="11" name="Text 8"/>
          <p:cNvSpPr/>
          <p:nvPr/>
        </p:nvSpPr>
        <p:spPr>
          <a:xfrm>
            <a:off x="6903720" y="1920240"/>
            <a:ext cx="4572000" cy="365760"/>
          </a:xfrm>
          <a:prstGeom prst="rect">
            <a:avLst/>
          </a:prstGeom>
          <a:noFill/>
          <a:ln/>
        </p:spPr>
        <p:txBody>
          <a:bodyPr wrap="square" lIns="0" tIns="0" rIns="0" bIns="0" rtlCol="0" anchor="ctr"/>
          <a:lstStyle/>
          <a:p>
            <a:pPr indent="0" marL="0">
              <a:buNone/>
            </a:pPr>
            <a:r>
              <a:rPr lang="en-US" sz="1300" b="1" dirty="0">
                <a:solidFill>
                  <a:srgbClr val="450C7D"/>
                </a:solidFill>
                <a:latin typeface="Calibri" pitchFamily="34" charset="0"/>
                <a:ea typeface="Calibri" pitchFamily="34" charset="-122"/>
                <a:cs typeface="Calibri" pitchFamily="34" charset="-120"/>
              </a:rPr>
              <a:t>Ejemplo real</a:t>
            </a:r>
            <a:endParaRPr lang="en-US" sz="1300" dirty="0"/>
          </a:p>
        </p:txBody>
      </p:sp>
      <p:sp>
        <p:nvSpPr>
          <p:cNvPr id="12" name="Shape 9"/>
          <p:cNvSpPr/>
          <p:nvPr/>
        </p:nvSpPr>
        <p:spPr>
          <a:xfrm>
            <a:off x="6903720" y="2423160"/>
            <a:ext cx="4572000" cy="640080"/>
          </a:xfrm>
          <a:prstGeom prst="roundRect">
            <a:avLst>
              <a:gd name="adj" fmla="val 20000"/>
            </a:avLst>
          </a:prstGeom>
          <a:solidFill>
            <a:srgbClr val="FFFFFF"/>
          </a:solidFill>
          <a:ln w="9525">
            <a:solidFill>
              <a:srgbClr val="E4DEF2"/>
            </a:solidFill>
            <a:prstDash val="solid"/>
          </a:ln>
        </p:spPr>
      </p:sp>
      <p:sp>
        <p:nvSpPr>
          <p:cNvPr id="13" name="Text 10"/>
          <p:cNvSpPr/>
          <p:nvPr/>
        </p:nvSpPr>
        <p:spPr>
          <a:xfrm>
            <a:off x="7040880" y="2468880"/>
            <a:ext cx="4297680" cy="548640"/>
          </a:xfrm>
          <a:prstGeom prst="rect">
            <a:avLst/>
          </a:prstGeom>
          <a:noFill/>
          <a:ln/>
        </p:spPr>
        <p:txBody>
          <a:bodyPr wrap="square" lIns="0" tIns="0" rIns="0" bIns="0" rtlCol="0" anchor="ctr"/>
          <a:lstStyle/>
          <a:p>
            <a:pPr indent="0" marL="0">
              <a:buNone/>
            </a:pPr>
            <a:r>
              <a:rPr lang="en-US" sz="1100" i="1" dirty="0">
                <a:solidFill>
                  <a:srgbClr val="1A1033"/>
                </a:solidFill>
                <a:latin typeface="Calibri" pitchFamily="34" charset="0"/>
                <a:ea typeface="Calibri" pitchFamily="34" charset="-122"/>
                <a:cs typeface="Calibri" pitchFamily="34" charset="-120"/>
              </a:rPr>
              <a:t>¿Cuáles fueron mis 5 mayores proveedores en mayo?</a:t>
            </a:r>
            <a:endParaRPr lang="en-US" sz="1100" dirty="0"/>
          </a:p>
        </p:txBody>
      </p:sp>
      <p:sp>
        <p:nvSpPr>
          <p:cNvPr id="14" name="Shape 11"/>
          <p:cNvSpPr/>
          <p:nvPr/>
        </p:nvSpPr>
        <p:spPr>
          <a:xfrm>
            <a:off x="6903720" y="3200400"/>
            <a:ext cx="4572000" cy="2880360"/>
          </a:xfrm>
          <a:prstGeom prst="roundRect">
            <a:avLst>
              <a:gd name="adj" fmla="val 4444"/>
            </a:avLst>
          </a:prstGeom>
          <a:solidFill>
            <a:srgbClr val="B6F0A0"/>
          </a:solidFill>
          <a:ln w="9525">
            <a:solidFill>
              <a:srgbClr val="6BDA4D"/>
            </a:solidFill>
            <a:prstDash val="solid"/>
          </a:ln>
        </p:spPr>
      </p:sp>
      <p:sp>
        <p:nvSpPr>
          <p:cNvPr id="15" name="Text 12"/>
          <p:cNvSpPr/>
          <p:nvPr/>
        </p:nvSpPr>
        <p:spPr>
          <a:xfrm>
            <a:off x="7040880" y="3291840"/>
            <a:ext cx="4297680" cy="2743200"/>
          </a:xfrm>
          <a:prstGeom prst="rect">
            <a:avLst/>
          </a:prstGeom>
          <a:noFill/>
          <a:ln/>
        </p:spPr>
        <p:txBody>
          <a:bodyPr wrap="square" rtlCol="0" anchor="t"/>
          <a:lstStyle/>
          <a:p>
            <a:pPr indent="0" marL="0">
              <a:spcAft>
                <a:spcPts val="200"/>
              </a:spcAft>
              <a:buNone/>
            </a:pPr>
            <a:r>
              <a:rPr lang="en-US" sz="1100" dirty="0">
                <a:solidFill>
                  <a:srgbClr val="450C7D"/>
                </a:solidFill>
                <a:latin typeface="Calibri" pitchFamily="34" charset="0"/>
                <a:ea typeface="Calibri" pitchFamily="34" charset="-122"/>
                <a:cs typeface="Calibri" pitchFamily="34" charset="-120"/>
              </a:rPr>
              <a:t>Ejecutando  </a:t>
            </a:r>
            <a:pPr indent="0" marL="0">
              <a:spcAft>
                <a:spcPts val="200"/>
              </a:spcAft>
              <a:buNone/>
            </a:pPr>
            <a:r>
              <a:rPr lang="en-US" sz="1100" b="1" dirty="0">
                <a:solidFill>
                  <a:srgbClr val="4622AA"/>
                </a:solidFill>
                <a:latin typeface="Courier New" pitchFamily="34" charset="0"/>
                <a:ea typeface="Courier New" pitchFamily="34" charset="-122"/>
                <a:cs typeface="Courier New" pitchFamily="34" charset="-120"/>
              </a:rPr>
              <a:t>chat_get_top_facturas</a:t>
            </a:r>
            <a:pPr indent="0" marL="0">
              <a:spcAft>
                <a:spcPts val="200"/>
              </a:spcAft>
              <a:buNone/>
            </a:pPr>
            <a:r>
              <a:rPr lang="en-US" sz="1100" dirty="0">
                <a:solidFill>
                  <a:srgbClr val="450C7D"/>
                </a:solidFill>
                <a:latin typeface="Calibri" pitchFamily="34" charset="0"/>
                <a:ea typeface="Calibri" pitchFamily="34" charset="-122"/>
                <a:cs typeface="Calibri" pitchFamily="34" charset="-120"/>
              </a:rPr>
              <a:t>...</a:t>
            </a:r>
            <a:endParaRPr lang="en-US" sz="1100" dirty="0"/>
          </a:p>
          <a:p>
            <a:pPr indent="0" marL="0">
              <a:spcAft>
                <a:spcPts val="200"/>
              </a:spcAft>
              <a:buNone/>
            </a:pPr>
            <a:endParaRPr lang="en-US" sz="1100" dirty="0"/>
          </a:p>
          <a:p>
            <a:pPr indent="0" marL="0">
              <a:spcAft>
                <a:spcPts val="200"/>
              </a:spcAft>
              <a:buNone/>
            </a:pPr>
            <a:r>
              <a:rPr lang="en-US" sz="1100" dirty="0">
                <a:solidFill>
                  <a:srgbClr val="1A1033"/>
                </a:solidFill>
                <a:latin typeface="Calibri" pitchFamily="34" charset="0"/>
                <a:ea typeface="Calibri" pitchFamily="34" charset="-122"/>
                <a:cs typeface="Calibri" pitchFamily="34" charset="-120"/>
              </a:rPr>
              <a:t>1. CFE Suministrador — $124,300</a:t>
            </a:r>
            <a:endParaRPr lang="en-US" sz="1100" dirty="0"/>
          </a:p>
          <a:p>
            <a:pPr indent="0" marL="0">
              <a:spcAft>
                <a:spcPts val="200"/>
              </a:spcAft>
              <a:buNone/>
            </a:pPr>
            <a:r>
              <a:rPr lang="en-US" sz="1100" dirty="0">
                <a:solidFill>
                  <a:srgbClr val="1A1033"/>
                </a:solidFill>
                <a:latin typeface="Calibri" pitchFamily="34" charset="0"/>
                <a:ea typeface="Calibri" pitchFamily="34" charset="-122"/>
                <a:cs typeface="Calibri" pitchFamily="34" charset="-120"/>
              </a:rPr>
              <a:t>2. Costco de México — $98,410</a:t>
            </a:r>
            <a:endParaRPr lang="en-US" sz="1100" dirty="0"/>
          </a:p>
          <a:p>
            <a:pPr indent="0" marL="0">
              <a:spcAft>
                <a:spcPts val="200"/>
              </a:spcAft>
              <a:buNone/>
            </a:pPr>
            <a:r>
              <a:rPr lang="en-US" sz="1100" dirty="0">
                <a:solidFill>
                  <a:srgbClr val="1A1033"/>
                </a:solidFill>
                <a:latin typeface="Calibri" pitchFamily="34" charset="0"/>
                <a:ea typeface="Calibri" pitchFamily="34" charset="-122"/>
                <a:cs typeface="Calibri" pitchFamily="34" charset="-120"/>
              </a:rPr>
              <a:t>3. Telmex — $54,720</a:t>
            </a:r>
            <a:endParaRPr lang="en-US" sz="1100" dirty="0"/>
          </a:p>
          <a:p>
            <a:pPr indent="0" marL="0">
              <a:spcAft>
                <a:spcPts val="200"/>
              </a:spcAft>
              <a:buNone/>
            </a:pPr>
            <a:r>
              <a:rPr lang="en-US" sz="1100" dirty="0">
                <a:solidFill>
                  <a:srgbClr val="1A1033"/>
                </a:solidFill>
                <a:latin typeface="Calibri" pitchFamily="34" charset="0"/>
                <a:ea typeface="Calibri" pitchFamily="34" charset="-122"/>
                <a:cs typeface="Calibri" pitchFamily="34" charset="-120"/>
              </a:rPr>
              <a:t>4. Home Depot — $41,180</a:t>
            </a:r>
            <a:endParaRPr lang="en-US" sz="1100" dirty="0"/>
          </a:p>
          <a:p>
            <a:pPr indent="0" marL="0">
              <a:spcAft>
                <a:spcPts val="200"/>
              </a:spcAft>
              <a:buNone/>
            </a:pPr>
            <a:r>
              <a:rPr lang="en-US" sz="1100" dirty="0">
                <a:solidFill>
                  <a:srgbClr val="1A1033"/>
                </a:solidFill>
                <a:latin typeface="Calibri" pitchFamily="34" charset="0"/>
                <a:ea typeface="Calibri" pitchFamily="34" charset="-122"/>
                <a:cs typeface="Calibri" pitchFamily="34" charset="-120"/>
              </a:rPr>
              <a:t>5. Uber Eats — $32,905</a:t>
            </a:r>
            <a:endParaRPr lang="en-US" sz="1100" dirty="0"/>
          </a:p>
          <a:p>
            <a:pPr indent="0" marL="0">
              <a:spcAft>
                <a:spcPts val="200"/>
              </a:spcAft>
              <a:buNone/>
            </a:pPr>
            <a:endParaRPr lang="en-US" sz="1100" dirty="0"/>
          </a:p>
          <a:p>
            <a:pPr indent="0" marL="0">
              <a:spcAft>
                <a:spcPts val="200"/>
              </a:spcAft>
              <a:buNone/>
            </a:pPr>
            <a:r>
              <a:rPr lang="en-US" sz="1100" b="1" dirty="0">
                <a:solidFill>
                  <a:srgbClr val="450C7D"/>
                </a:solidFill>
                <a:latin typeface="Calibri" pitchFamily="34" charset="0"/>
                <a:ea typeface="Calibri" pitchFamily="34" charset="-122"/>
                <a:cs typeface="Calibri" pitchFamily="34" charset="-120"/>
              </a:rPr>
              <a:t>¿Quieres que lo exporte a Excel?</a:t>
            </a:r>
            <a:endParaRPr lang="en-US" sz="1100" dirty="0"/>
          </a:p>
        </p:txBody>
      </p:sp>
      <p:sp>
        <p:nvSpPr>
          <p:cNvPr id="16" name="Text 13"/>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5 · IA y automatización</a:t>
            </a:r>
            <a:endParaRPr lang="en-US" sz="1000" dirty="0"/>
          </a:p>
        </p:txBody>
      </p:sp>
      <p:sp>
        <p:nvSpPr>
          <p:cNvPr id="17" name="Text 14"/>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Chatbot de Documentos</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Consulta Resolución Miscelánea, leyes fiscales y catálogo SAT</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828800"/>
            <a:ext cx="5349240" cy="4434840"/>
          </a:xfrm>
          <a:prstGeom prst="roundRect">
            <a:avLst>
              <a:gd name="adj" fmla="val 2887"/>
            </a:avLst>
          </a:prstGeom>
          <a:solidFill>
            <a:srgbClr val="EEFBE4"/>
          </a:solidFill>
          <a:ln w="9525">
            <a:solidFill>
              <a:srgbClr val="E4DEF2"/>
            </a:solidFill>
            <a:prstDash val="solid"/>
          </a:ln>
        </p:spPr>
      </p:sp>
      <p:sp>
        <p:nvSpPr>
          <p:cNvPr id="9" name="Shape 6"/>
          <p:cNvSpPr/>
          <p:nvPr/>
        </p:nvSpPr>
        <p:spPr>
          <a:xfrm>
            <a:off x="777240" y="2011680"/>
            <a:ext cx="502920" cy="502920"/>
          </a:xfrm>
          <a:prstGeom prst="ellipse">
            <a:avLst/>
          </a:prstGeom>
          <a:solidFill>
            <a:srgbClr val="6BDA4D"/>
          </a:solidFill>
          <a:ln/>
        </p:spPr>
      </p:sp>
      <p:sp>
        <p:nvSpPr>
          <p:cNvPr id="10" name="Text 7"/>
          <p:cNvSpPr/>
          <p:nvPr/>
        </p:nvSpPr>
        <p:spPr>
          <a:xfrm>
            <a:off x="777240" y="20116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8"/>
          <p:cNvSpPr/>
          <p:nvPr/>
        </p:nvSpPr>
        <p:spPr>
          <a:xfrm>
            <a:off x="1463040" y="2011680"/>
            <a:ext cx="4114800" cy="45720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Suscriptor (con cuenta)</a:t>
            </a:r>
            <a:endParaRPr lang="en-US" sz="1800" dirty="0"/>
          </a:p>
        </p:txBody>
      </p:sp>
      <p:sp>
        <p:nvSpPr>
          <p:cNvPr id="12" name="Text 9"/>
          <p:cNvSpPr/>
          <p:nvPr/>
        </p:nvSpPr>
        <p:spPr>
          <a:xfrm>
            <a:off x="868680" y="2651760"/>
            <a:ext cx="4892040" cy="3429000"/>
          </a:xfrm>
          <a:prstGeom prst="rect">
            <a:avLst/>
          </a:prstGeom>
          <a:noFill/>
          <a:ln/>
        </p:spPr>
        <p:txBody>
          <a:bodyPr wrap="square" rtlCol="0" anchor="t"/>
          <a:lstStyle/>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Respuestas más largas y detalladas</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Recuerda hasta 8 mensajes de contexto</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Preguntas más completas (más caracteres)</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Sin límite diario de consultas</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Descarga las respuestas a Excel</a:t>
            </a:r>
            <a:endParaRPr lang="en-US" sz="1300" dirty="0"/>
          </a:p>
        </p:txBody>
      </p:sp>
      <p:sp>
        <p:nvSpPr>
          <p:cNvPr id="13" name="Shape 10"/>
          <p:cNvSpPr/>
          <p:nvPr/>
        </p:nvSpPr>
        <p:spPr>
          <a:xfrm>
            <a:off x="6309360" y="1828800"/>
            <a:ext cx="5349240" cy="4434840"/>
          </a:xfrm>
          <a:prstGeom prst="roundRect">
            <a:avLst>
              <a:gd name="adj" fmla="val 2887"/>
            </a:avLst>
          </a:prstGeom>
          <a:solidFill>
            <a:srgbClr val="F6F3FC"/>
          </a:solidFill>
          <a:ln w="9525">
            <a:solidFill>
              <a:srgbClr val="E4DEF2"/>
            </a:solidFill>
            <a:prstDash val="solid"/>
          </a:ln>
        </p:spPr>
      </p:sp>
      <p:sp>
        <p:nvSpPr>
          <p:cNvPr id="14" name="Shape 11"/>
          <p:cNvSpPr/>
          <p:nvPr/>
        </p:nvSpPr>
        <p:spPr>
          <a:xfrm>
            <a:off x="6537960" y="2011680"/>
            <a:ext cx="502920" cy="502920"/>
          </a:xfrm>
          <a:prstGeom prst="ellipse">
            <a:avLst/>
          </a:prstGeom>
          <a:solidFill>
            <a:srgbClr val="4833D6"/>
          </a:solidFill>
          <a:ln/>
        </p:spPr>
      </p:sp>
      <p:sp>
        <p:nvSpPr>
          <p:cNvPr id="15" name="Text 12"/>
          <p:cNvSpPr/>
          <p:nvPr/>
        </p:nvSpPr>
        <p:spPr>
          <a:xfrm>
            <a:off x="6537960" y="20116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3"/>
          <p:cNvSpPr/>
          <p:nvPr/>
        </p:nvSpPr>
        <p:spPr>
          <a:xfrm>
            <a:off x="7223760" y="2011680"/>
            <a:ext cx="4114800" cy="457200"/>
          </a:xfrm>
          <a:prstGeom prst="rect">
            <a:avLst/>
          </a:prstGeom>
          <a:noFill/>
          <a:ln/>
        </p:spPr>
        <p:txBody>
          <a:bodyPr wrap="square" lIns="0" tIns="0" rIns="0" bIns="0" rtlCol="0" anchor="ctr"/>
          <a:lstStyle/>
          <a:p>
            <a:pPr indent="0" marL="0">
              <a:buNone/>
            </a:pPr>
            <a:r>
              <a:rPr lang="en-US" sz="1800" b="1" dirty="0">
                <a:solidFill>
                  <a:srgbClr val="450C7D"/>
                </a:solidFill>
                <a:latin typeface="Calibri" pitchFamily="34" charset="0"/>
                <a:ea typeface="Calibri" pitchFamily="34" charset="-122"/>
                <a:cs typeface="Calibri" pitchFamily="34" charset="-120"/>
              </a:rPr>
              <a:t>Visitante público</a:t>
            </a:r>
            <a:endParaRPr lang="en-US" sz="1800" dirty="0"/>
          </a:p>
        </p:txBody>
      </p:sp>
      <p:sp>
        <p:nvSpPr>
          <p:cNvPr id="17" name="Text 14"/>
          <p:cNvSpPr/>
          <p:nvPr/>
        </p:nvSpPr>
        <p:spPr>
          <a:xfrm>
            <a:off x="6629400" y="2651760"/>
            <a:ext cx="4892040" cy="3429000"/>
          </a:xfrm>
          <a:prstGeom prst="rect">
            <a:avLst/>
          </a:prstGeom>
          <a:noFill/>
          <a:ln/>
        </p:spPr>
        <p:txBody>
          <a:bodyPr wrap="square" rtlCol="0" anchor="t"/>
          <a:lstStyle/>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Acceso desde la página, sin registrarte</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Recuerda hasta 4 mensajes de contexto</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Preguntas más cortas</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Cuota diaria de consultas gratuitas</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Ideal para conocer la plataforma</a:t>
            </a:r>
            <a:endParaRPr lang="en-US" sz="1300" dirty="0"/>
          </a:p>
        </p:txBody>
      </p:sp>
      <p:sp>
        <p:nvSpPr>
          <p:cNvPr id="18" name="Text 1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5 · IA y automatización</a:t>
            </a:r>
            <a:endParaRPr lang="en-US" sz="1000" dirty="0"/>
          </a:p>
        </p:txBody>
      </p:sp>
      <p:sp>
        <p:nvSpPr>
          <p:cNvPr id="19" name="Text 16"/>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Bot de WhatsApp</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Recibe comprobantes por WhatsApp y AICuenta los captura solos</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828800"/>
            <a:ext cx="2697480" cy="3108960"/>
          </a:xfrm>
          <a:prstGeom prst="roundRect">
            <a:avLst>
              <a:gd name="adj" fmla="val 4746"/>
            </a:avLst>
          </a:prstGeom>
          <a:solidFill>
            <a:srgbClr val="FFFFFF"/>
          </a:solidFill>
          <a:ln w="9525">
            <a:solidFill>
              <a:srgbClr val="E4DEF2"/>
            </a:solidFill>
            <a:prstDash val="solid"/>
          </a:ln>
        </p:spPr>
      </p:sp>
      <p:sp>
        <p:nvSpPr>
          <p:cNvPr id="9" name="Shape 6"/>
          <p:cNvSpPr/>
          <p:nvPr/>
        </p:nvSpPr>
        <p:spPr>
          <a:xfrm>
            <a:off x="1554480" y="2011680"/>
            <a:ext cx="685800" cy="685800"/>
          </a:xfrm>
          <a:prstGeom prst="ellipse">
            <a:avLst/>
          </a:prstGeom>
          <a:solidFill>
            <a:srgbClr val="4622AA"/>
          </a:solidFill>
          <a:ln/>
        </p:spPr>
      </p:sp>
      <p:sp>
        <p:nvSpPr>
          <p:cNvPr id="10" name="Text 7"/>
          <p:cNvSpPr/>
          <p:nvPr/>
        </p:nvSpPr>
        <p:spPr>
          <a:xfrm>
            <a:off x="1554480" y="20116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1" name="Text 8"/>
          <p:cNvSpPr/>
          <p:nvPr/>
        </p:nvSpPr>
        <p:spPr>
          <a:xfrm>
            <a:off x="548640" y="2788920"/>
            <a:ext cx="2697480" cy="365760"/>
          </a:xfrm>
          <a:prstGeom prst="rect">
            <a:avLst/>
          </a:prstGeom>
          <a:noFill/>
          <a:ln/>
        </p:spPr>
        <p:txBody>
          <a:bodyPr wrap="square" lIns="0" tIns="0" rIns="0" bIns="0" rtlCol="0" anchor="ctr"/>
          <a:lstStyle/>
          <a:p>
            <a:pPr algn="ctr" indent="0" marL="0">
              <a:buNone/>
            </a:pPr>
            <a:r>
              <a:rPr lang="en-US" sz="1600" b="1" dirty="0">
                <a:solidFill>
                  <a:srgbClr val="450C7D"/>
                </a:solidFill>
                <a:latin typeface="Calibri" pitchFamily="34" charset="0"/>
                <a:ea typeface="Calibri" pitchFamily="34" charset="-122"/>
                <a:cs typeface="Calibri" pitchFamily="34" charset="-120"/>
              </a:rPr>
              <a:t>Vincular</a:t>
            </a:r>
            <a:endParaRPr lang="en-US" sz="1600" dirty="0"/>
          </a:p>
        </p:txBody>
      </p:sp>
      <p:sp>
        <p:nvSpPr>
          <p:cNvPr id="12" name="Text 9"/>
          <p:cNvSpPr/>
          <p:nvPr/>
        </p:nvSpPr>
        <p:spPr>
          <a:xfrm>
            <a:off x="731520" y="3200400"/>
            <a:ext cx="2377440" cy="1645920"/>
          </a:xfrm>
          <a:prstGeom prst="rect">
            <a:avLst/>
          </a:prstGeom>
          <a:noFill/>
          <a:ln/>
        </p:spPr>
        <p:txBody>
          <a:bodyPr wrap="square" lIns="0" tIns="0" rIns="0" bIns="0" rtlCol="0" anchor="t"/>
          <a:lstStyle/>
          <a:p>
            <a:pPr algn="ctr" indent="0" marL="0">
              <a:buNone/>
            </a:pPr>
            <a:r>
              <a:rPr lang="en-US" sz="1200" dirty="0">
                <a:solidFill>
                  <a:srgbClr val="1A1033"/>
                </a:solidFill>
                <a:latin typeface="Calibri" pitchFamily="34" charset="0"/>
                <a:ea typeface="Calibri" pitchFamily="34" charset="-122"/>
                <a:cs typeface="Calibri" pitchFamily="34" charset="-120"/>
              </a:rPr>
              <a:t>Desde la plataforma, el dueño escanea un código QR con su WhatsApp para vincular el número.</a:t>
            </a:r>
            <a:endParaRPr lang="en-US" sz="1200" dirty="0"/>
          </a:p>
        </p:txBody>
      </p:sp>
      <p:sp>
        <p:nvSpPr>
          <p:cNvPr id="13" name="Shape 10"/>
          <p:cNvSpPr/>
          <p:nvPr/>
        </p:nvSpPr>
        <p:spPr>
          <a:xfrm>
            <a:off x="3429000" y="1828800"/>
            <a:ext cx="2697480" cy="3108960"/>
          </a:xfrm>
          <a:prstGeom prst="roundRect">
            <a:avLst>
              <a:gd name="adj" fmla="val 4746"/>
            </a:avLst>
          </a:prstGeom>
          <a:solidFill>
            <a:srgbClr val="FFFFFF"/>
          </a:solidFill>
          <a:ln w="9525">
            <a:solidFill>
              <a:srgbClr val="E4DEF2"/>
            </a:solidFill>
            <a:prstDash val="solid"/>
          </a:ln>
        </p:spPr>
      </p:sp>
      <p:sp>
        <p:nvSpPr>
          <p:cNvPr id="14" name="Shape 11"/>
          <p:cNvSpPr/>
          <p:nvPr/>
        </p:nvSpPr>
        <p:spPr>
          <a:xfrm>
            <a:off x="4434840" y="2011680"/>
            <a:ext cx="685800" cy="685800"/>
          </a:xfrm>
          <a:prstGeom prst="ellipse">
            <a:avLst/>
          </a:prstGeom>
          <a:solidFill>
            <a:srgbClr val="4833D6"/>
          </a:solidFill>
          <a:ln/>
        </p:spPr>
      </p:sp>
      <p:sp>
        <p:nvSpPr>
          <p:cNvPr id="15" name="Text 12"/>
          <p:cNvSpPr/>
          <p:nvPr/>
        </p:nvSpPr>
        <p:spPr>
          <a:xfrm>
            <a:off x="4434840" y="20116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6" name="Text 13"/>
          <p:cNvSpPr/>
          <p:nvPr/>
        </p:nvSpPr>
        <p:spPr>
          <a:xfrm>
            <a:off x="3429000" y="2788920"/>
            <a:ext cx="2697480" cy="365760"/>
          </a:xfrm>
          <a:prstGeom prst="rect">
            <a:avLst/>
          </a:prstGeom>
          <a:noFill/>
          <a:ln/>
        </p:spPr>
        <p:txBody>
          <a:bodyPr wrap="square" lIns="0" tIns="0" rIns="0" bIns="0" rtlCol="0" anchor="ctr"/>
          <a:lstStyle/>
          <a:p>
            <a:pPr algn="ctr" indent="0" marL="0">
              <a:buNone/>
            </a:pPr>
            <a:r>
              <a:rPr lang="en-US" sz="1600" b="1" dirty="0">
                <a:solidFill>
                  <a:srgbClr val="450C7D"/>
                </a:solidFill>
                <a:latin typeface="Calibri" pitchFamily="34" charset="0"/>
                <a:ea typeface="Calibri" pitchFamily="34" charset="-122"/>
                <a:cs typeface="Calibri" pitchFamily="34" charset="-120"/>
              </a:rPr>
              <a:t>Número listo</a:t>
            </a:r>
            <a:endParaRPr lang="en-US" sz="1600" dirty="0"/>
          </a:p>
        </p:txBody>
      </p:sp>
      <p:sp>
        <p:nvSpPr>
          <p:cNvPr id="17" name="Text 14"/>
          <p:cNvSpPr/>
          <p:nvPr/>
        </p:nvSpPr>
        <p:spPr>
          <a:xfrm>
            <a:off x="3611880" y="3200400"/>
            <a:ext cx="2377440" cy="1645920"/>
          </a:xfrm>
          <a:prstGeom prst="rect">
            <a:avLst/>
          </a:prstGeom>
          <a:noFill/>
          <a:ln/>
        </p:spPr>
        <p:txBody>
          <a:bodyPr wrap="square" lIns="0" tIns="0" rIns="0" bIns="0" rtlCol="0" anchor="t"/>
          <a:lstStyle/>
          <a:p>
            <a:pPr algn="ctr" indent="0" marL="0">
              <a:buNone/>
            </a:pPr>
            <a:r>
              <a:rPr lang="en-US" sz="1200" dirty="0">
                <a:solidFill>
                  <a:srgbClr val="1A1033"/>
                </a:solidFill>
                <a:latin typeface="Calibri" pitchFamily="34" charset="0"/>
                <a:ea typeface="Calibri" pitchFamily="34" charset="-122"/>
                <a:cs typeface="Calibri" pitchFamily="34" charset="-120"/>
              </a:rPr>
              <a:t>El número queda conectado a AICuenta. Puedes compartirlo con clientes y proveedores.</a:t>
            </a:r>
            <a:endParaRPr lang="en-US" sz="1200" dirty="0"/>
          </a:p>
        </p:txBody>
      </p:sp>
      <p:sp>
        <p:nvSpPr>
          <p:cNvPr id="18" name="Shape 15"/>
          <p:cNvSpPr/>
          <p:nvPr/>
        </p:nvSpPr>
        <p:spPr>
          <a:xfrm>
            <a:off x="6309360" y="1828800"/>
            <a:ext cx="2697480" cy="3108960"/>
          </a:xfrm>
          <a:prstGeom prst="roundRect">
            <a:avLst>
              <a:gd name="adj" fmla="val 4746"/>
            </a:avLst>
          </a:prstGeom>
          <a:solidFill>
            <a:srgbClr val="FFFFFF"/>
          </a:solidFill>
          <a:ln w="9525">
            <a:solidFill>
              <a:srgbClr val="E4DEF2"/>
            </a:solidFill>
            <a:prstDash val="solid"/>
          </a:ln>
        </p:spPr>
      </p:sp>
      <p:sp>
        <p:nvSpPr>
          <p:cNvPr id="19" name="Shape 16"/>
          <p:cNvSpPr/>
          <p:nvPr/>
        </p:nvSpPr>
        <p:spPr>
          <a:xfrm>
            <a:off x="7315200" y="2011680"/>
            <a:ext cx="685800" cy="685800"/>
          </a:xfrm>
          <a:prstGeom prst="ellipse">
            <a:avLst/>
          </a:prstGeom>
          <a:solidFill>
            <a:srgbClr val="8B42D4"/>
          </a:solidFill>
          <a:ln/>
        </p:spPr>
      </p:sp>
      <p:sp>
        <p:nvSpPr>
          <p:cNvPr id="20" name="Text 17"/>
          <p:cNvSpPr/>
          <p:nvPr/>
        </p:nvSpPr>
        <p:spPr>
          <a:xfrm>
            <a:off x="7315200" y="20116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1" name="Text 18"/>
          <p:cNvSpPr/>
          <p:nvPr/>
        </p:nvSpPr>
        <p:spPr>
          <a:xfrm>
            <a:off x="6309360" y="2788920"/>
            <a:ext cx="2697480" cy="365760"/>
          </a:xfrm>
          <a:prstGeom prst="rect">
            <a:avLst/>
          </a:prstGeom>
          <a:noFill/>
          <a:ln/>
        </p:spPr>
        <p:txBody>
          <a:bodyPr wrap="square" lIns="0" tIns="0" rIns="0" bIns="0" rtlCol="0" anchor="ctr"/>
          <a:lstStyle/>
          <a:p>
            <a:pPr algn="ctr" indent="0" marL="0">
              <a:buNone/>
            </a:pPr>
            <a:r>
              <a:rPr lang="en-US" sz="1600" b="1" dirty="0">
                <a:solidFill>
                  <a:srgbClr val="450C7D"/>
                </a:solidFill>
                <a:latin typeface="Calibri" pitchFamily="34" charset="0"/>
                <a:ea typeface="Calibri" pitchFamily="34" charset="-122"/>
                <a:cs typeface="Calibri" pitchFamily="34" charset="-120"/>
              </a:rPr>
              <a:t>Llega imagen</a:t>
            </a:r>
            <a:endParaRPr lang="en-US" sz="1600" dirty="0"/>
          </a:p>
        </p:txBody>
      </p:sp>
      <p:sp>
        <p:nvSpPr>
          <p:cNvPr id="22" name="Text 19"/>
          <p:cNvSpPr/>
          <p:nvPr/>
        </p:nvSpPr>
        <p:spPr>
          <a:xfrm>
            <a:off x="6492240" y="3200400"/>
            <a:ext cx="2377440" cy="1645920"/>
          </a:xfrm>
          <a:prstGeom prst="rect">
            <a:avLst/>
          </a:prstGeom>
          <a:noFill/>
          <a:ln/>
        </p:spPr>
        <p:txBody>
          <a:bodyPr wrap="square" lIns="0" tIns="0" rIns="0" bIns="0" rtlCol="0" anchor="t"/>
          <a:lstStyle/>
          <a:p>
            <a:pPr algn="ctr" indent="0" marL="0">
              <a:buNone/>
            </a:pPr>
            <a:r>
              <a:rPr lang="en-US" sz="1200" dirty="0">
                <a:solidFill>
                  <a:srgbClr val="1A1033"/>
                </a:solidFill>
                <a:latin typeface="Calibri" pitchFamily="34" charset="0"/>
                <a:ea typeface="Calibri" pitchFamily="34" charset="-122"/>
                <a:cs typeface="Calibri" pitchFamily="34" charset="-120"/>
              </a:rPr>
              <a:t>Alguien envía la foto de una transferencia o comprobante bancario a ese WhatsApp.</a:t>
            </a:r>
            <a:endParaRPr lang="en-US" sz="1200" dirty="0"/>
          </a:p>
        </p:txBody>
      </p:sp>
      <p:sp>
        <p:nvSpPr>
          <p:cNvPr id="23" name="Shape 20"/>
          <p:cNvSpPr/>
          <p:nvPr/>
        </p:nvSpPr>
        <p:spPr>
          <a:xfrm>
            <a:off x="9189720" y="1828800"/>
            <a:ext cx="2697480" cy="3108960"/>
          </a:xfrm>
          <a:prstGeom prst="roundRect">
            <a:avLst>
              <a:gd name="adj" fmla="val 4746"/>
            </a:avLst>
          </a:prstGeom>
          <a:solidFill>
            <a:srgbClr val="FFFFFF"/>
          </a:solidFill>
          <a:ln w="9525">
            <a:solidFill>
              <a:srgbClr val="E4DEF2"/>
            </a:solidFill>
            <a:prstDash val="solid"/>
          </a:ln>
        </p:spPr>
      </p:sp>
      <p:sp>
        <p:nvSpPr>
          <p:cNvPr id="24" name="Shape 21"/>
          <p:cNvSpPr/>
          <p:nvPr/>
        </p:nvSpPr>
        <p:spPr>
          <a:xfrm>
            <a:off x="10195560" y="2011680"/>
            <a:ext cx="685800" cy="685800"/>
          </a:xfrm>
          <a:prstGeom prst="ellipse">
            <a:avLst/>
          </a:prstGeom>
          <a:solidFill>
            <a:srgbClr val="6BDA4D"/>
          </a:solidFill>
          <a:ln/>
        </p:spPr>
      </p:sp>
      <p:sp>
        <p:nvSpPr>
          <p:cNvPr id="25" name="Text 22"/>
          <p:cNvSpPr/>
          <p:nvPr/>
        </p:nvSpPr>
        <p:spPr>
          <a:xfrm>
            <a:off x="10195560" y="20116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6" name="Text 23"/>
          <p:cNvSpPr/>
          <p:nvPr/>
        </p:nvSpPr>
        <p:spPr>
          <a:xfrm>
            <a:off x="9189720" y="2788920"/>
            <a:ext cx="2697480" cy="365760"/>
          </a:xfrm>
          <a:prstGeom prst="rect">
            <a:avLst/>
          </a:prstGeom>
          <a:noFill/>
          <a:ln/>
        </p:spPr>
        <p:txBody>
          <a:bodyPr wrap="square" lIns="0" tIns="0" rIns="0" bIns="0" rtlCol="0" anchor="ctr"/>
          <a:lstStyle/>
          <a:p>
            <a:pPr algn="ctr" indent="0" marL="0">
              <a:buNone/>
            </a:pPr>
            <a:r>
              <a:rPr lang="en-US" sz="1600" b="1" dirty="0">
                <a:solidFill>
                  <a:srgbClr val="450C7D"/>
                </a:solidFill>
                <a:latin typeface="Calibri" pitchFamily="34" charset="0"/>
                <a:ea typeface="Calibri" pitchFamily="34" charset="-122"/>
                <a:cs typeface="Calibri" pitchFamily="34" charset="-120"/>
              </a:rPr>
              <a:t>Captura automática</a:t>
            </a:r>
            <a:endParaRPr lang="en-US" sz="1600" dirty="0"/>
          </a:p>
        </p:txBody>
      </p:sp>
      <p:sp>
        <p:nvSpPr>
          <p:cNvPr id="27" name="Text 24"/>
          <p:cNvSpPr/>
          <p:nvPr/>
        </p:nvSpPr>
        <p:spPr>
          <a:xfrm>
            <a:off x="9372600" y="3200400"/>
            <a:ext cx="2377440" cy="1645920"/>
          </a:xfrm>
          <a:prstGeom prst="rect">
            <a:avLst/>
          </a:prstGeom>
          <a:noFill/>
          <a:ln/>
        </p:spPr>
        <p:txBody>
          <a:bodyPr wrap="square" lIns="0" tIns="0" rIns="0" bIns="0" rtlCol="0" anchor="t"/>
          <a:lstStyle/>
          <a:p>
            <a:pPr algn="ctr" indent="0" marL="0">
              <a:buNone/>
            </a:pPr>
            <a:r>
              <a:rPr lang="en-US" sz="1200" dirty="0">
                <a:solidFill>
                  <a:srgbClr val="1A1033"/>
                </a:solidFill>
                <a:latin typeface="Calibri" pitchFamily="34" charset="0"/>
                <a:ea typeface="Calibri" pitchFamily="34" charset="-122"/>
                <a:cs typeface="Calibri" pitchFamily="34" charset="-120"/>
              </a:rPr>
              <a:t>La inteligencia artificial lee los datos de la imagen y los guarda ya organizados en tu cuenta.</a:t>
            </a:r>
            <a:endParaRPr lang="en-US" sz="1200" dirty="0"/>
          </a:p>
        </p:txBody>
      </p:sp>
      <p:sp>
        <p:nvSpPr>
          <p:cNvPr id="28" name="Shape 25"/>
          <p:cNvSpPr/>
          <p:nvPr/>
        </p:nvSpPr>
        <p:spPr>
          <a:xfrm>
            <a:off x="548640" y="5212080"/>
            <a:ext cx="11109960" cy="1051560"/>
          </a:xfrm>
          <a:prstGeom prst="roundRect">
            <a:avLst>
              <a:gd name="adj" fmla="val 12174"/>
            </a:avLst>
          </a:prstGeom>
          <a:solidFill>
            <a:srgbClr val="EEFBE4"/>
          </a:solidFill>
          <a:ln w="9525">
            <a:solidFill>
              <a:srgbClr val="E4DEF2"/>
            </a:solidFill>
            <a:prstDash val="solid"/>
          </a:ln>
        </p:spPr>
      </p:sp>
      <p:sp>
        <p:nvSpPr>
          <p:cNvPr id="29" name="Text 26"/>
          <p:cNvSpPr/>
          <p:nvPr/>
        </p:nvSpPr>
        <p:spPr>
          <a:xfrm>
            <a:off x="777240" y="5257800"/>
            <a:ext cx="10515600" cy="320040"/>
          </a:xfrm>
          <a:prstGeom prst="rect">
            <a:avLst/>
          </a:prstGeom>
          <a:noFill/>
          <a:ln/>
        </p:spPr>
        <p:txBody>
          <a:bodyPr wrap="square" lIns="0" tIns="0" rIns="0" bIns="0" rtlCol="0" anchor="ctr"/>
          <a:lstStyle/>
          <a:p>
            <a:pPr indent="0" marL="0">
              <a:buNone/>
            </a:pPr>
            <a:r>
              <a:rPr lang="en-US" sz="1300" b="1" dirty="0">
                <a:solidFill>
                  <a:srgbClr val="450C7D"/>
                </a:solidFill>
                <a:latin typeface="Calibri" pitchFamily="34" charset="0"/>
                <a:ea typeface="Calibri" pitchFamily="34" charset="-122"/>
                <a:cs typeface="Calibri" pitchFamily="34" charset="-120"/>
              </a:rPr>
              <a:t>Campos capturados por el OCR:</a:t>
            </a:r>
            <a:endParaRPr lang="en-US" sz="1300" dirty="0"/>
          </a:p>
        </p:txBody>
      </p:sp>
      <p:sp>
        <p:nvSpPr>
          <p:cNvPr id="30" name="Text 27"/>
          <p:cNvSpPr/>
          <p:nvPr/>
        </p:nvSpPr>
        <p:spPr>
          <a:xfrm>
            <a:off x="777240" y="5577840"/>
            <a:ext cx="10515600" cy="594360"/>
          </a:xfrm>
          <a:prstGeom prst="rect">
            <a:avLst/>
          </a:prstGeom>
          <a:noFill/>
          <a:ln/>
        </p:spPr>
        <p:txBody>
          <a:bodyPr wrap="square" lIns="0" tIns="0" rIns="0" bIns="0" rtlCol="0" anchor="t"/>
          <a:lstStyle/>
          <a:p>
            <a:pPr indent="0" marL="0">
              <a:buNone/>
            </a:pPr>
            <a:r>
              <a:rPr lang="en-US" sz="1200" dirty="0">
                <a:solidFill>
                  <a:srgbClr val="1A1033"/>
                </a:solidFill>
                <a:latin typeface="Calibri" pitchFamily="34" charset="0"/>
                <a:ea typeface="Calibri" pitchFamily="34" charset="-122"/>
                <a:cs typeface="Calibri" pitchFamily="34" charset="-120"/>
              </a:rPr>
              <a:t>banco · monto · folio · beneficiario · cuenta destino · referencia · fecha  →  visibles en el módulo de Comprobantes y descargables en Excel</a:t>
            </a:r>
            <a:endParaRPr lang="en-US" sz="1200" dirty="0"/>
          </a:p>
        </p:txBody>
      </p:sp>
      <p:sp>
        <p:nvSpPr>
          <p:cNvPr id="31" name="Text 28"/>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Módulo 5 · IA y automatización</a:t>
            </a:r>
            <a:endParaRPr lang="en-US" sz="1000" dirty="0"/>
          </a:p>
        </p:txBody>
      </p:sp>
      <p:sp>
        <p:nvSpPr>
          <p:cNvPr id="32" name="Text 29"/>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450C7D"/>
        </a:solidFill>
      </p:bgPr>
    </p:bg>
    <p:spTree>
      <p:nvGrpSpPr>
        <p:cNvPr id="1" name=""/>
        <p:cNvGrpSpPr/>
        <p:nvPr/>
      </p:nvGrpSpPr>
      <p:grpSpPr>
        <a:xfrm>
          <a:off x="0" y="0"/>
          <a:ext cx="0" cy="0"/>
          <a:chOff x="0" y="0"/>
          <a:chExt cx="0" cy="0"/>
        </a:xfrm>
      </p:grpSpPr>
      <p:sp>
        <p:nvSpPr>
          <p:cNvPr id="2" name="Shape 0"/>
          <p:cNvSpPr/>
          <p:nvPr/>
        </p:nvSpPr>
        <p:spPr>
          <a:xfrm>
            <a:off x="8686800" y="-1828800"/>
            <a:ext cx="5486400" cy="5486400"/>
          </a:xfrm>
          <a:prstGeom prst="ellipse">
            <a:avLst/>
          </a:prstGeom>
          <a:solidFill>
            <a:srgbClr val="4622AA">
              <a:alpha val="60000"/>
            </a:srgbClr>
          </a:solidFill>
          <a:ln/>
        </p:spPr>
      </p:sp>
      <p:sp>
        <p:nvSpPr>
          <p:cNvPr id="3" name="Shape 1"/>
          <p:cNvSpPr/>
          <p:nvPr/>
        </p:nvSpPr>
        <p:spPr>
          <a:xfrm>
            <a:off x="9144000" y="3200400"/>
            <a:ext cx="4114800" cy="4114800"/>
          </a:xfrm>
          <a:prstGeom prst="ellipse">
            <a:avLst/>
          </a:prstGeom>
          <a:solidFill>
            <a:srgbClr val="6BDA4D">
              <a:alpha val="55000"/>
            </a:srgbClr>
          </a:solidFill>
          <a:ln/>
        </p:spPr>
      </p:sp>
      <p:sp>
        <p:nvSpPr>
          <p:cNvPr id="4" name="Text 2"/>
          <p:cNvSpPr/>
          <p:nvPr/>
        </p:nvSpPr>
        <p:spPr>
          <a:xfrm>
            <a:off x="822960" y="2011680"/>
            <a:ext cx="7315200" cy="548640"/>
          </a:xfrm>
          <a:prstGeom prst="rect">
            <a:avLst/>
          </a:prstGeom>
          <a:noFill/>
          <a:ln/>
        </p:spPr>
        <p:txBody>
          <a:bodyPr wrap="square" lIns="0" tIns="0" rIns="0" bIns="0" rtlCol="0" anchor="ctr"/>
          <a:lstStyle/>
          <a:p>
            <a:pPr algn="l" indent="0" marL="0">
              <a:buNone/>
            </a:pPr>
            <a:r>
              <a:rPr lang="en-US" sz="2200" b="1" dirty="0">
                <a:solidFill>
                  <a:srgbClr val="AEDB4A"/>
                </a:solidFill>
                <a:latin typeface="Calibri" pitchFamily="34" charset="0"/>
                <a:ea typeface="Calibri" pitchFamily="34" charset="-122"/>
                <a:cs typeface="Calibri" pitchFamily="34" charset="-120"/>
              </a:rPr>
              <a:t>Módulo ★</a:t>
            </a:r>
            <a:endParaRPr lang="en-US" sz="2200" dirty="0"/>
          </a:p>
        </p:txBody>
      </p:sp>
      <p:sp>
        <p:nvSpPr>
          <p:cNvPr id="5" name="Text 3"/>
          <p:cNvSpPr/>
          <p:nvPr/>
        </p:nvSpPr>
        <p:spPr>
          <a:xfrm>
            <a:off x="822960" y="2606040"/>
            <a:ext cx="9144000" cy="1554480"/>
          </a:xfrm>
          <a:prstGeom prst="rect">
            <a:avLst/>
          </a:prstGeom>
          <a:noFill/>
          <a:ln/>
        </p:spPr>
        <p:txBody>
          <a:bodyPr wrap="square" lIns="0" tIns="0" rIns="0" bIns="0" rtlCol="0" anchor="t"/>
          <a:lstStyle/>
          <a:p>
            <a:pPr algn="l" indent="0" marL="0">
              <a:buNone/>
            </a:pPr>
            <a:r>
              <a:rPr lang="en-US" sz="5400" b="1" dirty="0">
                <a:solidFill>
                  <a:srgbClr val="FFFFFF"/>
                </a:solidFill>
                <a:latin typeface="Calibri" pitchFamily="34" charset="0"/>
                <a:ea typeface="Calibri" pitchFamily="34" charset="-122"/>
                <a:cs typeface="Calibri" pitchFamily="34" charset="-120"/>
              </a:rPr>
              <a:t>Caso integrador</a:t>
            </a:r>
            <a:endParaRPr lang="en-US" sz="5400" dirty="0"/>
          </a:p>
        </p:txBody>
      </p:sp>
      <p:sp>
        <p:nvSpPr>
          <p:cNvPr id="6" name="Text 4"/>
          <p:cNvSpPr/>
          <p:nvPr/>
        </p:nvSpPr>
        <p:spPr>
          <a:xfrm>
            <a:off x="822960" y="4297680"/>
            <a:ext cx="9144000" cy="548640"/>
          </a:xfrm>
          <a:prstGeom prst="rect">
            <a:avLst/>
          </a:prstGeom>
          <a:noFill/>
          <a:ln/>
        </p:spPr>
        <p:txBody>
          <a:bodyPr wrap="square" lIns="0" tIns="0" rIns="0" bIns="0" rtlCol="0" anchor="ctr"/>
          <a:lstStyle/>
          <a:p>
            <a:pPr algn="l" indent="0" marL="0">
              <a:buNone/>
            </a:pPr>
            <a:r>
              <a:rPr lang="en-US" sz="1800" i="1" dirty="0">
                <a:solidFill>
                  <a:srgbClr val="B6F0A0"/>
                </a:solidFill>
                <a:latin typeface="Calibri" pitchFamily="34" charset="0"/>
                <a:ea typeface="Calibri" pitchFamily="34" charset="-122"/>
                <a:cs typeface="Calibri" pitchFamily="34" charset="-120"/>
              </a:rPr>
              <a:t>Cierre mensual con AICuenta — Constructora Alfa, S.A. de C.V.</a:t>
            </a:r>
            <a:endParaRPr lang="en-US" sz="1800" dirty="0"/>
          </a:p>
        </p:txBody>
      </p:sp>
      <p:pic>
        <p:nvPicPr>
          <p:cNvPr id="7" name="Image 0" descr="/sessions/relaxed-awesome-albattani/mnt/outputs/logo-blanco.png">    </p:cNvPr>
          <p:cNvPicPr>
            <a:picLocks noChangeAspect="1"/>
          </p:cNvPicPr>
          <p:nvPr/>
        </p:nvPicPr>
        <p:blipFill>
          <a:blip r:embed="rId1"/>
          <a:stretch>
            <a:fillRect/>
          </a:stretch>
        </p:blipFill>
        <p:spPr>
          <a:xfrm>
            <a:off x="9601200" y="4937760"/>
            <a:ext cx="1645920" cy="16459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Contexto del caso</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Constructora Alfa cierra mayo 2026</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828800"/>
            <a:ext cx="5394960" cy="4434840"/>
          </a:xfrm>
          <a:prstGeom prst="roundRect">
            <a:avLst>
              <a:gd name="adj" fmla="val 2887"/>
            </a:avLst>
          </a:prstGeom>
          <a:solidFill>
            <a:srgbClr val="F6F3FC"/>
          </a:solidFill>
          <a:ln w="9525">
            <a:solidFill>
              <a:srgbClr val="E4DEF2"/>
            </a:solidFill>
            <a:prstDash val="solid"/>
          </a:ln>
        </p:spPr>
      </p:sp>
      <p:sp>
        <p:nvSpPr>
          <p:cNvPr id="9" name="Text 6"/>
          <p:cNvSpPr/>
          <p:nvPr/>
        </p:nvSpPr>
        <p:spPr>
          <a:xfrm>
            <a:off x="777240" y="1920240"/>
            <a:ext cx="4937760" cy="411480"/>
          </a:xfrm>
          <a:prstGeom prst="rect">
            <a:avLst/>
          </a:prstGeom>
          <a:noFill/>
          <a:ln/>
        </p:spPr>
        <p:txBody>
          <a:bodyPr wrap="square" lIns="0" tIns="0" rIns="0" bIns="0" rtlCol="0" anchor="ctr"/>
          <a:lstStyle/>
          <a:p>
            <a:pPr indent="0" marL="0">
              <a:buNone/>
            </a:pPr>
            <a:r>
              <a:rPr lang="en-US" sz="1500" b="1" dirty="0">
                <a:solidFill>
                  <a:srgbClr val="450C7D"/>
                </a:solidFill>
                <a:latin typeface="Calibri" pitchFamily="34" charset="0"/>
                <a:ea typeface="Calibri" pitchFamily="34" charset="-122"/>
                <a:cs typeface="Calibri" pitchFamily="34" charset="-120"/>
              </a:rPr>
              <a:t>La empresa</a:t>
            </a:r>
            <a:endParaRPr lang="en-US" sz="1500" dirty="0"/>
          </a:p>
        </p:txBody>
      </p:sp>
      <p:sp>
        <p:nvSpPr>
          <p:cNvPr id="10" name="Text 7"/>
          <p:cNvSpPr/>
          <p:nvPr/>
        </p:nvSpPr>
        <p:spPr>
          <a:xfrm>
            <a:off x="777240" y="2468880"/>
            <a:ext cx="4937760" cy="3657600"/>
          </a:xfrm>
          <a:prstGeom prst="rect">
            <a:avLst/>
          </a:prstGeom>
          <a:noFill/>
          <a:ln/>
        </p:spPr>
        <p:txBody>
          <a:bodyPr wrap="square" rtlCol="0" anchor="t"/>
          <a:lstStyle/>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Régimen general de ley (personas morales).</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1 RFC principal, 12 clientes recurrentes.</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Plan 3 — cubre su volumen anual de CFDIs con holgura.</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3 usuarios activos: dueño, contadora y asistente.</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Cobra por transferencia SPEI; proveedores envían comprobantes por WhatsApp.</a:t>
            </a:r>
            <a:endParaRPr lang="en-US" sz="1300" dirty="0"/>
          </a:p>
        </p:txBody>
      </p:sp>
      <p:sp>
        <p:nvSpPr>
          <p:cNvPr id="11" name="Shape 8"/>
          <p:cNvSpPr/>
          <p:nvPr/>
        </p:nvSpPr>
        <p:spPr>
          <a:xfrm>
            <a:off x="6309360" y="1828800"/>
            <a:ext cx="5394960" cy="4434840"/>
          </a:xfrm>
          <a:prstGeom prst="roundRect">
            <a:avLst>
              <a:gd name="adj" fmla="val 2887"/>
            </a:avLst>
          </a:prstGeom>
          <a:solidFill>
            <a:srgbClr val="EEFBE4"/>
          </a:solidFill>
          <a:ln w="9525">
            <a:solidFill>
              <a:srgbClr val="E4DEF2"/>
            </a:solidFill>
            <a:prstDash val="solid"/>
          </a:ln>
        </p:spPr>
      </p:sp>
      <p:sp>
        <p:nvSpPr>
          <p:cNvPr id="12" name="Text 9"/>
          <p:cNvSpPr/>
          <p:nvPr/>
        </p:nvSpPr>
        <p:spPr>
          <a:xfrm>
            <a:off x="6537960" y="1920240"/>
            <a:ext cx="4937760" cy="411480"/>
          </a:xfrm>
          <a:prstGeom prst="rect">
            <a:avLst/>
          </a:prstGeom>
          <a:noFill/>
          <a:ln/>
        </p:spPr>
        <p:txBody>
          <a:bodyPr wrap="square" lIns="0" tIns="0" rIns="0" bIns="0" rtlCol="0" anchor="ctr"/>
          <a:lstStyle/>
          <a:p>
            <a:pPr indent="0" marL="0">
              <a:buNone/>
            </a:pPr>
            <a:r>
              <a:rPr lang="en-US" sz="1500" b="1" dirty="0">
                <a:solidFill>
                  <a:srgbClr val="450C7D"/>
                </a:solidFill>
                <a:latin typeface="Calibri" pitchFamily="34" charset="0"/>
                <a:ea typeface="Calibri" pitchFamily="34" charset="-122"/>
                <a:cs typeface="Calibri" pitchFamily="34" charset="-120"/>
              </a:rPr>
              <a:t>El reto de mayo</a:t>
            </a:r>
            <a:endParaRPr lang="en-US" sz="1500" dirty="0"/>
          </a:p>
        </p:txBody>
      </p:sp>
      <p:sp>
        <p:nvSpPr>
          <p:cNvPr id="13" name="Text 10"/>
          <p:cNvSpPr/>
          <p:nvPr/>
        </p:nvSpPr>
        <p:spPr>
          <a:xfrm>
            <a:off x="6537960" y="2468880"/>
            <a:ext cx="4937760" cy="3657600"/>
          </a:xfrm>
          <a:prstGeom prst="rect">
            <a:avLst/>
          </a:prstGeom>
          <a:noFill/>
          <a:ln/>
        </p:spPr>
        <p:txBody>
          <a:bodyPr wrap="square" rtlCol="0" anchor="t"/>
          <a:lstStyle/>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42 CFDI emitidos, 87 recibidos (incluye E y P).</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18 transferencias que llegaron por WhatsApp sin XML.</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3 notas de crédito emitidas por rectificaciones.</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Dueño necesita ver flujo real antes del día 17 (pago provisional).</a:t>
            </a:r>
            <a:endParaRPr lang="en-US" sz="1300" dirty="0"/>
          </a:p>
          <a:p>
            <a:pPr marL="342900" indent="-342900">
              <a:spcAft>
                <a:spcPts val="600"/>
              </a:spcAft>
              <a:buSzPct val="100000"/>
              <a:buChar char="•"/>
            </a:pPr>
            <a:r>
              <a:rPr lang="en-US" sz="1300" dirty="0">
                <a:solidFill>
                  <a:srgbClr val="1A1033"/>
                </a:solidFill>
                <a:latin typeface="Calibri" pitchFamily="34" charset="0"/>
                <a:ea typeface="Calibri" pitchFamily="34" charset="-122"/>
                <a:cs typeface="Calibri" pitchFamily="34" charset="-120"/>
              </a:rPr>
              <a:t>Contadora debe entregar EF firmados y desglose IVA/ISR.</a:t>
            </a:r>
            <a:endParaRPr lang="en-US" sz="1300" dirty="0"/>
          </a:p>
        </p:txBody>
      </p:sp>
      <p:sp>
        <p:nvSpPr>
          <p:cNvPr id="14" name="Text 11"/>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Caso integrador · Constructora Alfa</a:t>
            </a:r>
            <a:endParaRPr lang="en-US" sz="1000" dirty="0"/>
          </a:p>
        </p:txBody>
      </p:sp>
      <p:sp>
        <p:nvSpPr>
          <p:cNvPr id="15" name="Text 12"/>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sessions/relaxed-awesome-albattani/mnt/outputs/logo.png">    </p:cNvPr>
          <p:cNvPicPr>
            <a:picLocks noChangeAspect="1"/>
          </p:cNvPicPr>
          <p:nvPr/>
        </p:nvPicPr>
        <p:blipFill>
          <a:blip r:embed="rId1"/>
          <a:stretch>
            <a:fillRect/>
          </a:stretch>
        </p:blipFill>
        <p:spPr>
          <a:xfrm>
            <a:off x="11414455" y="292608"/>
            <a:ext cx="502920" cy="502920"/>
          </a:xfrm>
          <a:prstGeom prst="rect">
            <a:avLst/>
          </a:prstGeom>
        </p:spPr>
      </p:pic>
      <p:sp>
        <p:nvSpPr>
          <p:cNvPr id="3" name="Text 0"/>
          <p:cNvSpPr/>
          <p:nvPr/>
        </p:nvSpPr>
        <p:spPr>
          <a:xfrm>
            <a:off x="9997135" y="347472"/>
            <a:ext cx="1371600" cy="411480"/>
          </a:xfrm>
          <a:prstGeom prst="rect">
            <a:avLst/>
          </a:prstGeom>
          <a:noFill/>
          <a:ln/>
        </p:spPr>
        <p:txBody>
          <a:bodyPr wrap="square" lIns="0" tIns="0" rIns="0" bIns="0" rtlCol="0" anchor="ctr"/>
          <a:lstStyle/>
          <a:p>
            <a:pPr algn="r" indent="0" marL="0">
              <a:buNone/>
            </a:pPr>
            <a:r>
              <a:rPr lang="en-US" sz="1200" b="1" dirty="0">
                <a:solidFill>
                  <a:srgbClr val="450C7D"/>
                </a:solidFill>
                <a:latin typeface="Calibri" pitchFamily="34" charset="0"/>
                <a:ea typeface="Calibri" pitchFamily="34" charset="-122"/>
                <a:cs typeface="Calibri" pitchFamily="34" charset="-120"/>
              </a:rPr>
              <a:t>AICuenta</a:t>
            </a:r>
            <a:endParaRPr lang="en-US" sz="1200" dirty="0"/>
          </a:p>
        </p:txBody>
      </p:sp>
      <p:sp>
        <p:nvSpPr>
          <p:cNvPr id="4" name="Text 1"/>
          <p:cNvSpPr/>
          <p:nvPr/>
        </p:nvSpPr>
        <p:spPr>
          <a:xfrm>
            <a:off x="548640" y="320040"/>
            <a:ext cx="9601200" cy="640080"/>
          </a:xfrm>
          <a:prstGeom prst="rect">
            <a:avLst/>
          </a:prstGeom>
          <a:noFill/>
          <a:ln/>
        </p:spPr>
        <p:txBody>
          <a:bodyPr wrap="square" lIns="0" tIns="0" rIns="0" bIns="0" rtlCol="0" anchor="ctr"/>
          <a:lstStyle/>
          <a:p>
            <a:pPr algn="l" indent="0" marL="0">
              <a:buNone/>
            </a:pPr>
            <a:r>
              <a:rPr lang="en-US" sz="3000" b="1" dirty="0">
                <a:solidFill>
                  <a:srgbClr val="450C7D"/>
                </a:solidFill>
                <a:latin typeface="Calibri" pitchFamily="34" charset="0"/>
                <a:ea typeface="Calibri" pitchFamily="34" charset="-122"/>
                <a:cs typeface="Calibri" pitchFamily="34" charset="-120"/>
              </a:rPr>
              <a:t>Solución paso a paso</a:t>
            </a:r>
            <a:endParaRPr lang="en-US" sz="3000" dirty="0"/>
          </a:p>
        </p:txBody>
      </p:sp>
      <p:sp>
        <p:nvSpPr>
          <p:cNvPr id="5" name="Text 2"/>
          <p:cNvSpPr/>
          <p:nvPr/>
        </p:nvSpPr>
        <p:spPr>
          <a:xfrm>
            <a:off x="548640" y="960120"/>
            <a:ext cx="9601200" cy="365760"/>
          </a:xfrm>
          <a:prstGeom prst="rect">
            <a:avLst/>
          </a:prstGeom>
          <a:noFill/>
          <a:ln/>
        </p:spPr>
        <p:txBody>
          <a:bodyPr wrap="square" lIns="0" tIns="0" rIns="0" bIns="0" rtlCol="0" anchor="ctr"/>
          <a:lstStyle/>
          <a:p>
            <a:pPr algn="l" indent="0" marL="0">
              <a:buNone/>
            </a:pPr>
            <a:r>
              <a:rPr lang="en-US" sz="1400" i="1" dirty="0">
                <a:solidFill>
                  <a:srgbClr val="4B4265"/>
                </a:solidFill>
                <a:latin typeface="Calibri" pitchFamily="34" charset="0"/>
                <a:ea typeface="Calibri" pitchFamily="34" charset="-122"/>
                <a:cs typeface="Calibri" pitchFamily="34" charset="-120"/>
              </a:rPr>
              <a:t>Quién hace qué y en qué módulo de AICuenta</a:t>
            </a:r>
            <a:endParaRPr lang="en-US" sz="1400" dirty="0"/>
          </a:p>
        </p:txBody>
      </p:sp>
      <p:sp>
        <p:nvSpPr>
          <p:cNvPr id="6" name="Shape 3"/>
          <p:cNvSpPr/>
          <p:nvPr/>
        </p:nvSpPr>
        <p:spPr>
          <a:xfrm>
            <a:off x="566928" y="1417320"/>
            <a:ext cx="128016" cy="128016"/>
          </a:xfrm>
          <a:prstGeom prst="ellipse">
            <a:avLst/>
          </a:prstGeom>
          <a:solidFill>
            <a:srgbClr val="4622AA"/>
          </a:solidFill>
          <a:ln/>
        </p:spPr>
      </p:sp>
      <p:sp>
        <p:nvSpPr>
          <p:cNvPr id="7" name="Shape 4"/>
          <p:cNvSpPr/>
          <p:nvPr/>
        </p:nvSpPr>
        <p:spPr>
          <a:xfrm>
            <a:off x="749808" y="1417320"/>
            <a:ext cx="128016" cy="128016"/>
          </a:xfrm>
          <a:prstGeom prst="ellipse">
            <a:avLst/>
          </a:prstGeom>
          <a:solidFill>
            <a:srgbClr val="6BDA4D"/>
          </a:solidFill>
          <a:ln/>
        </p:spPr>
      </p:sp>
      <p:sp>
        <p:nvSpPr>
          <p:cNvPr id="8" name="Shape 5"/>
          <p:cNvSpPr/>
          <p:nvPr/>
        </p:nvSpPr>
        <p:spPr>
          <a:xfrm>
            <a:off x="548640" y="1874520"/>
            <a:ext cx="548640" cy="548640"/>
          </a:xfrm>
          <a:prstGeom prst="ellipse">
            <a:avLst/>
          </a:prstGeom>
          <a:solidFill>
            <a:srgbClr val="4622AA"/>
          </a:solidFill>
          <a:ln/>
        </p:spPr>
      </p:sp>
      <p:sp>
        <p:nvSpPr>
          <p:cNvPr id="9" name="Text 6"/>
          <p:cNvSpPr/>
          <p:nvPr/>
        </p:nvSpPr>
        <p:spPr>
          <a:xfrm>
            <a:off x="548640" y="1874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7"/>
          <p:cNvSpPr/>
          <p:nvPr/>
        </p:nvSpPr>
        <p:spPr>
          <a:xfrm>
            <a:off x="1234440" y="1828800"/>
            <a:ext cx="1554480" cy="365760"/>
          </a:xfrm>
          <a:prstGeom prst="rect">
            <a:avLst/>
          </a:prstGeom>
          <a:noFill/>
          <a:ln/>
        </p:spPr>
        <p:txBody>
          <a:bodyPr wrap="square" lIns="0" tIns="0" rIns="0" bIns="0" rtlCol="0" anchor="ctr"/>
          <a:lstStyle/>
          <a:p>
            <a:pPr indent="0" marL="0">
              <a:buNone/>
            </a:pPr>
            <a:r>
              <a:rPr lang="en-US" sz="1300" b="1" dirty="0">
                <a:solidFill>
                  <a:srgbClr val="450C7D"/>
                </a:solidFill>
                <a:latin typeface="Calibri" pitchFamily="34" charset="0"/>
                <a:ea typeface="Calibri" pitchFamily="34" charset="-122"/>
                <a:cs typeface="Calibri" pitchFamily="34" charset="-120"/>
              </a:rPr>
              <a:t>Asistente</a:t>
            </a:r>
            <a:endParaRPr lang="en-US" sz="1300" dirty="0"/>
          </a:p>
        </p:txBody>
      </p:sp>
      <p:sp>
        <p:nvSpPr>
          <p:cNvPr id="11" name="Text 8"/>
          <p:cNvSpPr/>
          <p:nvPr/>
        </p:nvSpPr>
        <p:spPr>
          <a:xfrm>
            <a:off x="1234440" y="2157984"/>
            <a:ext cx="1554480" cy="274320"/>
          </a:xfrm>
          <a:prstGeom prst="rect">
            <a:avLst/>
          </a:prstGeom>
          <a:noFill/>
          <a:ln/>
        </p:spPr>
        <p:txBody>
          <a:bodyPr wrap="square" lIns="0" tIns="0" rIns="0" bIns="0" rtlCol="0" anchor="t"/>
          <a:lstStyle/>
          <a:p>
            <a:pPr indent="0" marL="0">
              <a:buNone/>
            </a:pPr>
            <a:r>
              <a:rPr lang="en-US" sz="1000" dirty="0">
                <a:solidFill>
                  <a:srgbClr val="8B42D4"/>
                </a:solidFill>
                <a:latin typeface="Courier New" pitchFamily="34" charset="0"/>
                <a:ea typeface="Courier New" pitchFamily="34" charset="-122"/>
                <a:cs typeface="Courier New" pitchFamily="34" charset="-120"/>
              </a:rPr>
              <a:t>WhatsApp bot</a:t>
            </a:r>
            <a:endParaRPr lang="en-US" sz="1000" dirty="0"/>
          </a:p>
        </p:txBody>
      </p:sp>
      <p:sp>
        <p:nvSpPr>
          <p:cNvPr id="12" name="Text 9"/>
          <p:cNvSpPr/>
          <p:nvPr/>
        </p:nvSpPr>
        <p:spPr>
          <a:xfrm>
            <a:off x="2880360" y="1828800"/>
            <a:ext cx="8869680" cy="640080"/>
          </a:xfrm>
          <a:prstGeom prst="rect">
            <a:avLst/>
          </a:prstGeom>
          <a:noFill/>
          <a:ln/>
        </p:spPr>
        <p:txBody>
          <a:bodyPr wrap="square" lIns="0" tIns="0" rIns="0" bIns="0" rtlCol="0" anchor="ctr"/>
          <a:lstStyle/>
          <a:p>
            <a:pPr indent="0" marL="0">
              <a:buNone/>
            </a:pPr>
            <a:r>
              <a:rPr lang="en-US" sz="1200" dirty="0">
                <a:solidFill>
                  <a:srgbClr val="1A1033"/>
                </a:solidFill>
                <a:latin typeface="Calibri" pitchFamily="34" charset="0"/>
                <a:ea typeface="Calibri" pitchFamily="34" charset="-122"/>
                <a:cs typeface="Calibri" pitchFamily="34" charset="-120"/>
              </a:rPr>
              <a:t>Recibe las 18 fotos. Cada una se guarda en Comprobantes con banco, monto y folio ya extraídos.</a:t>
            </a:r>
            <a:endParaRPr lang="en-US" sz="1200" dirty="0"/>
          </a:p>
        </p:txBody>
      </p:sp>
      <p:sp>
        <p:nvSpPr>
          <p:cNvPr id="13" name="Shape 10"/>
          <p:cNvSpPr/>
          <p:nvPr/>
        </p:nvSpPr>
        <p:spPr>
          <a:xfrm>
            <a:off x="548640" y="2587752"/>
            <a:ext cx="548640" cy="548640"/>
          </a:xfrm>
          <a:prstGeom prst="ellipse">
            <a:avLst/>
          </a:prstGeom>
          <a:solidFill>
            <a:srgbClr val="4833D6"/>
          </a:solidFill>
          <a:ln/>
        </p:spPr>
      </p:sp>
      <p:sp>
        <p:nvSpPr>
          <p:cNvPr id="14" name="Text 11"/>
          <p:cNvSpPr/>
          <p:nvPr/>
        </p:nvSpPr>
        <p:spPr>
          <a:xfrm>
            <a:off x="548640" y="258775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5" name="Text 12"/>
          <p:cNvSpPr/>
          <p:nvPr/>
        </p:nvSpPr>
        <p:spPr>
          <a:xfrm>
            <a:off x="1234440" y="2542032"/>
            <a:ext cx="1554480" cy="365760"/>
          </a:xfrm>
          <a:prstGeom prst="rect">
            <a:avLst/>
          </a:prstGeom>
          <a:noFill/>
          <a:ln/>
        </p:spPr>
        <p:txBody>
          <a:bodyPr wrap="square" lIns="0" tIns="0" rIns="0" bIns="0" rtlCol="0" anchor="ctr"/>
          <a:lstStyle/>
          <a:p>
            <a:pPr indent="0" marL="0">
              <a:buNone/>
            </a:pPr>
            <a:r>
              <a:rPr lang="en-US" sz="1300" b="1" dirty="0">
                <a:solidFill>
                  <a:srgbClr val="450C7D"/>
                </a:solidFill>
                <a:latin typeface="Calibri" pitchFamily="34" charset="0"/>
                <a:ea typeface="Calibri" pitchFamily="34" charset="-122"/>
                <a:cs typeface="Calibri" pitchFamily="34" charset="-120"/>
              </a:rPr>
              <a:t>Contadora</a:t>
            </a:r>
            <a:endParaRPr lang="en-US" sz="1300" dirty="0"/>
          </a:p>
        </p:txBody>
      </p:sp>
      <p:sp>
        <p:nvSpPr>
          <p:cNvPr id="16" name="Text 13"/>
          <p:cNvSpPr/>
          <p:nvPr/>
        </p:nvSpPr>
        <p:spPr>
          <a:xfrm>
            <a:off x="1234440" y="2871216"/>
            <a:ext cx="1554480" cy="274320"/>
          </a:xfrm>
          <a:prstGeom prst="rect">
            <a:avLst/>
          </a:prstGeom>
          <a:noFill/>
          <a:ln/>
        </p:spPr>
        <p:txBody>
          <a:bodyPr wrap="square" lIns="0" tIns="0" rIns="0" bIns="0" rtlCol="0" anchor="t"/>
          <a:lstStyle/>
          <a:p>
            <a:pPr indent="0" marL="0">
              <a:buNone/>
            </a:pPr>
            <a:r>
              <a:rPr lang="en-US" sz="1000" dirty="0">
                <a:solidFill>
                  <a:srgbClr val="8B42D4"/>
                </a:solidFill>
                <a:latin typeface="Courier New" pitchFamily="34" charset="0"/>
                <a:ea typeface="Courier New" pitchFamily="34" charset="-122"/>
                <a:cs typeface="Courier New" pitchFamily="34" charset="-120"/>
              </a:rPr>
              <a:t>Facturas + Notas crédito</a:t>
            </a:r>
            <a:endParaRPr lang="en-US" sz="1000" dirty="0"/>
          </a:p>
        </p:txBody>
      </p:sp>
      <p:sp>
        <p:nvSpPr>
          <p:cNvPr id="17" name="Text 14"/>
          <p:cNvSpPr/>
          <p:nvPr/>
        </p:nvSpPr>
        <p:spPr>
          <a:xfrm>
            <a:off x="2880360" y="2542032"/>
            <a:ext cx="8869680" cy="640080"/>
          </a:xfrm>
          <a:prstGeom prst="rect">
            <a:avLst/>
          </a:prstGeom>
          <a:noFill/>
          <a:ln/>
        </p:spPr>
        <p:txBody>
          <a:bodyPr wrap="square" lIns="0" tIns="0" rIns="0" bIns="0" rtlCol="0" anchor="ctr"/>
          <a:lstStyle/>
          <a:p>
            <a:pPr indent="0" marL="0">
              <a:buNone/>
            </a:pPr>
            <a:r>
              <a:rPr lang="en-US" sz="1200" dirty="0">
                <a:solidFill>
                  <a:srgbClr val="1A1033"/>
                </a:solidFill>
                <a:latin typeface="Calibri" pitchFamily="34" charset="0"/>
                <a:ea typeface="Calibri" pitchFamily="34" charset="-122"/>
                <a:cs typeface="Calibri" pitchFamily="34" charset="-120"/>
              </a:rPr>
              <a:t>Filtra CFDIs de mayo, valida las 3 notas contra su UUID relacionado. Exporta el listado a Excel.</a:t>
            </a:r>
            <a:endParaRPr lang="en-US" sz="1200" dirty="0"/>
          </a:p>
        </p:txBody>
      </p:sp>
      <p:sp>
        <p:nvSpPr>
          <p:cNvPr id="18" name="Shape 15"/>
          <p:cNvSpPr/>
          <p:nvPr/>
        </p:nvSpPr>
        <p:spPr>
          <a:xfrm>
            <a:off x="548640" y="3300984"/>
            <a:ext cx="548640" cy="548640"/>
          </a:xfrm>
          <a:prstGeom prst="ellipse">
            <a:avLst/>
          </a:prstGeom>
          <a:solidFill>
            <a:srgbClr val="8B42D4"/>
          </a:solidFill>
          <a:ln/>
        </p:spPr>
      </p:sp>
      <p:sp>
        <p:nvSpPr>
          <p:cNvPr id="19" name="Text 16"/>
          <p:cNvSpPr/>
          <p:nvPr/>
        </p:nvSpPr>
        <p:spPr>
          <a:xfrm>
            <a:off x="548640" y="330098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0" name="Text 17"/>
          <p:cNvSpPr/>
          <p:nvPr/>
        </p:nvSpPr>
        <p:spPr>
          <a:xfrm>
            <a:off x="1234440" y="3255264"/>
            <a:ext cx="1554480" cy="365760"/>
          </a:xfrm>
          <a:prstGeom prst="rect">
            <a:avLst/>
          </a:prstGeom>
          <a:noFill/>
          <a:ln/>
        </p:spPr>
        <p:txBody>
          <a:bodyPr wrap="square" lIns="0" tIns="0" rIns="0" bIns="0" rtlCol="0" anchor="ctr"/>
          <a:lstStyle/>
          <a:p>
            <a:pPr indent="0" marL="0">
              <a:buNone/>
            </a:pPr>
            <a:r>
              <a:rPr lang="en-US" sz="1300" b="1" dirty="0">
                <a:solidFill>
                  <a:srgbClr val="450C7D"/>
                </a:solidFill>
                <a:latin typeface="Calibri" pitchFamily="34" charset="0"/>
                <a:ea typeface="Calibri" pitchFamily="34" charset="-122"/>
                <a:cs typeface="Calibri" pitchFamily="34" charset="-120"/>
              </a:rPr>
              <a:t>Contadora</a:t>
            </a:r>
            <a:endParaRPr lang="en-US" sz="1300" dirty="0"/>
          </a:p>
        </p:txBody>
      </p:sp>
      <p:sp>
        <p:nvSpPr>
          <p:cNvPr id="21" name="Text 18"/>
          <p:cNvSpPr/>
          <p:nvPr/>
        </p:nvSpPr>
        <p:spPr>
          <a:xfrm>
            <a:off x="1234440" y="3584448"/>
            <a:ext cx="1554480" cy="274320"/>
          </a:xfrm>
          <a:prstGeom prst="rect">
            <a:avLst/>
          </a:prstGeom>
          <a:noFill/>
          <a:ln/>
        </p:spPr>
        <p:txBody>
          <a:bodyPr wrap="square" lIns="0" tIns="0" rIns="0" bIns="0" rtlCol="0" anchor="t"/>
          <a:lstStyle/>
          <a:p>
            <a:pPr indent="0" marL="0">
              <a:buNone/>
            </a:pPr>
            <a:r>
              <a:rPr lang="en-US" sz="1000" dirty="0">
                <a:solidFill>
                  <a:srgbClr val="8B42D4"/>
                </a:solidFill>
                <a:latin typeface="Courier New" pitchFamily="34" charset="0"/>
                <a:ea typeface="Courier New" pitchFamily="34" charset="-122"/>
                <a:cs typeface="Courier New" pitchFamily="34" charset="-120"/>
              </a:rPr>
              <a:t>Estados Financieros</a:t>
            </a:r>
            <a:endParaRPr lang="en-US" sz="1000" dirty="0"/>
          </a:p>
        </p:txBody>
      </p:sp>
      <p:sp>
        <p:nvSpPr>
          <p:cNvPr id="22" name="Text 19"/>
          <p:cNvSpPr/>
          <p:nvPr/>
        </p:nvSpPr>
        <p:spPr>
          <a:xfrm>
            <a:off x="2880360" y="3255264"/>
            <a:ext cx="8869680" cy="640080"/>
          </a:xfrm>
          <a:prstGeom prst="rect">
            <a:avLst/>
          </a:prstGeom>
          <a:noFill/>
          <a:ln/>
        </p:spPr>
        <p:txBody>
          <a:bodyPr wrap="square" lIns="0" tIns="0" rIns="0" bIns="0" rtlCol="0" anchor="ctr"/>
          <a:lstStyle/>
          <a:p>
            <a:pPr indent="0" marL="0">
              <a:buNone/>
            </a:pPr>
            <a:r>
              <a:rPr lang="en-US" sz="1200" dirty="0">
                <a:solidFill>
                  <a:srgbClr val="1A1033"/>
                </a:solidFill>
                <a:latin typeface="Calibri" pitchFamily="34" charset="0"/>
                <a:ea typeface="Calibri" pitchFamily="34" charset="-122"/>
                <a:cs typeface="Calibri" pitchFamily="34" charset="-120"/>
              </a:rPr>
              <a:t>Genera los estados de mayo. Revisa base IVA 16/8/0 y desglose ISR; valida totales contra el listado de facturas.</a:t>
            </a:r>
            <a:endParaRPr lang="en-US" sz="1200" dirty="0"/>
          </a:p>
        </p:txBody>
      </p:sp>
      <p:sp>
        <p:nvSpPr>
          <p:cNvPr id="23" name="Shape 20"/>
          <p:cNvSpPr/>
          <p:nvPr/>
        </p:nvSpPr>
        <p:spPr>
          <a:xfrm>
            <a:off x="548640" y="4014216"/>
            <a:ext cx="548640" cy="548640"/>
          </a:xfrm>
          <a:prstGeom prst="ellipse">
            <a:avLst/>
          </a:prstGeom>
          <a:solidFill>
            <a:srgbClr val="6BDA4D"/>
          </a:solidFill>
          <a:ln/>
        </p:spPr>
      </p:sp>
      <p:sp>
        <p:nvSpPr>
          <p:cNvPr id="24" name="Text 21"/>
          <p:cNvSpPr/>
          <p:nvPr/>
        </p:nvSpPr>
        <p:spPr>
          <a:xfrm>
            <a:off x="548640" y="401421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5" name="Text 22"/>
          <p:cNvSpPr/>
          <p:nvPr/>
        </p:nvSpPr>
        <p:spPr>
          <a:xfrm>
            <a:off x="1234440" y="3968496"/>
            <a:ext cx="1554480" cy="365760"/>
          </a:xfrm>
          <a:prstGeom prst="rect">
            <a:avLst/>
          </a:prstGeom>
          <a:noFill/>
          <a:ln/>
        </p:spPr>
        <p:txBody>
          <a:bodyPr wrap="square" lIns="0" tIns="0" rIns="0" bIns="0" rtlCol="0" anchor="ctr"/>
          <a:lstStyle/>
          <a:p>
            <a:pPr indent="0" marL="0">
              <a:buNone/>
            </a:pPr>
            <a:r>
              <a:rPr lang="en-US" sz="1300" b="1" dirty="0">
                <a:solidFill>
                  <a:srgbClr val="450C7D"/>
                </a:solidFill>
                <a:latin typeface="Calibri" pitchFamily="34" charset="0"/>
                <a:ea typeface="Calibri" pitchFamily="34" charset="-122"/>
                <a:cs typeface="Calibri" pitchFamily="34" charset="-120"/>
              </a:rPr>
              <a:t>Contadora</a:t>
            </a:r>
            <a:endParaRPr lang="en-US" sz="1300" dirty="0"/>
          </a:p>
        </p:txBody>
      </p:sp>
      <p:sp>
        <p:nvSpPr>
          <p:cNvPr id="26" name="Text 23"/>
          <p:cNvSpPr/>
          <p:nvPr/>
        </p:nvSpPr>
        <p:spPr>
          <a:xfrm>
            <a:off x="1234440" y="4297680"/>
            <a:ext cx="1554480" cy="274320"/>
          </a:xfrm>
          <a:prstGeom prst="rect">
            <a:avLst/>
          </a:prstGeom>
          <a:noFill/>
          <a:ln/>
        </p:spPr>
        <p:txBody>
          <a:bodyPr wrap="square" lIns="0" tIns="0" rIns="0" bIns="0" rtlCol="0" anchor="t"/>
          <a:lstStyle/>
          <a:p>
            <a:pPr indent="0" marL="0">
              <a:buNone/>
            </a:pPr>
            <a:r>
              <a:rPr lang="en-US" sz="1000" dirty="0">
                <a:solidFill>
                  <a:srgbClr val="8B42D4"/>
                </a:solidFill>
                <a:latin typeface="Courier New" pitchFamily="34" charset="0"/>
                <a:ea typeface="Courier New" pitchFamily="34" charset="-122"/>
                <a:cs typeface="Courier New" pitchFamily="34" charset="-120"/>
              </a:rPr>
              <a:t>Pagos + Efectivamente pagado</a:t>
            </a:r>
            <a:endParaRPr lang="en-US" sz="1000" dirty="0"/>
          </a:p>
        </p:txBody>
      </p:sp>
      <p:sp>
        <p:nvSpPr>
          <p:cNvPr id="27" name="Text 24"/>
          <p:cNvSpPr/>
          <p:nvPr/>
        </p:nvSpPr>
        <p:spPr>
          <a:xfrm>
            <a:off x="2880360" y="3968496"/>
            <a:ext cx="8869680" cy="640080"/>
          </a:xfrm>
          <a:prstGeom prst="rect">
            <a:avLst/>
          </a:prstGeom>
          <a:noFill/>
          <a:ln/>
        </p:spPr>
        <p:txBody>
          <a:bodyPr wrap="square" lIns="0" tIns="0" rIns="0" bIns="0" rtlCol="0" anchor="ctr"/>
          <a:lstStyle/>
          <a:p>
            <a:pPr indent="0" marL="0">
              <a:buNone/>
            </a:pPr>
            <a:r>
              <a:rPr lang="en-US" sz="1200" dirty="0">
                <a:solidFill>
                  <a:srgbClr val="1A1033"/>
                </a:solidFill>
                <a:latin typeface="Calibri" pitchFamily="34" charset="0"/>
                <a:ea typeface="Calibri" pitchFamily="34" charset="-122"/>
                <a:cs typeface="Calibri" pitchFamily="34" charset="-120"/>
              </a:rPr>
              <a:t>Concilia los pagos recibidos con los comprobantes del bot. Detecta 2 ingresos cobrados sin factura.</a:t>
            </a:r>
            <a:endParaRPr lang="en-US" sz="1200" dirty="0"/>
          </a:p>
        </p:txBody>
      </p:sp>
      <p:sp>
        <p:nvSpPr>
          <p:cNvPr id="28" name="Shape 25"/>
          <p:cNvSpPr/>
          <p:nvPr/>
        </p:nvSpPr>
        <p:spPr>
          <a:xfrm>
            <a:off x="548640" y="4727448"/>
            <a:ext cx="548640" cy="548640"/>
          </a:xfrm>
          <a:prstGeom prst="ellipse">
            <a:avLst/>
          </a:prstGeom>
          <a:solidFill>
            <a:srgbClr val="AEDB4A"/>
          </a:solidFill>
          <a:ln/>
        </p:spPr>
      </p:sp>
      <p:sp>
        <p:nvSpPr>
          <p:cNvPr id="29" name="Text 26"/>
          <p:cNvSpPr/>
          <p:nvPr/>
        </p:nvSpPr>
        <p:spPr>
          <a:xfrm>
            <a:off x="548640" y="47274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0" name="Text 27"/>
          <p:cNvSpPr/>
          <p:nvPr/>
        </p:nvSpPr>
        <p:spPr>
          <a:xfrm>
            <a:off x="1234440" y="4681728"/>
            <a:ext cx="1554480" cy="365760"/>
          </a:xfrm>
          <a:prstGeom prst="rect">
            <a:avLst/>
          </a:prstGeom>
          <a:noFill/>
          <a:ln/>
        </p:spPr>
        <p:txBody>
          <a:bodyPr wrap="square" lIns="0" tIns="0" rIns="0" bIns="0" rtlCol="0" anchor="ctr"/>
          <a:lstStyle/>
          <a:p>
            <a:pPr indent="0" marL="0">
              <a:buNone/>
            </a:pPr>
            <a:r>
              <a:rPr lang="en-US" sz="1300" b="1" dirty="0">
                <a:solidFill>
                  <a:srgbClr val="450C7D"/>
                </a:solidFill>
                <a:latin typeface="Calibri" pitchFamily="34" charset="0"/>
                <a:ea typeface="Calibri" pitchFamily="34" charset="-122"/>
                <a:cs typeface="Calibri" pitchFamily="34" charset="-120"/>
              </a:rPr>
              <a:t>Dueño</a:t>
            </a:r>
            <a:endParaRPr lang="en-US" sz="1300" dirty="0"/>
          </a:p>
        </p:txBody>
      </p:sp>
      <p:sp>
        <p:nvSpPr>
          <p:cNvPr id="31" name="Text 28"/>
          <p:cNvSpPr/>
          <p:nvPr/>
        </p:nvSpPr>
        <p:spPr>
          <a:xfrm>
            <a:off x="1234440" y="5010912"/>
            <a:ext cx="1554480" cy="274320"/>
          </a:xfrm>
          <a:prstGeom prst="rect">
            <a:avLst/>
          </a:prstGeom>
          <a:noFill/>
          <a:ln/>
        </p:spPr>
        <p:txBody>
          <a:bodyPr wrap="square" lIns="0" tIns="0" rIns="0" bIns="0" rtlCol="0" anchor="t"/>
          <a:lstStyle/>
          <a:p>
            <a:pPr indent="0" marL="0">
              <a:buNone/>
            </a:pPr>
            <a:r>
              <a:rPr lang="en-US" sz="1000" dirty="0">
                <a:solidFill>
                  <a:srgbClr val="8B42D4"/>
                </a:solidFill>
                <a:latin typeface="Courier New" pitchFamily="34" charset="0"/>
                <a:ea typeface="Courier New" pitchFamily="34" charset="-122"/>
                <a:cs typeface="Courier New" pitchFamily="34" charset="-120"/>
              </a:rPr>
              <a:t>Dashboard + Chat fiscal</a:t>
            </a:r>
            <a:endParaRPr lang="en-US" sz="1000" dirty="0"/>
          </a:p>
        </p:txBody>
      </p:sp>
      <p:sp>
        <p:nvSpPr>
          <p:cNvPr id="32" name="Text 29"/>
          <p:cNvSpPr/>
          <p:nvPr/>
        </p:nvSpPr>
        <p:spPr>
          <a:xfrm>
            <a:off x="2880360" y="4681728"/>
            <a:ext cx="8869680" cy="640080"/>
          </a:xfrm>
          <a:prstGeom prst="rect">
            <a:avLst/>
          </a:prstGeom>
          <a:noFill/>
          <a:ln/>
        </p:spPr>
        <p:txBody>
          <a:bodyPr wrap="square" lIns="0" tIns="0" rIns="0" bIns="0" rtlCol="0" anchor="ctr"/>
          <a:lstStyle/>
          <a:p>
            <a:pPr indent="0" marL="0">
              <a:buNone/>
            </a:pPr>
            <a:r>
              <a:rPr lang="en-US" sz="1200" dirty="0">
                <a:solidFill>
                  <a:srgbClr val="1A1033"/>
                </a:solidFill>
                <a:latin typeface="Calibri" pitchFamily="34" charset="0"/>
                <a:ea typeface="Calibri" pitchFamily="34" charset="-122"/>
                <a:cs typeface="Calibri" pitchFamily="34" charset="-120"/>
              </a:rPr>
              <a:t>Abre el dashboard, ve KPIs de mayo. Pregunta al chat: '¿cuáles son mis top 5 proveedores?'</a:t>
            </a:r>
            <a:endParaRPr lang="en-US" sz="1200" dirty="0"/>
          </a:p>
        </p:txBody>
      </p:sp>
      <p:sp>
        <p:nvSpPr>
          <p:cNvPr id="33" name="Shape 30"/>
          <p:cNvSpPr/>
          <p:nvPr/>
        </p:nvSpPr>
        <p:spPr>
          <a:xfrm>
            <a:off x="548640" y="5440680"/>
            <a:ext cx="548640" cy="548640"/>
          </a:xfrm>
          <a:prstGeom prst="ellipse">
            <a:avLst/>
          </a:prstGeom>
          <a:solidFill>
            <a:srgbClr val="450C7D"/>
          </a:solidFill>
          <a:ln/>
        </p:spPr>
      </p:sp>
      <p:sp>
        <p:nvSpPr>
          <p:cNvPr id="34" name="Text 31"/>
          <p:cNvSpPr/>
          <p:nvPr/>
        </p:nvSpPr>
        <p:spPr>
          <a:xfrm>
            <a:off x="548640" y="54406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35" name="Text 32"/>
          <p:cNvSpPr/>
          <p:nvPr/>
        </p:nvSpPr>
        <p:spPr>
          <a:xfrm>
            <a:off x="1234440" y="5394960"/>
            <a:ext cx="1554480" cy="365760"/>
          </a:xfrm>
          <a:prstGeom prst="rect">
            <a:avLst/>
          </a:prstGeom>
          <a:noFill/>
          <a:ln/>
        </p:spPr>
        <p:txBody>
          <a:bodyPr wrap="square" lIns="0" tIns="0" rIns="0" bIns="0" rtlCol="0" anchor="ctr"/>
          <a:lstStyle/>
          <a:p>
            <a:pPr indent="0" marL="0">
              <a:buNone/>
            </a:pPr>
            <a:r>
              <a:rPr lang="en-US" sz="1300" b="1" dirty="0">
                <a:solidFill>
                  <a:srgbClr val="450C7D"/>
                </a:solidFill>
                <a:latin typeface="Calibri" pitchFamily="34" charset="0"/>
                <a:ea typeface="Calibri" pitchFamily="34" charset="-122"/>
                <a:cs typeface="Calibri" pitchFamily="34" charset="-120"/>
              </a:rPr>
              <a:t>Dueño</a:t>
            </a:r>
            <a:endParaRPr lang="en-US" sz="1300" dirty="0"/>
          </a:p>
        </p:txBody>
      </p:sp>
      <p:sp>
        <p:nvSpPr>
          <p:cNvPr id="36" name="Text 33"/>
          <p:cNvSpPr/>
          <p:nvPr/>
        </p:nvSpPr>
        <p:spPr>
          <a:xfrm>
            <a:off x="1234440" y="5724144"/>
            <a:ext cx="1554480" cy="274320"/>
          </a:xfrm>
          <a:prstGeom prst="rect">
            <a:avLst/>
          </a:prstGeom>
          <a:noFill/>
          <a:ln/>
        </p:spPr>
        <p:txBody>
          <a:bodyPr wrap="square" lIns="0" tIns="0" rIns="0" bIns="0" rtlCol="0" anchor="t"/>
          <a:lstStyle/>
          <a:p>
            <a:pPr indent="0" marL="0">
              <a:buNone/>
            </a:pPr>
            <a:r>
              <a:rPr lang="en-US" sz="1000" dirty="0">
                <a:solidFill>
                  <a:srgbClr val="8B42D4"/>
                </a:solidFill>
                <a:latin typeface="Courier New" pitchFamily="34" charset="0"/>
                <a:ea typeface="Courier New" pitchFamily="34" charset="-122"/>
                <a:cs typeface="Courier New" pitchFamily="34" charset="-120"/>
              </a:rPr>
              <a:t>Suscripción y equipo</a:t>
            </a:r>
            <a:endParaRPr lang="en-US" sz="1000" dirty="0"/>
          </a:p>
        </p:txBody>
      </p:sp>
      <p:sp>
        <p:nvSpPr>
          <p:cNvPr id="37" name="Text 34"/>
          <p:cNvSpPr/>
          <p:nvPr/>
        </p:nvSpPr>
        <p:spPr>
          <a:xfrm>
            <a:off x="2880360" y="5394960"/>
            <a:ext cx="8869680" cy="640080"/>
          </a:xfrm>
          <a:prstGeom prst="rect">
            <a:avLst/>
          </a:prstGeom>
          <a:noFill/>
          <a:ln/>
        </p:spPr>
        <p:txBody>
          <a:bodyPr wrap="square" lIns="0" tIns="0" rIns="0" bIns="0" rtlCol="0" anchor="ctr"/>
          <a:lstStyle/>
          <a:p>
            <a:pPr indent="0" marL="0">
              <a:buNone/>
            </a:pPr>
            <a:r>
              <a:rPr lang="en-US" sz="1200" dirty="0">
                <a:solidFill>
                  <a:srgbClr val="1A1033"/>
                </a:solidFill>
                <a:latin typeface="Calibri" pitchFamily="34" charset="0"/>
                <a:ea typeface="Calibri" pitchFamily="34" charset="-122"/>
                <a:cs typeface="Calibri" pitchFamily="34" charset="-120"/>
              </a:rPr>
              <a:t>Revisa que su plan sigue cubriendo el volumen. Aprueba el reporte y firma.</a:t>
            </a:r>
            <a:endParaRPr lang="en-US" sz="1200" dirty="0"/>
          </a:p>
        </p:txBody>
      </p:sp>
      <p:sp>
        <p:nvSpPr>
          <p:cNvPr id="38" name="Text 35"/>
          <p:cNvSpPr/>
          <p:nvPr/>
        </p:nvSpPr>
        <p:spPr>
          <a:xfrm>
            <a:off x="457200" y="6473952"/>
            <a:ext cx="7315200" cy="274320"/>
          </a:xfrm>
          <a:prstGeom prst="rect">
            <a:avLst/>
          </a:prstGeom>
          <a:noFill/>
          <a:ln/>
        </p:spPr>
        <p:txBody>
          <a:bodyPr wrap="square" lIns="0" tIns="0" rIns="0" bIns="0" rtlCol="0" anchor="ctr"/>
          <a:lstStyle/>
          <a:p>
            <a:pPr algn="l" indent="0" marL="0">
              <a:buNone/>
            </a:pPr>
            <a:r>
              <a:rPr lang="en-US" sz="1000" dirty="0">
                <a:solidFill>
                  <a:srgbClr val="6E6785"/>
                </a:solidFill>
                <a:latin typeface="Calibri" pitchFamily="34" charset="0"/>
                <a:ea typeface="Calibri" pitchFamily="34" charset="-122"/>
                <a:cs typeface="Calibri" pitchFamily="34" charset="-120"/>
              </a:rPr>
              <a:t>Caso integrador · Constructora Alfa</a:t>
            </a:r>
            <a:endParaRPr lang="en-US" sz="1000" dirty="0"/>
          </a:p>
        </p:txBody>
      </p:sp>
      <p:sp>
        <p:nvSpPr>
          <p:cNvPr id="39" name="Text 36"/>
          <p:cNvSpPr/>
          <p:nvPr/>
        </p:nvSpPr>
        <p:spPr>
          <a:xfrm>
            <a:off x="11460175" y="6473952"/>
            <a:ext cx="365760" cy="274320"/>
          </a:xfrm>
          <a:prstGeom prst="rect">
            <a:avLst/>
          </a:prstGeom>
          <a:noFill/>
          <a:ln/>
        </p:spPr>
        <p:txBody>
          <a:bodyPr wrap="square" lIns="0" tIns="0" rIns="0" bIns="0" rtlCol="0" anchor="ctr"/>
          <a:lstStyle/>
          <a:p>
            <a:pPr algn="r" indent="0" marL="0">
              <a:buNone/>
            </a:pPr>
            <a:r>
              <a:rPr lang="en-US" sz="1000" b="1" dirty="0">
                <a:solidFill>
                  <a:srgbClr val="450C7D"/>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450C7D"/>
        </a:solidFill>
      </p:bgPr>
    </p:bg>
    <p:spTree>
      <p:nvGrpSpPr>
        <p:cNvPr id="1" name=""/>
        <p:cNvGrpSpPr/>
        <p:nvPr/>
      </p:nvGrpSpPr>
      <p:grpSpPr>
        <a:xfrm>
          <a:off x="0" y="0"/>
          <a:ext cx="0" cy="0"/>
          <a:chOff x="0" y="0"/>
          <a:chExt cx="0" cy="0"/>
        </a:xfrm>
      </p:grpSpPr>
      <p:sp>
        <p:nvSpPr>
          <p:cNvPr id="2" name="Shape 0"/>
          <p:cNvSpPr/>
          <p:nvPr/>
        </p:nvSpPr>
        <p:spPr>
          <a:xfrm>
            <a:off x="-1645920" y="-1371600"/>
            <a:ext cx="4572000" cy="4572000"/>
          </a:xfrm>
          <a:prstGeom prst="ellipse">
            <a:avLst/>
          </a:prstGeom>
          <a:solidFill>
            <a:srgbClr val="4622AA">
              <a:alpha val="60000"/>
            </a:srgbClr>
          </a:solidFill>
          <a:ln/>
        </p:spPr>
      </p:sp>
      <p:sp>
        <p:nvSpPr>
          <p:cNvPr id="3" name="Shape 1"/>
          <p:cNvSpPr/>
          <p:nvPr/>
        </p:nvSpPr>
        <p:spPr>
          <a:xfrm>
            <a:off x="8686800" y="3657600"/>
            <a:ext cx="5029200" cy="5029200"/>
          </a:xfrm>
          <a:prstGeom prst="ellipse">
            <a:avLst/>
          </a:prstGeom>
          <a:solidFill>
            <a:srgbClr val="6BDA4D">
              <a:alpha val="55000"/>
            </a:srgbClr>
          </a:solidFill>
          <a:ln/>
        </p:spPr>
      </p:sp>
      <p:pic>
        <p:nvPicPr>
          <p:cNvPr id="4" name="Image 0" descr="/sessions/relaxed-awesome-albattani/mnt/outputs/logo-blanco.png">    </p:cNvPr>
          <p:cNvPicPr>
            <a:picLocks noChangeAspect="1"/>
          </p:cNvPicPr>
          <p:nvPr/>
        </p:nvPicPr>
        <p:blipFill>
          <a:blip r:embed="rId1"/>
          <a:stretch>
            <a:fillRect/>
          </a:stretch>
        </p:blipFill>
        <p:spPr>
          <a:xfrm>
            <a:off x="822960" y="914400"/>
            <a:ext cx="1097280" cy="1097280"/>
          </a:xfrm>
          <a:prstGeom prst="rect">
            <a:avLst/>
          </a:prstGeom>
        </p:spPr>
      </p:pic>
      <p:sp>
        <p:nvSpPr>
          <p:cNvPr id="5" name="Text 2"/>
          <p:cNvSpPr/>
          <p:nvPr/>
        </p:nvSpPr>
        <p:spPr>
          <a:xfrm>
            <a:off x="822960" y="2286000"/>
            <a:ext cx="10058400" cy="118872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¿Preguntas?</a:t>
            </a:r>
            <a:endParaRPr lang="en-US" sz="6000" dirty="0"/>
          </a:p>
        </p:txBody>
      </p:sp>
      <p:sp>
        <p:nvSpPr>
          <p:cNvPr id="6" name="Text 3"/>
          <p:cNvSpPr/>
          <p:nvPr/>
        </p:nvSpPr>
        <p:spPr>
          <a:xfrm>
            <a:off x="822960" y="3566160"/>
            <a:ext cx="10058400" cy="1280160"/>
          </a:xfrm>
          <a:prstGeom prst="rect">
            <a:avLst/>
          </a:prstGeom>
          <a:noFill/>
          <a:ln/>
        </p:spPr>
        <p:txBody>
          <a:bodyPr wrap="square" lIns="0" tIns="0" rIns="0" bIns="0" rtlCol="0" anchor="t"/>
          <a:lstStyle/>
          <a:p>
            <a:pPr indent="0" marL="0">
              <a:buNone/>
            </a:pPr>
            <a:r>
              <a:rPr lang="en-US" sz="2000" dirty="0">
                <a:solidFill>
                  <a:srgbClr val="B6F0A0"/>
                </a:solidFill>
                <a:latin typeface="Calibri" pitchFamily="34" charset="0"/>
                <a:ea typeface="Calibri" pitchFamily="34" charset="-122"/>
                <a:cs typeface="Calibri" pitchFamily="34" charset="-120"/>
              </a:rPr>
              <a:t>Ya conoces los 5 módulos y viste un caso integrador. Próximo paso: entrar a la cuenta demo y replicar el flujo de Constructora Alfa.</a:t>
            </a:r>
            <a:endParaRPr lang="en-US" sz="2000" dirty="0"/>
          </a:p>
        </p:txBody>
      </p:sp>
      <p:sp>
        <p:nvSpPr>
          <p:cNvPr id="7" name="Shape 4"/>
          <p:cNvSpPr/>
          <p:nvPr/>
        </p:nvSpPr>
        <p:spPr>
          <a:xfrm>
            <a:off x="822960" y="5120640"/>
            <a:ext cx="3566160" cy="1005840"/>
          </a:xfrm>
          <a:prstGeom prst="roundRect">
            <a:avLst>
              <a:gd name="adj" fmla="val 10909"/>
            </a:avLst>
          </a:prstGeom>
          <a:solidFill>
            <a:srgbClr val="4622AA">
              <a:alpha val="60000"/>
            </a:srgbClr>
          </a:solidFill>
          <a:ln w="12700">
            <a:solidFill>
              <a:srgbClr val="AEDB4A"/>
            </a:solidFill>
            <a:prstDash val="solid"/>
          </a:ln>
        </p:spPr>
      </p:sp>
      <p:sp>
        <p:nvSpPr>
          <p:cNvPr id="8" name="Text 5"/>
          <p:cNvSpPr/>
          <p:nvPr/>
        </p:nvSpPr>
        <p:spPr>
          <a:xfrm>
            <a:off x="1005840" y="5212080"/>
            <a:ext cx="3291840" cy="365760"/>
          </a:xfrm>
          <a:prstGeom prst="rect">
            <a:avLst/>
          </a:prstGeom>
          <a:noFill/>
          <a:ln/>
        </p:spPr>
        <p:txBody>
          <a:bodyPr wrap="square" lIns="0" tIns="0" rIns="0" bIns="0" rtlCol="0" anchor="ctr"/>
          <a:lstStyle/>
          <a:p>
            <a:pPr indent="0" marL="0">
              <a:buNone/>
            </a:pPr>
            <a:r>
              <a:rPr lang="en-US" sz="1400" b="1" dirty="0">
                <a:solidFill>
                  <a:srgbClr val="AEDB4A"/>
                </a:solidFill>
                <a:latin typeface="Calibri" pitchFamily="34" charset="0"/>
                <a:ea typeface="Calibri" pitchFamily="34" charset="-122"/>
                <a:cs typeface="Calibri" pitchFamily="34" charset="-120"/>
              </a:rPr>
              <a:t>Demo</a:t>
            </a:r>
            <a:endParaRPr lang="en-US" sz="1400" dirty="0"/>
          </a:p>
        </p:txBody>
      </p:sp>
      <p:sp>
        <p:nvSpPr>
          <p:cNvPr id="9" name="Text 6"/>
          <p:cNvSpPr/>
          <p:nvPr/>
        </p:nvSpPr>
        <p:spPr>
          <a:xfrm>
            <a:off x="1005840" y="5577840"/>
            <a:ext cx="329184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Entra en modo demo desde la web</a:t>
            </a:r>
            <a:endParaRPr lang="en-US" sz="1200" dirty="0"/>
          </a:p>
        </p:txBody>
      </p:sp>
      <p:sp>
        <p:nvSpPr>
          <p:cNvPr id="10" name="Shape 7"/>
          <p:cNvSpPr/>
          <p:nvPr/>
        </p:nvSpPr>
        <p:spPr>
          <a:xfrm>
            <a:off x="4617720" y="5120640"/>
            <a:ext cx="3566160" cy="1005840"/>
          </a:xfrm>
          <a:prstGeom prst="roundRect">
            <a:avLst>
              <a:gd name="adj" fmla="val 10909"/>
            </a:avLst>
          </a:prstGeom>
          <a:solidFill>
            <a:srgbClr val="4622AA">
              <a:alpha val="60000"/>
            </a:srgbClr>
          </a:solidFill>
          <a:ln w="12700">
            <a:solidFill>
              <a:srgbClr val="AEDB4A"/>
            </a:solidFill>
            <a:prstDash val="solid"/>
          </a:ln>
        </p:spPr>
      </p:sp>
      <p:sp>
        <p:nvSpPr>
          <p:cNvPr id="11" name="Text 8"/>
          <p:cNvSpPr/>
          <p:nvPr/>
        </p:nvSpPr>
        <p:spPr>
          <a:xfrm>
            <a:off x="4800600" y="5212080"/>
            <a:ext cx="3291840" cy="365760"/>
          </a:xfrm>
          <a:prstGeom prst="rect">
            <a:avLst/>
          </a:prstGeom>
          <a:noFill/>
          <a:ln/>
        </p:spPr>
        <p:txBody>
          <a:bodyPr wrap="square" lIns="0" tIns="0" rIns="0" bIns="0" rtlCol="0" anchor="ctr"/>
          <a:lstStyle/>
          <a:p>
            <a:pPr indent="0" marL="0">
              <a:buNone/>
            </a:pPr>
            <a:r>
              <a:rPr lang="en-US" sz="1400" b="1" dirty="0">
                <a:solidFill>
                  <a:srgbClr val="AEDB4A"/>
                </a:solidFill>
                <a:latin typeface="Calibri" pitchFamily="34" charset="0"/>
                <a:ea typeface="Calibri" pitchFamily="34" charset="-122"/>
                <a:cs typeface="Calibri" pitchFamily="34" charset="-120"/>
              </a:rPr>
              <a:t>Soporte</a:t>
            </a:r>
            <a:endParaRPr lang="en-US" sz="1400" dirty="0"/>
          </a:p>
        </p:txBody>
      </p:sp>
      <p:sp>
        <p:nvSpPr>
          <p:cNvPr id="12" name="Text 9"/>
          <p:cNvSpPr/>
          <p:nvPr/>
        </p:nvSpPr>
        <p:spPr>
          <a:xfrm>
            <a:off x="4800600" y="5577840"/>
            <a:ext cx="329184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Levanta tu ticket desde la app</a:t>
            </a:r>
            <a:endParaRPr lang="en-US" sz="1200" dirty="0"/>
          </a:p>
        </p:txBody>
      </p:sp>
      <p:sp>
        <p:nvSpPr>
          <p:cNvPr id="13" name="Shape 10"/>
          <p:cNvSpPr/>
          <p:nvPr/>
        </p:nvSpPr>
        <p:spPr>
          <a:xfrm>
            <a:off x="8412480" y="5120640"/>
            <a:ext cx="3566160" cy="1005840"/>
          </a:xfrm>
          <a:prstGeom prst="roundRect">
            <a:avLst>
              <a:gd name="adj" fmla="val 10909"/>
            </a:avLst>
          </a:prstGeom>
          <a:solidFill>
            <a:srgbClr val="4622AA">
              <a:alpha val="60000"/>
            </a:srgbClr>
          </a:solidFill>
          <a:ln w="12700">
            <a:solidFill>
              <a:srgbClr val="AEDB4A"/>
            </a:solidFill>
            <a:prstDash val="solid"/>
          </a:ln>
        </p:spPr>
      </p:sp>
      <p:sp>
        <p:nvSpPr>
          <p:cNvPr id="14" name="Text 11"/>
          <p:cNvSpPr/>
          <p:nvPr/>
        </p:nvSpPr>
        <p:spPr>
          <a:xfrm>
            <a:off x="8595360" y="5212080"/>
            <a:ext cx="3291840" cy="365760"/>
          </a:xfrm>
          <a:prstGeom prst="rect">
            <a:avLst/>
          </a:prstGeom>
          <a:noFill/>
          <a:ln/>
        </p:spPr>
        <p:txBody>
          <a:bodyPr wrap="square" lIns="0" tIns="0" rIns="0" bIns="0" rtlCol="0" anchor="ctr"/>
          <a:lstStyle/>
          <a:p>
            <a:pPr indent="0" marL="0">
              <a:buNone/>
            </a:pPr>
            <a:r>
              <a:rPr lang="en-US" sz="1400" b="1" dirty="0">
                <a:solidFill>
                  <a:srgbClr val="AEDB4A"/>
                </a:solidFill>
                <a:latin typeface="Calibri" pitchFamily="34" charset="0"/>
                <a:ea typeface="Calibri" pitchFamily="34" charset="-122"/>
                <a:cs typeface="Calibri" pitchFamily="34" charset="-120"/>
              </a:rPr>
              <a:t>WhatsApp</a:t>
            </a:r>
            <a:endParaRPr lang="en-US" sz="1400" dirty="0"/>
          </a:p>
        </p:txBody>
      </p:sp>
      <p:sp>
        <p:nvSpPr>
          <p:cNvPr id="15" name="Text 12"/>
          <p:cNvSpPr/>
          <p:nvPr/>
        </p:nvSpPr>
        <p:spPr>
          <a:xfrm>
            <a:off x="8595360" y="5577840"/>
            <a:ext cx="329184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Vincula tu número en 1 minuto</a:t>
            </a:r>
            <a:endParaRPr lang="en-US" sz="1200" dirty="0"/>
          </a:p>
        </p:txBody>
      </p:sp>
      <p:sp>
        <p:nvSpPr>
          <p:cNvPr id="16" name="Shape 13"/>
          <p:cNvSpPr/>
          <p:nvPr/>
        </p:nvSpPr>
        <p:spPr>
          <a:xfrm>
            <a:off x="0" y="6675120"/>
            <a:ext cx="6095848" cy="182880"/>
          </a:xfrm>
          <a:prstGeom prst="rect">
            <a:avLst/>
          </a:prstGeom>
          <a:solidFill>
            <a:srgbClr val="4622AA"/>
          </a:solidFill>
          <a:ln/>
        </p:spPr>
      </p:sp>
      <p:sp>
        <p:nvSpPr>
          <p:cNvPr id="17" name="Shape 14"/>
          <p:cNvSpPr/>
          <p:nvPr/>
        </p:nvSpPr>
        <p:spPr>
          <a:xfrm>
            <a:off x="6095848" y="6675120"/>
            <a:ext cx="6095848" cy="182880"/>
          </a:xfrm>
          <a:prstGeom prst="rect">
            <a:avLst/>
          </a:prstGeom>
          <a:solidFill>
            <a:srgbClr val="6BDA4D"/>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AICuenta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AICuenta</dc:title>
  <dc:subject>PptxGenJS Presentation</dc:subject>
  <dc:creator>Profesor AICuenta</dc:creator>
  <cp:lastModifiedBy>Profesor AICuenta</cp:lastModifiedBy>
  <cp:revision>1</cp:revision>
  <dcterms:created xsi:type="dcterms:W3CDTF">2026-08-04T16:45:37Z</dcterms:created>
  <dcterms:modified xsi:type="dcterms:W3CDTF">2026-08-04T16:45:37Z</dcterms:modified>
</cp:coreProperties>
</file>